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nva Sans Bold" panose="020B0604020202020204" charset="0"/>
      <p:regular r:id="rId20"/>
    </p:embeddedFont>
    <p:embeddedFont>
      <p:font typeface="Inter" panose="020B0604020202020204" charset="0"/>
      <p:regular r:id="rId21"/>
    </p:embeddedFont>
    <p:embeddedFont>
      <p:font typeface="Inter Bold" panose="020B0604020202020204" charset="0"/>
      <p:regular r:id="rId22"/>
    </p:embeddedFont>
    <p:embeddedFont>
      <p:font typeface="Inter Italics" panose="020B0604020202020204" charset="0"/>
      <p:regular r:id="rId23"/>
    </p:embeddedFont>
    <p:embeddedFont>
      <p:font typeface="One Little Font" panose="020B0604020202020204" charset="0"/>
      <p:regular r:id="rId24"/>
    </p:embeddedFont>
    <p:embeddedFont>
      <p:font typeface="One Little Font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dolf, Joshua" userId="73350857-82ed-43e6-84eb-bce6e84a1d67" providerId="ADAL" clId="{465BFD7F-33E6-48EA-9738-D4868125528E}"/>
    <pc:docChg chg="modSld">
      <pc:chgData name="Ludolf, Joshua" userId="73350857-82ed-43e6-84eb-bce6e84a1d67" providerId="ADAL" clId="{465BFD7F-33E6-48EA-9738-D4868125528E}" dt="2025-10-01T17:59:01.412" v="13" actId="20577"/>
      <pc:docMkLst>
        <pc:docMk/>
      </pc:docMkLst>
      <pc:sldChg chg="modSp mod">
        <pc:chgData name="Ludolf, Joshua" userId="73350857-82ed-43e6-84eb-bce6e84a1d67" providerId="ADAL" clId="{465BFD7F-33E6-48EA-9738-D4868125528E}" dt="2025-10-01T17:59:01.412" v="13" actId="20577"/>
        <pc:sldMkLst>
          <pc:docMk/>
          <pc:sldMk cId="0" sldId="272"/>
        </pc:sldMkLst>
        <pc:spChg chg="mod">
          <ac:chgData name="Ludolf, Joshua" userId="73350857-82ed-43e6-84eb-bce6e84a1d67" providerId="ADAL" clId="{465BFD7F-33E6-48EA-9738-D4868125528E}" dt="2025-10-01T17:59:01.412" v="13" actId="20577"/>
          <ac:spMkLst>
            <pc:docMk/>
            <pc:sldMk cId="0" sldId="27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Google Colab Notebook: https://colab.research.google.com/drive/1nhxL0uKTXh1jIuQ74hQL8hiiD2ySAuF5?usp=sharing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* This tutorial reproduces an end‑to‑end pipeline: data → model → metrics → inference.</a:t>
            </a:r>
          </a:p>
          <a:p>
            <a:endParaRPr lang="en-US"/>
          </a:p>
          <a:p>
            <a:r>
              <a:rPr lang="en-US"/>
              <a:t>* No clinical claims; outputs are for visualization and learning.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We reconstruct a plausible color mapping from grayscale input; not ground-truth tissue color.</a:t>
            </a:r>
          </a:p>
          <a:p>
            <a:endParaRPr lang="en-US"/>
          </a:p>
          <a:p>
            <a:r>
              <a:rPr lang="en-US"/>
              <a:t>* Success criteria include perceptual quality (triptychs) and quantitative metrics (PSNR higher, SSIM closer to 1).</a:t>
            </a:r>
          </a:p>
          <a:p>
            <a:endParaRPr lang="en-US"/>
          </a:p>
          <a:p>
            <a:r>
              <a:rPr lang="en-US"/>
              <a:t>* This is not classification/segmentation; it’s regression per pixel.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The notebook covers setup, data indexing, model definition, training loop, evaluation, and visualization.</a:t>
            </a:r>
          </a:p>
          <a:p>
            <a:endParaRPr lang="en-US"/>
          </a:p>
          <a:p>
            <a:r>
              <a:rPr lang="en-US"/>
              <a:t>* Each component is modular: you can swap transforms, model depth, or losses without changing the overall flow.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  <a:p>
            <a:r>
              <a:rPr lang="en-US"/>
              <a:t>* Dataset:</a:t>
            </a:r>
          </a:p>
          <a:p>
            <a:r>
              <a:rPr lang="en-US"/>
              <a:t>Shuvo Kumar Basak. (2025). Brain CT Medical Imaging Colorized Dataset [Data set]. Kaggle.    </a:t>
            </a:r>
          </a:p>
          <a:p>
            <a:endParaRPr lang="en-US"/>
          </a:p>
          <a:p>
            <a:r>
              <a:rPr lang="en-US"/>
              <a:t>https://doi.org/10.34740/KAGGLE/DSV/11886200</a:t>
            </a:r>
          </a:p>
          <a:p>
            <a:endParaRPr lang="en-US"/>
          </a:p>
          <a:p>
            <a:r>
              <a:rPr lang="en-US"/>
              <a:t>* License:</a:t>
            </a:r>
          </a:p>
          <a:p>
            <a:endParaRPr lang="en-US"/>
          </a:p>
          <a:p>
            <a:r>
              <a:rPr lang="en-US"/>
              <a:t>https://www.mit.edu/~amini/LICENSE.md</a:t>
            </a:r>
          </a:p>
          <a:p>
            <a:endParaRPr lang="en-US"/>
          </a:p>
          <a:p>
            <a:r>
              <a:rPr lang="en-US"/>
              <a:t>* Folder layout inside: Computed Tomography (CT) of the Brain/dataset/train|test/&lt;class&gt;.</a:t>
            </a:r>
          </a:p>
          <a:p>
            <a:endParaRPr lang="en-US"/>
          </a:p>
          <a:p>
            <a:r>
              <a:rPr lang="en-US"/>
              <a:t>* We treat class labels as metadata; the target is the original RGB image.</a:t>
            </a:r>
          </a:p>
          <a:p>
            <a:endParaRPr lang="en-US"/>
          </a:p>
          <a:p>
            <a:r>
              <a:rPr lang="en-US"/>
              <a:t>* Ensure you have permission/network access to download via KaggleHub or download manually (this should already be handle in the notebook).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The install cell uses pip_install([...]) to fetch required packages quietly.</a:t>
            </a:r>
          </a:p>
          <a:p>
            <a:endParaRPr lang="en-US"/>
          </a:p>
          <a:p>
            <a:r>
              <a:rPr lang="en-US"/>
              <a:t>* torchvision brings Pillow; scikit-image provides PSNR/SSIM; OpenCV handles saving outputs.</a:t>
            </a:r>
          </a:p>
          <a:p>
            <a:endParaRPr lang="en-US"/>
          </a:p>
          <a:p>
            <a:r>
              <a:rPr lang="en-US"/>
              <a:t>* Works on CPU (slower) or GPU (CUDA auto-detected, additionally recommend A100 as that was gpu utilized from google colab for its performance).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Seeds: random.seed, np.random.seed, torch.manual_seed, torch.cuda.manual_seed_all are set to 42 (as that is most common value to use as seed).</a:t>
            </a:r>
          </a:p>
          <a:p>
            <a:endParaRPr lang="en-US"/>
          </a:p>
          <a:p>
            <a:r>
              <a:rPr lang="en-US"/>
              <a:t>* Minor metric variance across devices is expected due to non-deterministic GPU.</a:t>
            </a:r>
          </a:p>
          <a:p>
            <a:endParaRPr lang="en-US"/>
          </a:p>
          <a:p>
            <a:r>
              <a:rPr lang="en-US"/>
              <a:t>* In Colab, Drive mount copies the dataset to persistent storage; locally it’s skipped (as you just need to be in directory where you want your jupyter notebook to be).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labels: [aneurysm, cancer, tumor] are mapped to integers 0–2 for convenience (unused in loss).</a:t>
            </a:r>
          </a:p>
          <a:p>
            <a:endParaRPr lang="en-US"/>
          </a:p>
          <a:p>
            <a:r>
              <a:rPr lang="en-US"/>
              <a:t>*df.groupby(["split","class"]).size() quickly validates distribution and highlights missing folders.</a:t>
            </a:r>
          </a:p>
          <a:p>
            <a:endParaRPr lang="en-US"/>
          </a:p>
          <a:p>
            <a:r>
              <a:rPr lang="en-US"/>
              <a:t>* df.head() is shown to preview paths and columns.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transform_input: Resize → ToTensor → Normalize((0.5,), (0.5,)) for single-channel.</a:t>
            </a:r>
          </a:p>
          <a:p>
            <a:endParaRPr lang="en-US"/>
          </a:p>
          <a:p>
            <a:r>
              <a:rPr lang="en-US"/>
              <a:t>* transform_target: Resize → ToTensor → Normalize((0.5,0.5,0.5), (0.5,0.5,0.5)).</a:t>
            </a:r>
          </a:p>
          <a:p>
            <a:endParaRPr lang="en-US"/>
          </a:p>
          <a:p>
            <a:r>
              <a:rPr lang="en-US"/>
              <a:t>* The grayscale tensor is replicated to 3 channels via torch.cat([x]*3, dim=0) to match the U‑Net’s 3‑channel input.</a:t>
            </a:r>
          </a:p>
          <a:p>
            <a:endParaRPr lang="en-US"/>
          </a:p>
          <a:p>
            <a:r>
              <a:rPr lang="en-US"/>
              <a:t>*Augmentations use functional.hflip/vflip and must be applied to input and target consistently.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train_df and val_df are filtered from df and reindexed.</a:t>
            </a:r>
          </a:p>
          <a:p>
            <a:endParaRPr lang="en-US"/>
          </a:p>
          <a:p>
            <a:r>
              <a:rPr lang="en-US"/>
              <a:t>* Adjust batch size to avoid OOM; start with 16 or 32 on 256×256 images.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Classes: ConvBlock, EncoderBlock, DecoderBlock, UNetColoriser.</a:t>
            </a:r>
          </a:p>
          <a:p>
            <a:endParaRPr lang="en-US"/>
          </a:p>
          <a:p>
            <a:r>
              <a:rPr lang="en-US"/>
              <a:t>* Skip connections concatenate encoder features with upsampled decoder features (channel dim).</a:t>
            </a:r>
          </a:p>
          <a:p>
            <a:endParaRPr lang="en-US"/>
          </a:p>
          <a:p>
            <a:r>
              <a:rPr lang="en-US"/>
              <a:t>* Final activation is tanh to constrain output to [-1,1], matching normalization.</a:t>
            </a:r>
          </a:p>
          <a:p>
            <a:endParaRPr lang="en-US"/>
          </a:p>
          <a:p>
            <a:r>
              <a:rPr lang="en-US"/>
              <a:t>* Note image on slide is general visual of u-net architecture.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CombinedLoss balances sharpness (L1) and stability (MSE).</a:t>
            </a:r>
          </a:p>
          <a:p>
            <a:endParaRPr lang="en-US"/>
          </a:p>
          <a:p>
            <a:r>
              <a:rPr lang="en-US"/>
              <a:t>* AdamW provides decoupled weight decay; good default for vision tasks.</a:t>
            </a:r>
          </a:p>
          <a:p>
            <a:endParaRPr lang="en-US"/>
          </a:p>
          <a:p>
            <a:r>
              <a:rPr lang="en-US"/>
              <a:t>* The scheduler is conservative and easy to reason about for demos.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tensor_to_img01 clamps, rescales, and permutes tensors to H×W×C numpy in [0,1].</a:t>
            </a:r>
          </a:p>
          <a:p>
            <a:endParaRPr lang="en-US"/>
          </a:p>
          <a:p>
            <a:r>
              <a:rPr lang="en-US"/>
              <a:t>* skimage.metrics: peak_signal_noise_ratio and structural_similarity(channel_axis=2).</a:t>
            </a:r>
          </a:p>
          <a:p>
            <a:endParaRPr lang="en-US"/>
          </a:p>
          <a:p>
            <a:r>
              <a:rPr lang="en-US"/>
              <a:t>* Metrics are accumulated per-image over the validation set and averaged.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NUM_EPOCHS=5, BATCH_SIZE=16, IMG_SIZE=256 are set near the training cell.</a:t>
            </a:r>
          </a:p>
          <a:p>
            <a:endParaRPr lang="en-US"/>
          </a:p>
          <a:p>
            <a:r>
              <a:rPr lang="en-US"/>
              <a:t>* best_ct_coloriser.pth is saved when val loss improves; StepLR advances each epoch.</a:t>
            </a:r>
          </a:p>
          <a:p>
            <a:endParaRPr lang="en-US"/>
          </a:p>
          <a:p>
            <a:r>
              <a:rPr lang="en-US"/>
              <a:t>* Validation runs in torch.no_grad(); metrics computed on each image in the batch.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inference(model_path, input_path, output_path, img_size, device) wraps the full flow.</a:t>
            </a:r>
          </a:p>
          <a:p>
            <a:endParaRPr lang="en-US"/>
          </a:p>
          <a:p>
            <a:r>
              <a:rPr lang="en-US"/>
              <a:t>* Preprocess mirrors training: Resize → ToTensor → Normalize((0.5,), (0.5,)) then replicate to 3 channels.</a:t>
            </a:r>
          </a:p>
          <a:p>
            <a:endParaRPr lang="en-US"/>
          </a:p>
          <a:p>
            <a:r>
              <a:rPr lang="en-US"/>
              <a:t>* cv2.imwrite expects BGR; the code reverses channels with [:, :, ::-1].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Randomly samples test indices; ensures a checkpoint exists (or saves current weights).</a:t>
            </a:r>
          </a:p>
          <a:p>
            <a:endParaRPr lang="en-US"/>
          </a:p>
          <a:p>
            <a:r>
              <a:rPr lang="en-US"/>
              <a:t>* Writes input/target/output PNGs to colorized_outputs for inspection and reuse.</a:t>
            </a:r>
          </a:p>
          <a:p>
            <a:endParaRPr lang="en-US"/>
          </a:p>
          <a:p>
            <a:r>
              <a:rPr lang="en-US"/>
              <a:t>* Illustrate strengths of model (edges, bone/soft tissue textures) and failure modes (hue drift).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Colors are model predictions trained on curated RGB images; they do not represent real tissue chromatics.</a:t>
            </a:r>
          </a:p>
          <a:p>
            <a:endParaRPr lang="en-US"/>
          </a:p>
          <a:p>
            <a:r>
              <a:rPr lang="en-US"/>
              <a:t>* Domain shift across scanners/protocols may degrade results; no true clinical validation here.</a:t>
            </a:r>
          </a:p>
          <a:p>
            <a:endParaRPr lang="en-US"/>
          </a:p>
          <a:p>
            <a:r>
              <a:rPr lang="en-US"/>
              <a:t>* Use clear labels and disclaimers when sharing visuals.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F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5015" y="0"/>
            <a:ext cx="21118030" cy="10287000"/>
            <a:chOff x="0" y="0"/>
            <a:chExt cx="28157373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69708" cy="13716000"/>
            </a:xfrm>
            <a:custGeom>
              <a:avLst/>
              <a:gdLst/>
              <a:ahLst/>
              <a:cxnLst/>
              <a:rect l="l" t="t" r="r" b="b"/>
              <a:pathLst>
                <a:path w="14069708" h="13716000">
                  <a:moveTo>
                    <a:pt x="0" y="0"/>
                  </a:moveTo>
                  <a:lnTo>
                    <a:pt x="14069708" y="0"/>
                  </a:lnTo>
                  <a:lnTo>
                    <a:pt x="1406970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14087666" y="0"/>
              <a:ext cx="14069708" cy="13716000"/>
            </a:xfrm>
            <a:custGeom>
              <a:avLst/>
              <a:gdLst/>
              <a:ahLst/>
              <a:cxnLst/>
              <a:rect l="l" t="t" r="r" b="b"/>
              <a:pathLst>
                <a:path w="14069708" h="13716000">
                  <a:moveTo>
                    <a:pt x="0" y="0"/>
                  </a:moveTo>
                  <a:lnTo>
                    <a:pt x="14069707" y="0"/>
                  </a:lnTo>
                  <a:lnTo>
                    <a:pt x="1406970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2364416" y="881661"/>
            <a:ext cx="12069723" cy="8318785"/>
          </a:xfrm>
          <a:custGeom>
            <a:avLst/>
            <a:gdLst/>
            <a:ahLst/>
            <a:cxnLst/>
            <a:rect l="l" t="t" r="r" b="b"/>
            <a:pathLst>
              <a:path w="12069723" h="8318785">
                <a:moveTo>
                  <a:pt x="12069722" y="0"/>
                </a:moveTo>
                <a:lnTo>
                  <a:pt x="0" y="0"/>
                </a:lnTo>
                <a:lnTo>
                  <a:pt x="0" y="8318785"/>
                </a:lnTo>
                <a:lnTo>
                  <a:pt x="12069722" y="8318785"/>
                </a:lnTo>
                <a:lnTo>
                  <a:pt x="1206972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805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366735" y="1028700"/>
            <a:ext cx="3554530" cy="3185748"/>
          </a:xfrm>
          <a:custGeom>
            <a:avLst/>
            <a:gdLst/>
            <a:ahLst/>
            <a:cxnLst/>
            <a:rect l="l" t="t" r="r" b="b"/>
            <a:pathLst>
              <a:path w="3554530" h="3185748">
                <a:moveTo>
                  <a:pt x="0" y="0"/>
                </a:moveTo>
                <a:lnTo>
                  <a:pt x="3554530" y="0"/>
                </a:lnTo>
                <a:lnTo>
                  <a:pt x="3554530" y="3185748"/>
                </a:lnTo>
                <a:lnTo>
                  <a:pt x="0" y="31857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44661" y="4687390"/>
            <a:ext cx="6798678" cy="208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72"/>
              </a:lnSpc>
              <a:spcBef>
                <a:spcPct val="0"/>
              </a:spcBef>
            </a:pPr>
            <a:r>
              <a:rPr lang="en-US" sz="5372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BRAIN CT </a:t>
            </a:r>
            <a:r>
              <a:rPr lang="en-US" sz="5372" u="none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MEDICAL IMAGING</a:t>
            </a:r>
          </a:p>
          <a:p>
            <a:pPr marL="0" lvl="0" indent="0" algn="ctr">
              <a:lnSpc>
                <a:spcPts val="5372"/>
              </a:lnSpc>
              <a:spcBef>
                <a:spcPct val="0"/>
              </a:spcBef>
            </a:pPr>
            <a:r>
              <a:rPr lang="en-US" sz="5372" u="none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TUTORIAL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7208328" cy="1293056"/>
            <a:chOff x="0" y="0"/>
            <a:chExt cx="2312103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2103" cy="414754"/>
            </a:xfrm>
            <a:custGeom>
              <a:avLst/>
              <a:gdLst/>
              <a:ahLst/>
              <a:cxnLst/>
              <a:rect l="l" t="t" r="r" b="b"/>
              <a:pathLst>
                <a:path w="2312103" h="414754">
                  <a:moveTo>
                    <a:pt x="79478" y="0"/>
                  </a:moveTo>
                  <a:lnTo>
                    <a:pt x="2232625" y="0"/>
                  </a:lnTo>
                  <a:cubicBezTo>
                    <a:pt x="2276519" y="0"/>
                    <a:pt x="2312103" y="35583"/>
                    <a:pt x="2312103" y="79478"/>
                  </a:cubicBezTo>
                  <a:lnTo>
                    <a:pt x="2312103" y="335276"/>
                  </a:lnTo>
                  <a:cubicBezTo>
                    <a:pt x="2312103" y="379170"/>
                    <a:pt x="2276519" y="414754"/>
                    <a:pt x="2232625" y="414754"/>
                  </a:cubicBezTo>
                  <a:lnTo>
                    <a:pt x="79478" y="414754"/>
                  </a:lnTo>
                  <a:cubicBezTo>
                    <a:pt x="35583" y="414754"/>
                    <a:pt x="0" y="379170"/>
                    <a:pt x="0" y="335276"/>
                  </a:cubicBezTo>
                  <a:lnTo>
                    <a:pt x="0" y="79478"/>
                  </a:lnTo>
                  <a:cubicBezTo>
                    <a:pt x="0" y="35583"/>
                    <a:pt x="35583" y="0"/>
                    <a:pt x="79478" y="0"/>
                  </a:cubicBezTo>
                  <a:close/>
                </a:path>
              </a:pathLst>
            </a:custGeom>
            <a:solidFill>
              <a:srgbClr val="EBB87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2312103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Objective/Agenda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2823561" y="5327318"/>
            <a:ext cx="4220308" cy="4114800"/>
          </a:xfrm>
          <a:custGeom>
            <a:avLst/>
            <a:gdLst/>
            <a:ahLst/>
            <a:cxnLst/>
            <a:rect l="l" t="t" r="r" b="b"/>
            <a:pathLst>
              <a:path w="4220308" h="4114800">
                <a:moveTo>
                  <a:pt x="0" y="0"/>
                </a:moveTo>
                <a:lnTo>
                  <a:pt x="4220307" y="0"/>
                </a:lnTo>
                <a:lnTo>
                  <a:pt x="42203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150088" y="2895982"/>
            <a:ext cx="14893781" cy="198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9"/>
              </a:lnSpc>
              <a:spcBef>
                <a:spcPct val="0"/>
              </a:spcBef>
            </a:pPr>
            <a:r>
              <a:rPr lang="en-US" sz="5109" i="1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Objectives: Build and teach an image-to-image pipeline; evaluate PSNR/SSIM; while ensuring replicability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07291" y="5413043"/>
            <a:ext cx="8115300" cy="318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Agenda: Data → Dataset/DataLoader → U-Net → Training → Metrics → Results → Reproducibility → Limits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7208328" cy="1921706"/>
            <a:chOff x="0" y="0"/>
            <a:chExt cx="2312103" cy="616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2103" cy="616396"/>
            </a:xfrm>
            <a:custGeom>
              <a:avLst/>
              <a:gdLst/>
              <a:ahLst/>
              <a:cxnLst/>
              <a:rect l="l" t="t" r="r" b="b"/>
              <a:pathLst>
                <a:path w="2312103" h="616396">
                  <a:moveTo>
                    <a:pt x="79478" y="0"/>
                  </a:moveTo>
                  <a:lnTo>
                    <a:pt x="2232625" y="0"/>
                  </a:lnTo>
                  <a:cubicBezTo>
                    <a:pt x="2276519" y="0"/>
                    <a:pt x="2312103" y="35583"/>
                    <a:pt x="2312103" y="79478"/>
                  </a:cubicBezTo>
                  <a:lnTo>
                    <a:pt x="2312103" y="536918"/>
                  </a:lnTo>
                  <a:cubicBezTo>
                    <a:pt x="2312103" y="580812"/>
                    <a:pt x="2276519" y="616396"/>
                    <a:pt x="2232625" y="616396"/>
                  </a:cubicBezTo>
                  <a:lnTo>
                    <a:pt x="79478" y="616396"/>
                  </a:lnTo>
                  <a:cubicBezTo>
                    <a:pt x="35583" y="616396"/>
                    <a:pt x="0" y="580812"/>
                    <a:pt x="0" y="536918"/>
                  </a:cubicBezTo>
                  <a:lnTo>
                    <a:pt x="0" y="79478"/>
                  </a:lnTo>
                  <a:cubicBezTo>
                    <a:pt x="0" y="35583"/>
                    <a:pt x="35583" y="0"/>
                    <a:pt x="79478" y="0"/>
                  </a:cubicBezTo>
                  <a:close/>
                </a:path>
              </a:pathLst>
            </a:custGeom>
            <a:solidFill>
              <a:srgbClr val="E4E3B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2312103" cy="521146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Motivation: Why Colorization?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 rot="1782043">
            <a:off x="15275481" y="1270123"/>
            <a:ext cx="1548906" cy="2166252"/>
            <a:chOff x="0" y="0"/>
            <a:chExt cx="2065209" cy="2888336"/>
          </a:xfrm>
        </p:grpSpPr>
        <p:sp>
          <p:nvSpPr>
            <p:cNvPr id="6" name="Freeform 6"/>
            <p:cNvSpPr/>
            <p:nvPr/>
          </p:nvSpPr>
          <p:spPr>
            <a:xfrm rot="1205729">
              <a:off x="340509" y="152872"/>
              <a:ext cx="1281289" cy="2209119"/>
            </a:xfrm>
            <a:custGeom>
              <a:avLst/>
              <a:gdLst/>
              <a:ahLst/>
              <a:cxnLst/>
              <a:rect l="l" t="t" r="r" b="b"/>
              <a:pathLst>
                <a:path w="1281289" h="2209119">
                  <a:moveTo>
                    <a:pt x="0" y="0"/>
                  </a:moveTo>
                  <a:lnTo>
                    <a:pt x="1281289" y="0"/>
                  </a:lnTo>
                  <a:lnTo>
                    <a:pt x="1281289" y="2209119"/>
                  </a:lnTo>
                  <a:lnTo>
                    <a:pt x="0" y="2209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 rot="-699220">
              <a:off x="1183088" y="1518447"/>
              <a:ext cx="757948" cy="1306807"/>
            </a:xfrm>
            <a:custGeom>
              <a:avLst/>
              <a:gdLst/>
              <a:ahLst/>
              <a:cxnLst/>
              <a:rect l="l" t="t" r="r" b="b"/>
              <a:pathLst>
                <a:path w="757948" h="1306807">
                  <a:moveTo>
                    <a:pt x="0" y="0"/>
                  </a:moveTo>
                  <a:lnTo>
                    <a:pt x="757948" y="0"/>
                  </a:lnTo>
                  <a:lnTo>
                    <a:pt x="757948" y="1306807"/>
                  </a:lnTo>
                  <a:lnTo>
                    <a:pt x="0" y="1306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9210999" y="3993782"/>
            <a:ext cx="3633415" cy="3828498"/>
          </a:xfrm>
          <a:custGeom>
            <a:avLst/>
            <a:gdLst/>
            <a:ahLst/>
            <a:cxnLst/>
            <a:rect l="l" t="t" r="r" b="b"/>
            <a:pathLst>
              <a:path w="3633415" h="3828498">
                <a:moveTo>
                  <a:pt x="0" y="0"/>
                </a:moveTo>
                <a:lnTo>
                  <a:pt x="3633415" y="0"/>
                </a:lnTo>
                <a:lnTo>
                  <a:pt x="3633415" y="3828498"/>
                </a:lnTo>
                <a:lnTo>
                  <a:pt x="0" y="38284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844414" y="3993782"/>
            <a:ext cx="3509160" cy="3787472"/>
          </a:xfrm>
          <a:custGeom>
            <a:avLst/>
            <a:gdLst/>
            <a:ahLst/>
            <a:cxnLst/>
            <a:rect l="l" t="t" r="r" b="b"/>
            <a:pathLst>
              <a:path w="3509160" h="3787472">
                <a:moveTo>
                  <a:pt x="0" y="0"/>
                </a:moveTo>
                <a:lnTo>
                  <a:pt x="3509160" y="0"/>
                </a:lnTo>
                <a:lnTo>
                  <a:pt x="3509160" y="3787472"/>
                </a:lnTo>
                <a:lnTo>
                  <a:pt x="0" y="37874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28794" y="3611122"/>
            <a:ext cx="7008140" cy="504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TEACHABLE IMAGE-TO-IMAGE TASK WITH CLEAR VISUAL EVALUATION</a:t>
            </a:r>
          </a:p>
          <a:p>
            <a:pPr algn="l">
              <a:lnSpc>
                <a:spcPts val="4480"/>
              </a:lnSpc>
            </a:pPr>
            <a:endParaRPr lang="en-US" sz="3200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USES U-NET SKIP CONNECTIONS TO PRESERVE DETAIL</a:t>
            </a:r>
          </a:p>
          <a:p>
            <a:pPr algn="l">
              <a:lnSpc>
                <a:spcPts val="4480"/>
              </a:lnSpc>
            </a:pPr>
            <a:endParaRPr lang="en-US" sz="3200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NOT A DIAGNOSTIC MODEL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7208328" cy="1293056"/>
            <a:chOff x="0" y="0"/>
            <a:chExt cx="2312103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2103" cy="414754"/>
            </a:xfrm>
            <a:custGeom>
              <a:avLst/>
              <a:gdLst/>
              <a:ahLst/>
              <a:cxnLst/>
              <a:rect l="l" t="t" r="r" b="b"/>
              <a:pathLst>
                <a:path w="2312103" h="414754">
                  <a:moveTo>
                    <a:pt x="79478" y="0"/>
                  </a:moveTo>
                  <a:lnTo>
                    <a:pt x="2232625" y="0"/>
                  </a:lnTo>
                  <a:cubicBezTo>
                    <a:pt x="2276519" y="0"/>
                    <a:pt x="2312103" y="35583"/>
                    <a:pt x="2312103" y="79478"/>
                  </a:cubicBezTo>
                  <a:lnTo>
                    <a:pt x="2312103" y="335276"/>
                  </a:lnTo>
                  <a:cubicBezTo>
                    <a:pt x="2312103" y="379170"/>
                    <a:pt x="2276519" y="414754"/>
                    <a:pt x="2232625" y="414754"/>
                  </a:cubicBezTo>
                  <a:lnTo>
                    <a:pt x="79478" y="414754"/>
                  </a:lnTo>
                  <a:cubicBezTo>
                    <a:pt x="35583" y="414754"/>
                    <a:pt x="0" y="379170"/>
                    <a:pt x="0" y="335276"/>
                  </a:cubicBezTo>
                  <a:lnTo>
                    <a:pt x="0" y="79478"/>
                  </a:lnTo>
                  <a:cubicBezTo>
                    <a:pt x="0" y="35583"/>
                    <a:pt x="35583" y="0"/>
                    <a:pt x="79478" y="0"/>
                  </a:cubicBezTo>
                  <a:close/>
                </a:path>
              </a:pathLst>
            </a:custGeom>
            <a:solidFill>
              <a:srgbClr val="A9CF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2312103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Dataset Overview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8183959" y="2902853"/>
            <a:ext cx="4919122" cy="4481294"/>
          </a:xfrm>
          <a:custGeom>
            <a:avLst/>
            <a:gdLst/>
            <a:ahLst/>
            <a:cxnLst/>
            <a:rect l="l" t="t" r="r" b="b"/>
            <a:pathLst>
              <a:path w="4919122" h="4481294">
                <a:moveTo>
                  <a:pt x="0" y="0"/>
                </a:moveTo>
                <a:lnTo>
                  <a:pt x="4919122" y="0"/>
                </a:lnTo>
                <a:lnTo>
                  <a:pt x="4919122" y="4481294"/>
                </a:lnTo>
                <a:lnTo>
                  <a:pt x="0" y="4481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673360" y="1028700"/>
            <a:ext cx="3585940" cy="3585940"/>
          </a:xfrm>
          <a:custGeom>
            <a:avLst/>
            <a:gdLst/>
            <a:ahLst/>
            <a:cxnLst/>
            <a:rect l="l" t="t" r="r" b="b"/>
            <a:pathLst>
              <a:path w="3585940" h="3585940">
                <a:moveTo>
                  <a:pt x="0" y="0"/>
                </a:moveTo>
                <a:lnTo>
                  <a:pt x="3585940" y="0"/>
                </a:lnTo>
                <a:lnTo>
                  <a:pt x="3585940" y="3585940"/>
                </a:lnTo>
                <a:lnTo>
                  <a:pt x="0" y="3585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286362" y="3735178"/>
            <a:ext cx="5176042" cy="2749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1"/>
              </a:lnSpc>
            </a:pPr>
            <a:r>
              <a:rPr lang="en-US" sz="316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Source: Kaggle “Brain CT Medical Imaging Colorized”</a:t>
            </a:r>
          </a:p>
          <a:p>
            <a:pPr algn="l">
              <a:lnSpc>
                <a:spcPts val="4431"/>
              </a:lnSpc>
            </a:pPr>
            <a:endParaRPr lang="en-US" sz="3165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4431"/>
              </a:lnSpc>
            </a:pPr>
            <a:r>
              <a:rPr lang="en-US" sz="316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License: MIT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31442" y="7977223"/>
            <a:ext cx="4624157" cy="1281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4"/>
              </a:lnSpc>
            </a:pPr>
            <a:r>
              <a:rPr lang="en-US" sz="2438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Splits/classes: train/test; aneurysm, cancer, tumor</a:t>
            </a:r>
          </a:p>
          <a:p>
            <a:pPr algn="ctr">
              <a:lnSpc>
                <a:spcPts val="3414"/>
              </a:lnSpc>
            </a:pPr>
            <a:endParaRPr lang="en-US" sz="2438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343025"/>
            <a:ext cx="12159080" cy="1293056"/>
            <a:chOff x="0" y="0"/>
            <a:chExt cx="3900078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00078" cy="414754"/>
            </a:xfrm>
            <a:custGeom>
              <a:avLst/>
              <a:gdLst/>
              <a:ahLst/>
              <a:cxnLst/>
              <a:rect l="l" t="t" r="r" b="b"/>
              <a:pathLst>
                <a:path w="3900078" h="414754">
                  <a:moveTo>
                    <a:pt x="47117" y="0"/>
                  </a:moveTo>
                  <a:lnTo>
                    <a:pt x="3852961" y="0"/>
                  </a:lnTo>
                  <a:cubicBezTo>
                    <a:pt x="3865457" y="0"/>
                    <a:pt x="3877442" y="4964"/>
                    <a:pt x="3886278" y="13800"/>
                  </a:cubicBezTo>
                  <a:cubicBezTo>
                    <a:pt x="3895114" y="22637"/>
                    <a:pt x="3900078" y="34621"/>
                    <a:pt x="3900078" y="47117"/>
                  </a:cubicBezTo>
                  <a:lnTo>
                    <a:pt x="3900078" y="367636"/>
                  </a:lnTo>
                  <a:cubicBezTo>
                    <a:pt x="3900078" y="393658"/>
                    <a:pt x="3878983" y="414754"/>
                    <a:pt x="3852961" y="414754"/>
                  </a:cubicBezTo>
                  <a:lnTo>
                    <a:pt x="47117" y="414754"/>
                  </a:lnTo>
                  <a:cubicBezTo>
                    <a:pt x="21095" y="414754"/>
                    <a:pt x="0" y="393658"/>
                    <a:pt x="0" y="367636"/>
                  </a:cubicBezTo>
                  <a:lnTo>
                    <a:pt x="0" y="47117"/>
                  </a:lnTo>
                  <a:cubicBezTo>
                    <a:pt x="0" y="21095"/>
                    <a:pt x="21095" y="0"/>
                    <a:pt x="47117" y="0"/>
                  </a:cubicBezTo>
                  <a:close/>
                </a:path>
              </a:pathLst>
            </a:custGeom>
            <a:solidFill>
              <a:srgbClr val="E4E3B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3900078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Environment and Dependencies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38031" y="3392827"/>
            <a:ext cx="4138887" cy="1454870"/>
            <a:chOff x="0" y="0"/>
            <a:chExt cx="1086655" cy="3819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6655" cy="381973"/>
            </a:xfrm>
            <a:custGeom>
              <a:avLst/>
              <a:gdLst/>
              <a:ahLst/>
              <a:cxnLst/>
              <a:rect l="l" t="t" r="r" b="b"/>
              <a:pathLst>
                <a:path w="1086655" h="381973">
                  <a:moveTo>
                    <a:pt x="138419" y="0"/>
                  </a:moveTo>
                  <a:lnTo>
                    <a:pt x="948235" y="0"/>
                  </a:lnTo>
                  <a:cubicBezTo>
                    <a:pt x="1024682" y="0"/>
                    <a:pt x="1086655" y="61972"/>
                    <a:pt x="1086655" y="138419"/>
                  </a:cubicBezTo>
                  <a:lnTo>
                    <a:pt x="1086655" y="243553"/>
                  </a:lnTo>
                  <a:cubicBezTo>
                    <a:pt x="1086655" y="320000"/>
                    <a:pt x="1024682" y="381973"/>
                    <a:pt x="948235" y="381973"/>
                  </a:cubicBezTo>
                  <a:lnTo>
                    <a:pt x="138419" y="381973"/>
                  </a:lnTo>
                  <a:cubicBezTo>
                    <a:pt x="61972" y="381973"/>
                    <a:pt x="0" y="320000"/>
                    <a:pt x="0" y="243553"/>
                  </a:cubicBezTo>
                  <a:lnTo>
                    <a:pt x="0" y="138419"/>
                  </a:lnTo>
                  <a:cubicBezTo>
                    <a:pt x="0" y="61972"/>
                    <a:pt x="61972" y="0"/>
                    <a:pt x="138419" y="0"/>
                  </a:cubicBezTo>
                  <a:close/>
                </a:path>
              </a:pathLst>
            </a:custGeom>
            <a:solidFill>
              <a:srgbClr val="EBB87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6675"/>
              <a:ext cx="1086655" cy="315298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999" b="1" i="1">
                  <a:solidFill>
                    <a:srgbClr val="FFFFF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PYTORCH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11082" y="3392827"/>
            <a:ext cx="4138887" cy="1454870"/>
            <a:chOff x="0" y="0"/>
            <a:chExt cx="1086655" cy="3819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6655" cy="381973"/>
            </a:xfrm>
            <a:custGeom>
              <a:avLst/>
              <a:gdLst/>
              <a:ahLst/>
              <a:cxnLst/>
              <a:rect l="l" t="t" r="r" b="b"/>
              <a:pathLst>
                <a:path w="1086655" h="381973">
                  <a:moveTo>
                    <a:pt x="138419" y="0"/>
                  </a:moveTo>
                  <a:lnTo>
                    <a:pt x="948235" y="0"/>
                  </a:lnTo>
                  <a:cubicBezTo>
                    <a:pt x="1024682" y="0"/>
                    <a:pt x="1086655" y="61972"/>
                    <a:pt x="1086655" y="138419"/>
                  </a:cubicBezTo>
                  <a:lnTo>
                    <a:pt x="1086655" y="243553"/>
                  </a:lnTo>
                  <a:cubicBezTo>
                    <a:pt x="1086655" y="320000"/>
                    <a:pt x="1024682" y="381973"/>
                    <a:pt x="948235" y="381973"/>
                  </a:cubicBezTo>
                  <a:lnTo>
                    <a:pt x="138419" y="381973"/>
                  </a:lnTo>
                  <a:cubicBezTo>
                    <a:pt x="61972" y="381973"/>
                    <a:pt x="0" y="320000"/>
                    <a:pt x="0" y="243553"/>
                  </a:cubicBezTo>
                  <a:lnTo>
                    <a:pt x="0" y="138419"/>
                  </a:lnTo>
                  <a:cubicBezTo>
                    <a:pt x="0" y="61972"/>
                    <a:pt x="61972" y="0"/>
                    <a:pt x="138419" y="0"/>
                  </a:cubicBezTo>
                  <a:close/>
                </a:path>
              </a:pathLst>
            </a:custGeom>
            <a:solidFill>
              <a:srgbClr val="F6CD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6675"/>
              <a:ext cx="1086655" cy="315298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999" b="1" i="1">
                  <a:solidFill>
                    <a:srgbClr val="FFFFF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SCIKIT-IMAGE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38031" y="5239678"/>
            <a:ext cx="4138887" cy="1454870"/>
            <a:chOff x="0" y="0"/>
            <a:chExt cx="1086655" cy="3819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6655" cy="381973"/>
            </a:xfrm>
            <a:custGeom>
              <a:avLst/>
              <a:gdLst/>
              <a:ahLst/>
              <a:cxnLst/>
              <a:rect l="l" t="t" r="r" b="b"/>
              <a:pathLst>
                <a:path w="1086655" h="381973">
                  <a:moveTo>
                    <a:pt x="138419" y="0"/>
                  </a:moveTo>
                  <a:lnTo>
                    <a:pt x="948235" y="0"/>
                  </a:lnTo>
                  <a:cubicBezTo>
                    <a:pt x="1024682" y="0"/>
                    <a:pt x="1086655" y="61972"/>
                    <a:pt x="1086655" y="138419"/>
                  </a:cubicBezTo>
                  <a:lnTo>
                    <a:pt x="1086655" y="243553"/>
                  </a:lnTo>
                  <a:cubicBezTo>
                    <a:pt x="1086655" y="320000"/>
                    <a:pt x="1024682" y="381973"/>
                    <a:pt x="948235" y="381973"/>
                  </a:cubicBezTo>
                  <a:lnTo>
                    <a:pt x="138419" y="381973"/>
                  </a:lnTo>
                  <a:cubicBezTo>
                    <a:pt x="61972" y="381973"/>
                    <a:pt x="0" y="320000"/>
                    <a:pt x="0" y="243553"/>
                  </a:cubicBezTo>
                  <a:lnTo>
                    <a:pt x="0" y="138419"/>
                  </a:lnTo>
                  <a:cubicBezTo>
                    <a:pt x="0" y="61972"/>
                    <a:pt x="61972" y="0"/>
                    <a:pt x="138419" y="0"/>
                  </a:cubicBezTo>
                  <a:close/>
                </a:path>
              </a:pathLst>
            </a:custGeom>
            <a:solidFill>
              <a:srgbClr val="F6CD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6675"/>
              <a:ext cx="1086655" cy="315298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999" b="1" i="1">
                  <a:solidFill>
                    <a:srgbClr val="FFFFF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MATPLOTLIB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1082" y="5241512"/>
            <a:ext cx="4138887" cy="1454870"/>
            <a:chOff x="0" y="0"/>
            <a:chExt cx="1086655" cy="3819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6655" cy="381973"/>
            </a:xfrm>
            <a:custGeom>
              <a:avLst/>
              <a:gdLst/>
              <a:ahLst/>
              <a:cxnLst/>
              <a:rect l="l" t="t" r="r" b="b"/>
              <a:pathLst>
                <a:path w="1086655" h="381973">
                  <a:moveTo>
                    <a:pt x="138419" y="0"/>
                  </a:moveTo>
                  <a:lnTo>
                    <a:pt x="948235" y="0"/>
                  </a:lnTo>
                  <a:cubicBezTo>
                    <a:pt x="1024682" y="0"/>
                    <a:pt x="1086655" y="61972"/>
                    <a:pt x="1086655" y="138419"/>
                  </a:cubicBezTo>
                  <a:lnTo>
                    <a:pt x="1086655" y="243553"/>
                  </a:lnTo>
                  <a:cubicBezTo>
                    <a:pt x="1086655" y="320000"/>
                    <a:pt x="1024682" y="381973"/>
                    <a:pt x="948235" y="381973"/>
                  </a:cubicBezTo>
                  <a:lnTo>
                    <a:pt x="138419" y="381973"/>
                  </a:lnTo>
                  <a:cubicBezTo>
                    <a:pt x="61972" y="381973"/>
                    <a:pt x="0" y="320000"/>
                    <a:pt x="0" y="243553"/>
                  </a:cubicBezTo>
                  <a:lnTo>
                    <a:pt x="0" y="138419"/>
                  </a:lnTo>
                  <a:cubicBezTo>
                    <a:pt x="0" y="61972"/>
                    <a:pt x="61972" y="0"/>
                    <a:pt x="138419" y="0"/>
                  </a:cubicBezTo>
                  <a:close/>
                </a:path>
              </a:pathLst>
            </a:custGeom>
            <a:solidFill>
              <a:srgbClr val="EBB87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6675"/>
              <a:ext cx="1086655" cy="315298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999" b="1" i="1">
                  <a:solidFill>
                    <a:srgbClr val="FFFFF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OPENCV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38031" y="7090196"/>
            <a:ext cx="4138887" cy="1454870"/>
            <a:chOff x="0" y="0"/>
            <a:chExt cx="1086655" cy="38197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86655" cy="381973"/>
            </a:xfrm>
            <a:custGeom>
              <a:avLst/>
              <a:gdLst/>
              <a:ahLst/>
              <a:cxnLst/>
              <a:rect l="l" t="t" r="r" b="b"/>
              <a:pathLst>
                <a:path w="1086655" h="381973">
                  <a:moveTo>
                    <a:pt x="138419" y="0"/>
                  </a:moveTo>
                  <a:lnTo>
                    <a:pt x="948235" y="0"/>
                  </a:lnTo>
                  <a:cubicBezTo>
                    <a:pt x="1024682" y="0"/>
                    <a:pt x="1086655" y="61972"/>
                    <a:pt x="1086655" y="138419"/>
                  </a:cubicBezTo>
                  <a:lnTo>
                    <a:pt x="1086655" y="243553"/>
                  </a:lnTo>
                  <a:cubicBezTo>
                    <a:pt x="1086655" y="320000"/>
                    <a:pt x="1024682" y="381973"/>
                    <a:pt x="948235" y="381973"/>
                  </a:cubicBezTo>
                  <a:lnTo>
                    <a:pt x="138419" y="381973"/>
                  </a:lnTo>
                  <a:cubicBezTo>
                    <a:pt x="61972" y="381973"/>
                    <a:pt x="0" y="320000"/>
                    <a:pt x="0" y="243553"/>
                  </a:cubicBezTo>
                  <a:lnTo>
                    <a:pt x="0" y="138419"/>
                  </a:lnTo>
                  <a:cubicBezTo>
                    <a:pt x="0" y="61972"/>
                    <a:pt x="61972" y="0"/>
                    <a:pt x="138419" y="0"/>
                  </a:cubicBezTo>
                  <a:close/>
                </a:path>
              </a:pathLst>
            </a:custGeom>
            <a:solidFill>
              <a:srgbClr val="EBB87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6675"/>
              <a:ext cx="1086655" cy="315298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999" b="1" i="1">
                  <a:solidFill>
                    <a:srgbClr val="FFFFF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TQDM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11082" y="7090196"/>
            <a:ext cx="4138887" cy="1454870"/>
            <a:chOff x="0" y="0"/>
            <a:chExt cx="1086655" cy="3819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86655" cy="381973"/>
            </a:xfrm>
            <a:custGeom>
              <a:avLst/>
              <a:gdLst/>
              <a:ahLst/>
              <a:cxnLst/>
              <a:rect l="l" t="t" r="r" b="b"/>
              <a:pathLst>
                <a:path w="1086655" h="381973">
                  <a:moveTo>
                    <a:pt x="138419" y="0"/>
                  </a:moveTo>
                  <a:lnTo>
                    <a:pt x="948235" y="0"/>
                  </a:lnTo>
                  <a:cubicBezTo>
                    <a:pt x="1024682" y="0"/>
                    <a:pt x="1086655" y="61972"/>
                    <a:pt x="1086655" y="138419"/>
                  </a:cubicBezTo>
                  <a:lnTo>
                    <a:pt x="1086655" y="243553"/>
                  </a:lnTo>
                  <a:cubicBezTo>
                    <a:pt x="1086655" y="320000"/>
                    <a:pt x="1024682" y="381973"/>
                    <a:pt x="948235" y="381973"/>
                  </a:cubicBezTo>
                  <a:lnTo>
                    <a:pt x="138419" y="381973"/>
                  </a:lnTo>
                  <a:cubicBezTo>
                    <a:pt x="61972" y="381973"/>
                    <a:pt x="0" y="320000"/>
                    <a:pt x="0" y="243553"/>
                  </a:cubicBezTo>
                  <a:lnTo>
                    <a:pt x="0" y="138419"/>
                  </a:lnTo>
                  <a:cubicBezTo>
                    <a:pt x="0" y="61972"/>
                    <a:pt x="61972" y="0"/>
                    <a:pt x="138419" y="0"/>
                  </a:cubicBezTo>
                  <a:close/>
                </a:path>
              </a:pathLst>
            </a:custGeom>
            <a:solidFill>
              <a:srgbClr val="F6CD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6675"/>
              <a:ext cx="1086655" cy="315298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GOOGLE COLAB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1369" y="7154630"/>
            <a:ext cx="2037931" cy="2103670"/>
          </a:xfrm>
          <a:custGeom>
            <a:avLst/>
            <a:gdLst/>
            <a:ahLst/>
            <a:cxnLst/>
            <a:rect l="l" t="t" r="r" b="b"/>
            <a:pathLst>
              <a:path w="2037931" h="2103670">
                <a:moveTo>
                  <a:pt x="0" y="0"/>
                </a:moveTo>
                <a:lnTo>
                  <a:pt x="2037931" y="0"/>
                </a:lnTo>
                <a:lnTo>
                  <a:pt x="2037931" y="2103670"/>
                </a:lnTo>
                <a:lnTo>
                  <a:pt x="0" y="2103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8835017" cy="1293056"/>
            <a:chOff x="0" y="0"/>
            <a:chExt cx="2833870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870" cy="414754"/>
            </a:xfrm>
            <a:custGeom>
              <a:avLst/>
              <a:gdLst/>
              <a:ahLst/>
              <a:cxnLst/>
              <a:rect l="l" t="t" r="r" b="b"/>
              <a:pathLst>
                <a:path w="2833870" h="414754">
                  <a:moveTo>
                    <a:pt x="64844" y="0"/>
                  </a:moveTo>
                  <a:lnTo>
                    <a:pt x="2769026" y="0"/>
                  </a:lnTo>
                  <a:cubicBezTo>
                    <a:pt x="2786224" y="0"/>
                    <a:pt x="2802717" y="6832"/>
                    <a:pt x="2814878" y="18993"/>
                  </a:cubicBezTo>
                  <a:cubicBezTo>
                    <a:pt x="2827039" y="31153"/>
                    <a:pt x="2833870" y="47647"/>
                    <a:pt x="2833870" y="64844"/>
                  </a:cubicBezTo>
                  <a:lnTo>
                    <a:pt x="2833870" y="349909"/>
                  </a:lnTo>
                  <a:cubicBezTo>
                    <a:pt x="2833870" y="385722"/>
                    <a:pt x="2804838" y="414754"/>
                    <a:pt x="2769026" y="414754"/>
                  </a:cubicBezTo>
                  <a:lnTo>
                    <a:pt x="64844" y="414754"/>
                  </a:lnTo>
                  <a:cubicBezTo>
                    <a:pt x="47647" y="414754"/>
                    <a:pt x="31153" y="407922"/>
                    <a:pt x="18993" y="395761"/>
                  </a:cubicBezTo>
                  <a:cubicBezTo>
                    <a:pt x="6832" y="383600"/>
                    <a:pt x="0" y="367107"/>
                    <a:pt x="0" y="349909"/>
                  </a:cubicBezTo>
                  <a:lnTo>
                    <a:pt x="0" y="64844"/>
                  </a:lnTo>
                  <a:cubicBezTo>
                    <a:pt x="0" y="47647"/>
                    <a:pt x="6832" y="31153"/>
                    <a:pt x="18993" y="18993"/>
                  </a:cubicBezTo>
                  <a:cubicBezTo>
                    <a:pt x="31153" y="6832"/>
                    <a:pt x="47647" y="0"/>
                    <a:pt x="64844" y="0"/>
                  </a:cubicBezTo>
                  <a:close/>
                </a:path>
              </a:pathLst>
            </a:custGeom>
            <a:solidFill>
              <a:srgbClr val="E4E3B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2833870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Reproducibility &amp; Runtime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801435" y="1835495"/>
            <a:ext cx="2885481" cy="2885481"/>
          </a:xfrm>
          <a:custGeom>
            <a:avLst/>
            <a:gdLst/>
            <a:ahLst/>
            <a:cxnLst/>
            <a:rect l="l" t="t" r="r" b="b"/>
            <a:pathLst>
              <a:path w="2885481" h="2885481">
                <a:moveTo>
                  <a:pt x="0" y="0"/>
                </a:moveTo>
                <a:lnTo>
                  <a:pt x="2885481" y="0"/>
                </a:lnTo>
                <a:lnTo>
                  <a:pt x="2885481" y="2885480"/>
                </a:lnTo>
                <a:lnTo>
                  <a:pt x="0" y="2885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0000">
            <a:off x="9656964" y="5381047"/>
            <a:ext cx="2885481" cy="2885481"/>
          </a:xfrm>
          <a:custGeom>
            <a:avLst/>
            <a:gdLst/>
            <a:ahLst/>
            <a:cxnLst/>
            <a:rect l="l" t="t" r="r" b="b"/>
            <a:pathLst>
              <a:path w="2885481" h="2885481">
                <a:moveTo>
                  <a:pt x="0" y="0"/>
                </a:moveTo>
                <a:lnTo>
                  <a:pt x="2885481" y="0"/>
                </a:lnTo>
                <a:lnTo>
                  <a:pt x="2885481" y="2885481"/>
                </a:lnTo>
                <a:lnTo>
                  <a:pt x="0" y="2885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>
            <a:off x="13557504" y="1835495"/>
            <a:ext cx="2885481" cy="2885481"/>
          </a:xfrm>
          <a:custGeom>
            <a:avLst/>
            <a:gdLst/>
            <a:ahLst/>
            <a:cxnLst/>
            <a:rect l="l" t="t" r="r" b="b"/>
            <a:pathLst>
              <a:path w="2885481" h="2885481">
                <a:moveTo>
                  <a:pt x="0" y="0"/>
                </a:moveTo>
                <a:lnTo>
                  <a:pt x="2885480" y="0"/>
                </a:lnTo>
                <a:lnTo>
                  <a:pt x="2885480" y="2885480"/>
                </a:lnTo>
                <a:lnTo>
                  <a:pt x="0" y="2885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0800000">
            <a:off x="13557504" y="5489903"/>
            <a:ext cx="2885481" cy="2885481"/>
          </a:xfrm>
          <a:custGeom>
            <a:avLst/>
            <a:gdLst/>
            <a:ahLst/>
            <a:cxnLst/>
            <a:rect l="l" t="t" r="r" b="b"/>
            <a:pathLst>
              <a:path w="2885481" h="2885481">
                <a:moveTo>
                  <a:pt x="0" y="0"/>
                </a:moveTo>
                <a:lnTo>
                  <a:pt x="2885480" y="0"/>
                </a:lnTo>
                <a:lnTo>
                  <a:pt x="2885480" y="2885481"/>
                </a:lnTo>
                <a:lnTo>
                  <a:pt x="0" y="2885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2219537" y="999756"/>
            <a:ext cx="1754355" cy="2041432"/>
            <a:chOff x="0" y="0"/>
            <a:chExt cx="6985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E4E3B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48056" tIns="48056" rIns="48056" bIns="48056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83929" y="4360331"/>
            <a:ext cx="1754355" cy="2041432"/>
            <a:chOff x="0" y="0"/>
            <a:chExt cx="6985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6CDB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48056" tIns="48056" rIns="48056" bIns="48056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19537" y="7245812"/>
            <a:ext cx="1754355" cy="2041432"/>
            <a:chOff x="0" y="0"/>
            <a:chExt cx="6985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9CF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48056" tIns="48056" rIns="48056" bIns="48056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504945" y="4360331"/>
            <a:ext cx="1754355" cy="2041432"/>
            <a:chOff x="0" y="0"/>
            <a:chExt cx="6985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EBB87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48056" tIns="48056" rIns="48056" bIns="48056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2032985" y="4176968"/>
            <a:ext cx="2127460" cy="2224795"/>
          </a:xfrm>
          <a:custGeom>
            <a:avLst/>
            <a:gdLst/>
            <a:ahLst/>
            <a:cxnLst/>
            <a:rect l="l" t="t" r="r" b="b"/>
            <a:pathLst>
              <a:path w="2127460" h="2224795">
                <a:moveTo>
                  <a:pt x="0" y="0"/>
                </a:moveTo>
                <a:lnTo>
                  <a:pt x="2127460" y="0"/>
                </a:lnTo>
                <a:lnTo>
                  <a:pt x="2127460" y="2224795"/>
                </a:lnTo>
                <a:lnTo>
                  <a:pt x="0" y="22247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028700" y="4233919"/>
            <a:ext cx="7209444" cy="2294256"/>
            <a:chOff x="0" y="0"/>
            <a:chExt cx="9612591" cy="3059008"/>
          </a:xfrm>
        </p:grpSpPr>
        <p:sp>
          <p:nvSpPr>
            <p:cNvPr id="23" name="TextBox 23"/>
            <p:cNvSpPr txBox="1"/>
            <p:nvPr/>
          </p:nvSpPr>
          <p:spPr>
            <a:xfrm>
              <a:off x="0" y="1114831"/>
              <a:ext cx="9612591" cy="1944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5808" lvl="1" indent="-302904" algn="l">
                <a:lnSpc>
                  <a:spcPts val="3928"/>
                </a:lnSpc>
                <a:buFont typeface="Arial"/>
                <a:buChar char="•"/>
              </a:pPr>
              <a:r>
                <a:rPr lang="en-US" sz="2805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Fixed seeds (Python/NumPy/Torch)</a:t>
              </a:r>
            </a:p>
            <a:p>
              <a:pPr marL="605808" lvl="1" indent="-302904" algn="l">
                <a:lnSpc>
                  <a:spcPts val="3928"/>
                </a:lnSpc>
                <a:buFont typeface="Arial"/>
                <a:buChar char="•"/>
              </a:pPr>
              <a:r>
                <a:rPr lang="en-US" sz="2805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Device auto-detect (CPU/GPU)</a:t>
              </a:r>
            </a:p>
            <a:p>
              <a:pPr marL="605808" lvl="1" indent="-302904" algn="l">
                <a:lnSpc>
                  <a:spcPts val="3928"/>
                </a:lnSpc>
                <a:buFont typeface="Arial"/>
                <a:buChar char="•"/>
              </a:pPr>
              <a:r>
                <a:rPr lang="en-US" sz="2805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Colab-aware; optional Drive mount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9612591" cy="742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71"/>
                </a:lnSpc>
              </a:pPr>
              <a:r>
                <a:rPr lang="en-US" sz="3336" b="1">
                  <a:solidFill>
                    <a:srgbClr val="A9CFC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ASPECTS TO CONSIDER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9740873" cy="1293056"/>
            <a:chOff x="0" y="0"/>
            <a:chExt cx="3124428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4428" cy="414754"/>
            </a:xfrm>
            <a:custGeom>
              <a:avLst/>
              <a:gdLst/>
              <a:ahLst/>
              <a:cxnLst/>
              <a:rect l="l" t="t" r="r" b="b"/>
              <a:pathLst>
                <a:path w="3124428" h="414754">
                  <a:moveTo>
                    <a:pt x="58814" y="0"/>
                  </a:moveTo>
                  <a:lnTo>
                    <a:pt x="3065614" y="0"/>
                  </a:lnTo>
                  <a:cubicBezTo>
                    <a:pt x="3081212" y="0"/>
                    <a:pt x="3096172" y="6196"/>
                    <a:pt x="3107202" y="17226"/>
                  </a:cubicBezTo>
                  <a:cubicBezTo>
                    <a:pt x="3118231" y="28256"/>
                    <a:pt x="3124428" y="43216"/>
                    <a:pt x="3124428" y="58814"/>
                  </a:cubicBezTo>
                  <a:lnTo>
                    <a:pt x="3124428" y="355939"/>
                  </a:lnTo>
                  <a:cubicBezTo>
                    <a:pt x="3124428" y="371538"/>
                    <a:pt x="3118231" y="386497"/>
                    <a:pt x="3107202" y="397527"/>
                  </a:cubicBezTo>
                  <a:cubicBezTo>
                    <a:pt x="3096172" y="408557"/>
                    <a:pt x="3081212" y="414754"/>
                    <a:pt x="3065614" y="414754"/>
                  </a:cubicBezTo>
                  <a:lnTo>
                    <a:pt x="58814" y="414754"/>
                  </a:lnTo>
                  <a:cubicBezTo>
                    <a:pt x="43216" y="414754"/>
                    <a:pt x="28256" y="408557"/>
                    <a:pt x="17226" y="397527"/>
                  </a:cubicBezTo>
                  <a:cubicBezTo>
                    <a:pt x="6196" y="386497"/>
                    <a:pt x="0" y="371538"/>
                    <a:pt x="0" y="355939"/>
                  </a:cubicBezTo>
                  <a:lnTo>
                    <a:pt x="0" y="58814"/>
                  </a:lnTo>
                  <a:cubicBezTo>
                    <a:pt x="0" y="43216"/>
                    <a:pt x="6196" y="28256"/>
                    <a:pt x="17226" y="17226"/>
                  </a:cubicBezTo>
                  <a:cubicBezTo>
                    <a:pt x="28256" y="6196"/>
                    <a:pt x="43216" y="0"/>
                    <a:pt x="58814" y="0"/>
                  </a:cubicBezTo>
                  <a:close/>
                </a:path>
              </a:pathLst>
            </a:custGeom>
            <a:solidFill>
              <a:srgbClr val="A9CF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3124428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FFFF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Indexing the Dataset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326687"/>
            <a:ext cx="2294147" cy="229414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78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54441" y="3326687"/>
            <a:ext cx="2294147" cy="229414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78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81572" y="3326687"/>
            <a:ext cx="2294147" cy="22941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78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28711" y="3743169"/>
            <a:ext cx="1694125" cy="1461183"/>
          </a:xfrm>
          <a:custGeom>
            <a:avLst/>
            <a:gdLst/>
            <a:ahLst/>
            <a:cxnLst/>
            <a:rect l="l" t="t" r="r" b="b"/>
            <a:pathLst>
              <a:path w="1694125" h="1461183">
                <a:moveTo>
                  <a:pt x="0" y="0"/>
                </a:moveTo>
                <a:lnTo>
                  <a:pt x="1694125" y="0"/>
                </a:lnTo>
                <a:lnTo>
                  <a:pt x="1694125" y="1461183"/>
                </a:lnTo>
                <a:lnTo>
                  <a:pt x="0" y="1461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4789564" y="3743169"/>
            <a:ext cx="1425291" cy="1509222"/>
          </a:xfrm>
          <a:custGeom>
            <a:avLst/>
            <a:gdLst/>
            <a:ahLst/>
            <a:cxnLst/>
            <a:rect l="l" t="t" r="r" b="b"/>
            <a:pathLst>
              <a:path w="1425291" h="1509222">
                <a:moveTo>
                  <a:pt x="0" y="0"/>
                </a:moveTo>
                <a:lnTo>
                  <a:pt x="1425291" y="0"/>
                </a:lnTo>
                <a:lnTo>
                  <a:pt x="1425291" y="1509222"/>
                </a:lnTo>
                <a:lnTo>
                  <a:pt x="0" y="15092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23152" y="5847550"/>
            <a:ext cx="2085776" cy="228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18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Build DataFrame with:</a:t>
            </a:r>
          </a:p>
          <a:p>
            <a:pPr algn="ctr">
              <a:lnSpc>
                <a:spcPts val="3059"/>
              </a:lnSpc>
            </a:pPr>
            <a:r>
              <a:rPr lang="en-US" sz="218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img_path, split, class, label, img_name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70202" y="5924323"/>
            <a:ext cx="1662625" cy="177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4"/>
              </a:lnSpc>
            </a:pPr>
            <a:r>
              <a:rPr lang="en-US" sz="338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Filter png/jpg/jpeg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63979" y="5933848"/>
            <a:ext cx="1929334" cy="203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</a:pPr>
            <a:r>
              <a:rPr lang="en-US" sz="290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Print counts per split/class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276115" y="4051945"/>
            <a:ext cx="5983185" cy="3353632"/>
          </a:xfrm>
          <a:custGeom>
            <a:avLst/>
            <a:gdLst/>
            <a:ahLst/>
            <a:cxnLst/>
            <a:rect l="l" t="t" r="r" b="b"/>
            <a:pathLst>
              <a:path w="5983185" h="3353632">
                <a:moveTo>
                  <a:pt x="0" y="0"/>
                </a:moveTo>
                <a:lnTo>
                  <a:pt x="5983185" y="0"/>
                </a:lnTo>
                <a:lnTo>
                  <a:pt x="5983185" y="3353632"/>
                </a:lnTo>
                <a:lnTo>
                  <a:pt x="0" y="33536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1" name="Graphic 20" descr="Tally with solid fill">
            <a:extLst>
              <a:ext uri="{FF2B5EF4-FFF2-40B4-BE49-F238E27FC236}">
                <a16:creationId xmlns:a16="http://schemas.microsoft.com/office/drawing/2014/main" id="{AAE010E8-6B21-2ACC-CE0D-2238257287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2523" y="3762826"/>
            <a:ext cx="1421868" cy="142186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8348935" cy="1921706"/>
            <a:chOff x="0" y="0"/>
            <a:chExt cx="2677958" cy="616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77958" cy="616396"/>
            </a:xfrm>
            <a:custGeom>
              <a:avLst/>
              <a:gdLst/>
              <a:ahLst/>
              <a:cxnLst/>
              <a:rect l="l" t="t" r="r" b="b"/>
              <a:pathLst>
                <a:path w="2677958" h="616396">
                  <a:moveTo>
                    <a:pt x="68620" y="0"/>
                  </a:moveTo>
                  <a:lnTo>
                    <a:pt x="2609338" y="0"/>
                  </a:lnTo>
                  <a:cubicBezTo>
                    <a:pt x="2627537" y="0"/>
                    <a:pt x="2644991" y="7230"/>
                    <a:pt x="2657859" y="20098"/>
                  </a:cubicBezTo>
                  <a:cubicBezTo>
                    <a:pt x="2670728" y="32967"/>
                    <a:pt x="2677958" y="50421"/>
                    <a:pt x="2677958" y="68620"/>
                  </a:cubicBezTo>
                  <a:lnTo>
                    <a:pt x="2677958" y="547776"/>
                  </a:lnTo>
                  <a:cubicBezTo>
                    <a:pt x="2677958" y="585674"/>
                    <a:pt x="2647236" y="616396"/>
                    <a:pt x="2609338" y="616396"/>
                  </a:cubicBezTo>
                  <a:lnTo>
                    <a:pt x="68620" y="616396"/>
                  </a:lnTo>
                  <a:cubicBezTo>
                    <a:pt x="50421" y="616396"/>
                    <a:pt x="32967" y="609166"/>
                    <a:pt x="20098" y="596298"/>
                  </a:cubicBezTo>
                  <a:cubicBezTo>
                    <a:pt x="7230" y="583429"/>
                    <a:pt x="0" y="565975"/>
                    <a:pt x="0" y="547776"/>
                  </a:cubicBezTo>
                  <a:lnTo>
                    <a:pt x="0" y="68620"/>
                  </a:lnTo>
                  <a:cubicBezTo>
                    <a:pt x="0" y="50421"/>
                    <a:pt x="7230" y="32967"/>
                    <a:pt x="20098" y="20098"/>
                  </a:cubicBezTo>
                  <a:cubicBezTo>
                    <a:pt x="32967" y="7230"/>
                    <a:pt x="50421" y="0"/>
                    <a:pt x="68620" y="0"/>
                  </a:cubicBezTo>
                  <a:close/>
                </a:path>
              </a:pathLst>
            </a:custGeom>
            <a:solidFill>
              <a:srgbClr val="F4DA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2677958" cy="521146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Custom Dataset (CTScanDataset) Class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1951156" y="1028700"/>
            <a:ext cx="5308144" cy="5135630"/>
          </a:xfrm>
          <a:custGeom>
            <a:avLst/>
            <a:gdLst/>
            <a:ahLst/>
            <a:cxnLst/>
            <a:rect l="l" t="t" r="r" b="b"/>
            <a:pathLst>
              <a:path w="5308144" h="5135630">
                <a:moveTo>
                  <a:pt x="0" y="0"/>
                </a:moveTo>
                <a:lnTo>
                  <a:pt x="5308144" y="0"/>
                </a:lnTo>
                <a:lnTo>
                  <a:pt x="5308144" y="5135630"/>
                </a:lnTo>
                <a:lnTo>
                  <a:pt x="0" y="5135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384125" y="5842223"/>
            <a:ext cx="2632715" cy="2503472"/>
          </a:xfrm>
          <a:custGeom>
            <a:avLst/>
            <a:gdLst/>
            <a:ahLst/>
            <a:cxnLst/>
            <a:rect l="l" t="t" r="r" b="b"/>
            <a:pathLst>
              <a:path w="2632715" h="2503472">
                <a:moveTo>
                  <a:pt x="0" y="0"/>
                </a:moveTo>
                <a:lnTo>
                  <a:pt x="2632715" y="0"/>
                </a:lnTo>
                <a:lnTo>
                  <a:pt x="2632715" y="2503472"/>
                </a:lnTo>
                <a:lnTo>
                  <a:pt x="0" y="2503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28700" y="4030619"/>
            <a:ext cx="7995143" cy="3863797"/>
            <a:chOff x="0" y="0"/>
            <a:chExt cx="10660191" cy="5151730"/>
          </a:xfrm>
        </p:grpSpPr>
        <p:sp>
          <p:nvSpPr>
            <p:cNvPr id="8" name="TextBox 8"/>
            <p:cNvSpPr txBox="1"/>
            <p:nvPr/>
          </p:nvSpPr>
          <p:spPr>
            <a:xfrm>
              <a:off x="0" y="1569780"/>
              <a:ext cx="10660191" cy="3581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37791" lvl="1" indent="-418895" algn="l">
                <a:lnSpc>
                  <a:spcPts val="5432"/>
                </a:lnSpc>
                <a:buFont typeface="Arial"/>
                <a:buChar char="•"/>
              </a:pPr>
              <a:r>
                <a:rPr lang="en-US" sz="388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Input: RGB → grayscale (L)</a:t>
              </a:r>
            </a:p>
            <a:p>
              <a:pPr marL="837791" lvl="1" indent="-418895" algn="l">
                <a:lnSpc>
                  <a:spcPts val="5432"/>
                </a:lnSpc>
                <a:buFont typeface="Arial"/>
                <a:buChar char="•"/>
              </a:pPr>
              <a:r>
                <a:rPr lang="en-US" sz="388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Target: original RGB</a:t>
              </a:r>
            </a:p>
            <a:p>
              <a:pPr marL="837791" lvl="1" indent="-418895" algn="l">
                <a:lnSpc>
                  <a:spcPts val="5432"/>
                </a:lnSpc>
                <a:buFont typeface="Arial"/>
                <a:buChar char="•"/>
              </a:pPr>
              <a:r>
                <a:rPr lang="en-US" sz="388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Normalize to [-1,1]</a:t>
              </a:r>
            </a:p>
            <a:p>
              <a:pPr marL="837791" lvl="1" indent="-418895" algn="l">
                <a:lnSpc>
                  <a:spcPts val="5432"/>
                </a:lnSpc>
                <a:buFont typeface="Arial"/>
                <a:buChar char="•"/>
              </a:pPr>
              <a:r>
                <a:rPr lang="en-US" sz="388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Optional paired flips (train)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10660191" cy="1030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59"/>
                </a:lnSpc>
              </a:pPr>
              <a:r>
                <a:rPr lang="en-US" sz="4614">
                  <a:solidFill>
                    <a:srgbClr val="A9CFC5"/>
                  </a:solidFill>
                  <a:latin typeface="Inter"/>
                  <a:ea typeface="Inter"/>
                  <a:cs typeface="Inter"/>
                  <a:sym typeface="Inter"/>
                </a:rPr>
                <a:t>FUNCTIONALITY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9740873" cy="1293056"/>
            <a:chOff x="0" y="0"/>
            <a:chExt cx="3124428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4428" cy="414754"/>
            </a:xfrm>
            <a:custGeom>
              <a:avLst/>
              <a:gdLst/>
              <a:ahLst/>
              <a:cxnLst/>
              <a:rect l="l" t="t" r="r" b="b"/>
              <a:pathLst>
                <a:path w="3124428" h="414754">
                  <a:moveTo>
                    <a:pt x="58814" y="0"/>
                  </a:moveTo>
                  <a:lnTo>
                    <a:pt x="3065614" y="0"/>
                  </a:lnTo>
                  <a:cubicBezTo>
                    <a:pt x="3081212" y="0"/>
                    <a:pt x="3096172" y="6196"/>
                    <a:pt x="3107202" y="17226"/>
                  </a:cubicBezTo>
                  <a:cubicBezTo>
                    <a:pt x="3118231" y="28256"/>
                    <a:pt x="3124428" y="43216"/>
                    <a:pt x="3124428" y="58814"/>
                  </a:cubicBezTo>
                  <a:lnTo>
                    <a:pt x="3124428" y="355939"/>
                  </a:lnTo>
                  <a:cubicBezTo>
                    <a:pt x="3124428" y="371538"/>
                    <a:pt x="3118231" y="386497"/>
                    <a:pt x="3107202" y="397527"/>
                  </a:cubicBezTo>
                  <a:cubicBezTo>
                    <a:pt x="3096172" y="408557"/>
                    <a:pt x="3081212" y="414754"/>
                    <a:pt x="3065614" y="414754"/>
                  </a:cubicBezTo>
                  <a:lnTo>
                    <a:pt x="58814" y="414754"/>
                  </a:lnTo>
                  <a:cubicBezTo>
                    <a:pt x="43216" y="414754"/>
                    <a:pt x="28256" y="408557"/>
                    <a:pt x="17226" y="397527"/>
                  </a:cubicBezTo>
                  <a:cubicBezTo>
                    <a:pt x="6196" y="386497"/>
                    <a:pt x="0" y="371538"/>
                    <a:pt x="0" y="355939"/>
                  </a:cubicBezTo>
                  <a:lnTo>
                    <a:pt x="0" y="58814"/>
                  </a:lnTo>
                  <a:cubicBezTo>
                    <a:pt x="0" y="43216"/>
                    <a:pt x="6196" y="28256"/>
                    <a:pt x="17226" y="17226"/>
                  </a:cubicBezTo>
                  <a:cubicBezTo>
                    <a:pt x="28256" y="6196"/>
                    <a:pt x="43216" y="0"/>
                    <a:pt x="58814" y="0"/>
                  </a:cubicBezTo>
                  <a:close/>
                </a:path>
              </a:pathLst>
            </a:custGeom>
            <a:solidFill>
              <a:srgbClr val="F6CD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3124428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>
                  <a:solidFill>
                    <a:srgbClr val="FAF5EF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DataLoaders &amp; Splits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7285857" y="3032747"/>
            <a:ext cx="19050" cy="6326306"/>
          </a:xfrm>
          <a:prstGeom prst="line">
            <a:avLst/>
          </a:prstGeom>
          <a:ln w="19050" cap="flat">
            <a:solidFill>
              <a:srgbClr val="F6CDBF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039515" y="3466633"/>
            <a:ext cx="3715260" cy="4114800"/>
          </a:xfrm>
          <a:custGeom>
            <a:avLst/>
            <a:gdLst/>
            <a:ahLst/>
            <a:cxnLst/>
            <a:rect l="l" t="t" r="r" b="b"/>
            <a:pathLst>
              <a:path w="3715260" h="4114800">
                <a:moveTo>
                  <a:pt x="0" y="0"/>
                </a:moveTo>
                <a:lnTo>
                  <a:pt x="3715260" y="0"/>
                </a:lnTo>
                <a:lnTo>
                  <a:pt x="37152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798812" y="3752927"/>
            <a:ext cx="4460488" cy="4114800"/>
          </a:xfrm>
          <a:custGeom>
            <a:avLst/>
            <a:gdLst/>
            <a:ahLst/>
            <a:cxnLst/>
            <a:rect l="l" t="t" r="r" b="b"/>
            <a:pathLst>
              <a:path w="4460488" h="4114800">
                <a:moveTo>
                  <a:pt x="0" y="0"/>
                </a:moveTo>
                <a:lnTo>
                  <a:pt x="4460488" y="0"/>
                </a:lnTo>
                <a:lnTo>
                  <a:pt x="44604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028700" y="5810327"/>
            <a:ext cx="5420649" cy="2851390"/>
            <a:chOff x="0" y="0"/>
            <a:chExt cx="7227532" cy="3801853"/>
          </a:xfrm>
        </p:grpSpPr>
        <p:sp>
          <p:nvSpPr>
            <p:cNvPr id="9" name="TextBox 9"/>
            <p:cNvSpPr txBox="1"/>
            <p:nvPr/>
          </p:nvSpPr>
          <p:spPr>
            <a:xfrm>
              <a:off x="0" y="969800"/>
              <a:ext cx="7227532" cy="2832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26561" lvl="1" indent="-263280" algn="l">
                <a:lnSpc>
                  <a:spcPts val="3414"/>
                </a:lnSpc>
                <a:buFont typeface="Arial"/>
                <a:buChar char="•"/>
              </a:pPr>
              <a:r>
                <a:rPr lang="en-US" sz="2438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Train: split==train, augment=True</a:t>
              </a:r>
            </a:p>
            <a:p>
              <a:pPr marL="526561" lvl="1" indent="-263280" algn="l">
                <a:lnSpc>
                  <a:spcPts val="3414"/>
                </a:lnSpc>
                <a:buFont typeface="Arial"/>
                <a:buChar char="•"/>
              </a:pPr>
              <a:r>
                <a:rPr lang="en-US" sz="2438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Val: split==test, augment=False</a:t>
              </a:r>
            </a:p>
            <a:p>
              <a:pPr marL="526561" lvl="1" indent="-263280" algn="l">
                <a:lnSpc>
                  <a:spcPts val="3414"/>
                </a:lnSpc>
                <a:buFont typeface="Arial"/>
                <a:buChar char="•"/>
              </a:pPr>
              <a:r>
                <a:rPr lang="en-US" sz="2438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batch_size, num_workers, pin_memory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7227532" cy="654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A9CFC5"/>
                  </a:solidFill>
                  <a:latin typeface="Inter"/>
                  <a:ea typeface="Inter"/>
                  <a:cs typeface="Inter"/>
                  <a:sym typeface="Inter"/>
                </a:rPr>
                <a:t>SPLITS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2964167"/>
            <a:ext cx="5420649" cy="2422765"/>
            <a:chOff x="0" y="0"/>
            <a:chExt cx="7227532" cy="323035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69800"/>
              <a:ext cx="7227532" cy="2260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26561" lvl="1" indent="-263280" algn="l">
                <a:lnSpc>
                  <a:spcPts val="3414"/>
                </a:lnSpc>
                <a:buFont typeface="Arial"/>
                <a:buChar char="•"/>
              </a:pPr>
              <a:r>
                <a:rPr lang="en-US" sz="2438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shuffle == True for train </a:t>
              </a:r>
            </a:p>
            <a:p>
              <a:pPr marL="526561" lvl="1" indent="-263280" algn="l">
                <a:lnSpc>
                  <a:spcPts val="3414"/>
                </a:lnSpc>
                <a:buFont typeface="Arial"/>
                <a:buChar char="•"/>
              </a:pPr>
              <a:r>
                <a:rPr lang="en-US" sz="2438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shuffle == False for val</a:t>
              </a:r>
            </a:p>
            <a:p>
              <a:pPr marL="526561" lvl="1" indent="-263280" algn="l">
                <a:lnSpc>
                  <a:spcPts val="3414"/>
                </a:lnSpc>
                <a:buFont typeface="Arial"/>
                <a:buChar char="•"/>
              </a:pPr>
              <a:r>
                <a:rPr lang="en-US" sz="2438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pin_memory == True speeds host→GPU transfers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7227532" cy="654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A9CFC5"/>
                  </a:solidFill>
                  <a:latin typeface="Inter"/>
                  <a:ea typeface="Inter"/>
                  <a:cs typeface="Inter"/>
                  <a:sym typeface="Inter"/>
                </a:rPr>
                <a:t>DATALOADERS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9740873" cy="1293056"/>
            <a:chOff x="0" y="0"/>
            <a:chExt cx="3124428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4428" cy="414754"/>
            </a:xfrm>
            <a:custGeom>
              <a:avLst/>
              <a:gdLst/>
              <a:ahLst/>
              <a:cxnLst/>
              <a:rect l="l" t="t" r="r" b="b"/>
              <a:pathLst>
                <a:path w="3124428" h="414754">
                  <a:moveTo>
                    <a:pt x="58814" y="0"/>
                  </a:moveTo>
                  <a:lnTo>
                    <a:pt x="3065614" y="0"/>
                  </a:lnTo>
                  <a:cubicBezTo>
                    <a:pt x="3081212" y="0"/>
                    <a:pt x="3096172" y="6196"/>
                    <a:pt x="3107202" y="17226"/>
                  </a:cubicBezTo>
                  <a:cubicBezTo>
                    <a:pt x="3118231" y="28256"/>
                    <a:pt x="3124428" y="43216"/>
                    <a:pt x="3124428" y="58814"/>
                  </a:cubicBezTo>
                  <a:lnTo>
                    <a:pt x="3124428" y="355939"/>
                  </a:lnTo>
                  <a:cubicBezTo>
                    <a:pt x="3124428" y="371538"/>
                    <a:pt x="3118231" y="386497"/>
                    <a:pt x="3107202" y="397527"/>
                  </a:cubicBezTo>
                  <a:cubicBezTo>
                    <a:pt x="3096172" y="408557"/>
                    <a:pt x="3081212" y="414754"/>
                    <a:pt x="3065614" y="414754"/>
                  </a:cubicBezTo>
                  <a:lnTo>
                    <a:pt x="58814" y="414754"/>
                  </a:lnTo>
                  <a:cubicBezTo>
                    <a:pt x="43216" y="414754"/>
                    <a:pt x="28256" y="408557"/>
                    <a:pt x="17226" y="397527"/>
                  </a:cubicBezTo>
                  <a:cubicBezTo>
                    <a:pt x="6196" y="386497"/>
                    <a:pt x="0" y="371538"/>
                    <a:pt x="0" y="355939"/>
                  </a:cubicBezTo>
                  <a:lnTo>
                    <a:pt x="0" y="58814"/>
                  </a:lnTo>
                  <a:cubicBezTo>
                    <a:pt x="0" y="43216"/>
                    <a:pt x="6196" y="28256"/>
                    <a:pt x="17226" y="17226"/>
                  </a:cubicBezTo>
                  <a:cubicBezTo>
                    <a:pt x="28256" y="6196"/>
                    <a:pt x="43216" y="0"/>
                    <a:pt x="58814" y="0"/>
                  </a:cubicBezTo>
                  <a:close/>
                </a:path>
              </a:pathLst>
            </a:custGeom>
            <a:solidFill>
              <a:srgbClr val="A9CF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3124428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U‑Net Architecture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2690252"/>
            <a:ext cx="7960894" cy="5970671"/>
          </a:xfrm>
          <a:custGeom>
            <a:avLst/>
            <a:gdLst/>
            <a:ahLst/>
            <a:cxnLst/>
            <a:rect l="l" t="t" r="r" b="b"/>
            <a:pathLst>
              <a:path w="7960894" h="5970671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399549" y="3590394"/>
            <a:ext cx="7374420" cy="3039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2167" lvl="1" indent="-376084" algn="l">
              <a:lnSpc>
                <a:spcPts val="4877"/>
              </a:lnSpc>
              <a:buFont typeface="Arial"/>
              <a:buChar char="•"/>
            </a:pPr>
            <a:r>
              <a:rPr lang="en-US" sz="348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Encoder: 64→128→256→512</a:t>
            </a:r>
          </a:p>
          <a:p>
            <a:pPr marL="752167" lvl="1" indent="-376084" algn="l">
              <a:lnSpc>
                <a:spcPts val="4877"/>
              </a:lnSpc>
              <a:buFont typeface="Arial"/>
              <a:buChar char="•"/>
            </a:pPr>
            <a:r>
              <a:rPr lang="en-US" sz="348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Bottleneck: 1024</a:t>
            </a:r>
          </a:p>
          <a:p>
            <a:pPr marL="752167" lvl="1" indent="-376084" algn="l">
              <a:lnSpc>
                <a:spcPts val="4877"/>
              </a:lnSpc>
              <a:buFont typeface="Arial"/>
              <a:buChar char="•"/>
            </a:pPr>
            <a:r>
              <a:rPr lang="en-US" sz="348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Decoder: up-conv + skip concat</a:t>
            </a:r>
          </a:p>
          <a:p>
            <a:pPr marL="752167" lvl="1" indent="-376084" algn="l">
              <a:lnSpc>
                <a:spcPts val="4877"/>
              </a:lnSpc>
              <a:buFont typeface="Arial"/>
              <a:buChar char="•"/>
            </a:pPr>
            <a:r>
              <a:rPr lang="en-US" sz="348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Output: 3‑ch + tan(h)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8835017" cy="1293056"/>
            <a:chOff x="0" y="0"/>
            <a:chExt cx="2833870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870" cy="414754"/>
            </a:xfrm>
            <a:custGeom>
              <a:avLst/>
              <a:gdLst/>
              <a:ahLst/>
              <a:cxnLst/>
              <a:rect l="l" t="t" r="r" b="b"/>
              <a:pathLst>
                <a:path w="2833870" h="414754">
                  <a:moveTo>
                    <a:pt x="64844" y="0"/>
                  </a:moveTo>
                  <a:lnTo>
                    <a:pt x="2769026" y="0"/>
                  </a:lnTo>
                  <a:cubicBezTo>
                    <a:pt x="2786224" y="0"/>
                    <a:pt x="2802717" y="6832"/>
                    <a:pt x="2814878" y="18993"/>
                  </a:cubicBezTo>
                  <a:cubicBezTo>
                    <a:pt x="2827039" y="31153"/>
                    <a:pt x="2833870" y="47647"/>
                    <a:pt x="2833870" y="64844"/>
                  </a:cubicBezTo>
                  <a:lnTo>
                    <a:pt x="2833870" y="349909"/>
                  </a:lnTo>
                  <a:cubicBezTo>
                    <a:pt x="2833870" y="385722"/>
                    <a:pt x="2804838" y="414754"/>
                    <a:pt x="2769026" y="414754"/>
                  </a:cubicBezTo>
                  <a:lnTo>
                    <a:pt x="64844" y="414754"/>
                  </a:lnTo>
                  <a:cubicBezTo>
                    <a:pt x="47647" y="414754"/>
                    <a:pt x="31153" y="407922"/>
                    <a:pt x="18993" y="395761"/>
                  </a:cubicBezTo>
                  <a:cubicBezTo>
                    <a:pt x="6832" y="383600"/>
                    <a:pt x="0" y="367107"/>
                    <a:pt x="0" y="349909"/>
                  </a:cubicBezTo>
                  <a:lnTo>
                    <a:pt x="0" y="64844"/>
                  </a:lnTo>
                  <a:cubicBezTo>
                    <a:pt x="0" y="47647"/>
                    <a:pt x="6832" y="31153"/>
                    <a:pt x="18993" y="18993"/>
                  </a:cubicBezTo>
                  <a:cubicBezTo>
                    <a:pt x="31153" y="6832"/>
                    <a:pt x="47647" y="0"/>
                    <a:pt x="64844" y="0"/>
                  </a:cubicBezTo>
                  <a:close/>
                </a:path>
              </a:pathLst>
            </a:custGeom>
            <a:solidFill>
              <a:srgbClr val="E4E3B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2833870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Loss &amp; Optimization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823405" y="2832149"/>
            <a:ext cx="4622702" cy="4622702"/>
          </a:xfrm>
          <a:custGeom>
            <a:avLst/>
            <a:gdLst/>
            <a:ahLst/>
            <a:cxnLst/>
            <a:rect l="l" t="t" r="r" b="b"/>
            <a:pathLst>
              <a:path w="4622702" h="4622702">
                <a:moveTo>
                  <a:pt x="0" y="0"/>
                </a:moveTo>
                <a:lnTo>
                  <a:pt x="4622702" y="0"/>
                </a:lnTo>
                <a:lnTo>
                  <a:pt x="4622702" y="4622702"/>
                </a:lnTo>
                <a:lnTo>
                  <a:pt x="0" y="4622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54274" y="4592488"/>
            <a:ext cx="7209444" cy="196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808" lvl="1" indent="-302904" algn="l">
              <a:lnSpc>
                <a:spcPts val="3928"/>
              </a:lnSpc>
              <a:buFont typeface="Arial"/>
              <a:buChar char="•"/>
            </a:pPr>
            <a:r>
              <a:rPr lang="en-US" sz="280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CombinedLoss = α·L1 + (1−α)·MSE</a:t>
            </a:r>
          </a:p>
          <a:p>
            <a:pPr marL="605808" lvl="1" indent="-302904" algn="l">
              <a:lnSpc>
                <a:spcPts val="3928"/>
              </a:lnSpc>
              <a:buFont typeface="Arial"/>
              <a:buChar char="•"/>
            </a:pPr>
            <a:r>
              <a:rPr lang="en-US" sz="280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α = 0.4 (edges vs smoothness)</a:t>
            </a:r>
          </a:p>
          <a:p>
            <a:pPr marL="605808" lvl="1" indent="-302904" algn="l">
              <a:lnSpc>
                <a:spcPts val="3928"/>
              </a:lnSpc>
              <a:buFont typeface="Arial"/>
              <a:buChar char="•"/>
            </a:pPr>
            <a:r>
              <a:rPr lang="en-US" sz="280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AdamW lr=1e‑4, wd=1e‑5</a:t>
            </a:r>
          </a:p>
          <a:p>
            <a:pPr marL="605808" lvl="1" indent="-302904" algn="l">
              <a:lnSpc>
                <a:spcPts val="3928"/>
              </a:lnSpc>
              <a:buFont typeface="Arial"/>
              <a:buChar char="•"/>
            </a:pPr>
            <a:r>
              <a:rPr lang="en-US" sz="280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StepLR(step=10, γ=0.5)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343025"/>
            <a:ext cx="12159080" cy="1293056"/>
            <a:chOff x="0" y="0"/>
            <a:chExt cx="3900078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00078" cy="414754"/>
            </a:xfrm>
            <a:custGeom>
              <a:avLst/>
              <a:gdLst/>
              <a:ahLst/>
              <a:cxnLst/>
              <a:rect l="l" t="t" r="r" b="b"/>
              <a:pathLst>
                <a:path w="3900078" h="414754">
                  <a:moveTo>
                    <a:pt x="47117" y="0"/>
                  </a:moveTo>
                  <a:lnTo>
                    <a:pt x="3852961" y="0"/>
                  </a:lnTo>
                  <a:cubicBezTo>
                    <a:pt x="3865457" y="0"/>
                    <a:pt x="3877442" y="4964"/>
                    <a:pt x="3886278" y="13800"/>
                  </a:cubicBezTo>
                  <a:cubicBezTo>
                    <a:pt x="3895114" y="22637"/>
                    <a:pt x="3900078" y="34621"/>
                    <a:pt x="3900078" y="47117"/>
                  </a:cubicBezTo>
                  <a:lnTo>
                    <a:pt x="3900078" y="367636"/>
                  </a:lnTo>
                  <a:cubicBezTo>
                    <a:pt x="3900078" y="393658"/>
                    <a:pt x="3878983" y="414754"/>
                    <a:pt x="3852961" y="414754"/>
                  </a:cubicBezTo>
                  <a:lnTo>
                    <a:pt x="47117" y="414754"/>
                  </a:lnTo>
                  <a:cubicBezTo>
                    <a:pt x="21095" y="414754"/>
                    <a:pt x="0" y="393658"/>
                    <a:pt x="0" y="367636"/>
                  </a:cubicBezTo>
                  <a:lnTo>
                    <a:pt x="0" y="47117"/>
                  </a:lnTo>
                  <a:cubicBezTo>
                    <a:pt x="0" y="21095"/>
                    <a:pt x="21095" y="0"/>
                    <a:pt x="47117" y="0"/>
                  </a:cubicBezTo>
                  <a:close/>
                </a:path>
              </a:pathLst>
            </a:custGeom>
            <a:solidFill>
              <a:srgbClr val="E4E3B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3900078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Metrics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744040" y="3285845"/>
            <a:ext cx="4643584" cy="5972455"/>
          </a:xfrm>
          <a:custGeom>
            <a:avLst/>
            <a:gdLst/>
            <a:ahLst/>
            <a:cxnLst/>
            <a:rect l="l" t="t" r="r" b="b"/>
            <a:pathLst>
              <a:path w="4643584" h="5972455">
                <a:moveTo>
                  <a:pt x="0" y="0"/>
                </a:moveTo>
                <a:lnTo>
                  <a:pt x="4643584" y="0"/>
                </a:lnTo>
                <a:lnTo>
                  <a:pt x="4643584" y="5972455"/>
                </a:lnTo>
                <a:lnTo>
                  <a:pt x="0" y="5972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4219892"/>
            <a:ext cx="742444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Map outputs to [0,1] for metrics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PSNR (higher is better)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SSIM (0–1; higher is better)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9030326" cy="1293056"/>
            <a:chOff x="0" y="0"/>
            <a:chExt cx="2896517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6517" cy="414754"/>
            </a:xfrm>
            <a:custGeom>
              <a:avLst/>
              <a:gdLst/>
              <a:ahLst/>
              <a:cxnLst/>
              <a:rect l="l" t="t" r="r" b="b"/>
              <a:pathLst>
                <a:path w="2896517" h="414754">
                  <a:moveTo>
                    <a:pt x="63442" y="0"/>
                  </a:moveTo>
                  <a:lnTo>
                    <a:pt x="2833075" y="0"/>
                  </a:lnTo>
                  <a:cubicBezTo>
                    <a:pt x="2849900" y="0"/>
                    <a:pt x="2866037" y="6684"/>
                    <a:pt x="2877935" y="18582"/>
                  </a:cubicBezTo>
                  <a:cubicBezTo>
                    <a:pt x="2889833" y="30479"/>
                    <a:pt x="2896517" y="46616"/>
                    <a:pt x="2896517" y="63442"/>
                  </a:cubicBezTo>
                  <a:lnTo>
                    <a:pt x="2896517" y="351312"/>
                  </a:lnTo>
                  <a:cubicBezTo>
                    <a:pt x="2896517" y="368137"/>
                    <a:pt x="2889833" y="384274"/>
                    <a:pt x="2877935" y="396172"/>
                  </a:cubicBezTo>
                  <a:cubicBezTo>
                    <a:pt x="2866037" y="408070"/>
                    <a:pt x="2849900" y="414754"/>
                    <a:pt x="2833075" y="414754"/>
                  </a:cubicBezTo>
                  <a:lnTo>
                    <a:pt x="63442" y="414754"/>
                  </a:lnTo>
                  <a:cubicBezTo>
                    <a:pt x="46616" y="414754"/>
                    <a:pt x="30479" y="408070"/>
                    <a:pt x="18582" y="396172"/>
                  </a:cubicBezTo>
                  <a:cubicBezTo>
                    <a:pt x="6684" y="384274"/>
                    <a:pt x="0" y="368137"/>
                    <a:pt x="0" y="351312"/>
                  </a:cubicBezTo>
                  <a:lnTo>
                    <a:pt x="0" y="63442"/>
                  </a:lnTo>
                  <a:cubicBezTo>
                    <a:pt x="0" y="46616"/>
                    <a:pt x="6684" y="30479"/>
                    <a:pt x="18582" y="18582"/>
                  </a:cubicBezTo>
                  <a:cubicBezTo>
                    <a:pt x="30479" y="6684"/>
                    <a:pt x="46616" y="0"/>
                    <a:pt x="63442" y="0"/>
                  </a:cubicBezTo>
                  <a:close/>
                </a:path>
              </a:pathLst>
            </a:custGeom>
            <a:solidFill>
              <a:srgbClr val="EBB87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2896517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Training Loop &amp; Checkpoint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3417766"/>
            <a:ext cx="8825847" cy="2660976"/>
          </a:xfrm>
          <a:custGeom>
            <a:avLst/>
            <a:gdLst/>
            <a:ahLst/>
            <a:cxnLst/>
            <a:rect l="l" t="t" r="r" b="b"/>
            <a:pathLst>
              <a:path w="8825847" h="2660976">
                <a:moveTo>
                  <a:pt x="0" y="0"/>
                </a:moveTo>
                <a:lnTo>
                  <a:pt x="8825847" y="0"/>
                </a:lnTo>
                <a:lnTo>
                  <a:pt x="8825847" y="2660977"/>
                </a:lnTo>
                <a:lnTo>
                  <a:pt x="0" y="2660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99927" y="3874760"/>
            <a:ext cx="6396499" cy="407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5641" lvl="1" indent="-432821" algn="l">
              <a:lnSpc>
                <a:spcPts val="4009"/>
              </a:lnSpc>
              <a:buFont typeface="Arial"/>
              <a:buChar char="•"/>
            </a:pPr>
            <a:r>
              <a:rPr lang="en-US" sz="400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Epoch log: train loss, val loss, PSNR, SSIM</a:t>
            </a:r>
          </a:p>
          <a:p>
            <a:pPr algn="l">
              <a:lnSpc>
                <a:spcPts val="4009"/>
              </a:lnSpc>
            </a:pPr>
            <a:endParaRPr lang="en-US" sz="400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865641" lvl="1" indent="-432821" algn="l">
              <a:lnSpc>
                <a:spcPts val="4009"/>
              </a:lnSpc>
              <a:buFont typeface="Arial"/>
              <a:buChar char="•"/>
            </a:pPr>
            <a:r>
              <a:rPr lang="en-US" sz="400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Save best model by val loss</a:t>
            </a:r>
          </a:p>
          <a:p>
            <a:pPr algn="l">
              <a:lnSpc>
                <a:spcPts val="4009"/>
              </a:lnSpc>
            </a:pPr>
            <a:endParaRPr lang="en-US" sz="400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865641" lvl="1" indent="-432821" algn="l">
              <a:lnSpc>
                <a:spcPts val="4009"/>
              </a:lnSpc>
              <a:buFont typeface="Arial"/>
              <a:buChar char="•"/>
            </a:pPr>
            <a:r>
              <a:rPr lang="en-US" sz="400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Demo: 5 epochs (increase for quality)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9740873" cy="1293056"/>
            <a:chOff x="0" y="0"/>
            <a:chExt cx="3124428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4428" cy="414754"/>
            </a:xfrm>
            <a:custGeom>
              <a:avLst/>
              <a:gdLst/>
              <a:ahLst/>
              <a:cxnLst/>
              <a:rect l="l" t="t" r="r" b="b"/>
              <a:pathLst>
                <a:path w="3124428" h="414754">
                  <a:moveTo>
                    <a:pt x="58814" y="0"/>
                  </a:moveTo>
                  <a:lnTo>
                    <a:pt x="3065614" y="0"/>
                  </a:lnTo>
                  <a:cubicBezTo>
                    <a:pt x="3081212" y="0"/>
                    <a:pt x="3096172" y="6196"/>
                    <a:pt x="3107202" y="17226"/>
                  </a:cubicBezTo>
                  <a:cubicBezTo>
                    <a:pt x="3118231" y="28256"/>
                    <a:pt x="3124428" y="43216"/>
                    <a:pt x="3124428" y="58814"/>
                  </a:cubicBezTo>
                  <a:lnTo>
                    <a:pt x="3124428" y="355939"/>
                  </a:lnTo>
                  <a:cubicBezTo>
                    <a:pt x="3124428" y="371538"/>
                    <a:pt x="3118231" y="386497"/>
                    <a:pt x="3107202" y="397527"/>
                  </a:cubicBezTo>
                  <a:cubicBezTo>
                    <a:pt x="3096172" y="408557"/>
                    <a:pt x="3081212" y="414754"/>
                    <a:pt x="3065614" y="414754"/>
                  </a:cubicBezTo>
                  <a:lnTo>
                    <a:pt x="58814" y="414754"/>
                  </a:lnTo>
                  <a:cubicBezTo>
                    <a:pt x="43216" y="414754"/>
                    <a:pt x="28256" y="408557"/>
                    <a:pt x="17226" y="397527"/>
                  </a:cubicBezTo>
                  <a:cubicBezTo>
                    <a:pt x="6196" y="386497"/>
                    <a:pt x="0" y="371538"/>
                    <a:pt x="0" y="355939"/>
                  </a:cubicBezTo>
                  <a:lnTo>
                    <a:pt x="0" y="58814"/>
                  </a:lnTo>
                  <a:cubicBezTo>
                    <a:pt x="0" y="43216"/>
                    <a:pt x="6196" y="28256"/>
                    <a:pt x="17226" y="17226"/>
                  </a:cubicBezTo>
                  <a:cubicBezTo>
                    <a:pt x="28256" y="6196"/>
                    <a:pt x="43216" y="0"/>
                    <a:pt x="58814" y="0"/>
                  </a:cubicBezTo>
                  <a:close/>
                </a:path>
              </a:pathLst>
            </a:custGeom>
            <a:solidFill>
              <a:srgbClr val="F6CD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3124428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>
                  <a:solidFill>
                    <a:srgbClr val="FAF5EF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Inference Pipeline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7224967" y="3246208"/>
            <a:ext cx="3049373" cy="2462369"/>
          </a:xfrm>
          <a:custGeom>
            <a:avLst/>
            <a:gdLst/>
            <a:ahLst/>
            <a:cxnLst/>
            <a:rect l="l" t="t" r="r" b="b"/>
            <a:pathLst>
              <a:path w="3049373" h="2462369">
                <a:moveTo>
                  <a:pt x="0" y="0"/>
                </a:moveTo>
                <a:lnTo>
                  <a:pt x="3049373" y="0"/>
                </a:lnTo>
                <a:lnTo>
                  <a:pt x="3049373" y="2462369"/>
                </a:lnTo>
                <a:lnTo>
                  <a:pt x="0" y="2462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140288" y="6556829"/>
            <a:ext cx="8611332" cy="270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6503" lvl="1" indent="-418251" algn="l">
              <a:lnSpc>
                <a:spcPts val="5424"/>
              </a:lnSpc>
              <a:buFont typeface="Arial"/>
              <a:buChar char="•"/>
            </a:pPr>
            <a:r>
              <a:rPr lang="en-US" sz="3874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Load weights → preprocess L → replicate → predict</a:t>
            </a:r>
          </a:p>
          <a:p>
            <a:pPr marL="836503" lvl="1" indent="-418251" algn="l">
              <a:lnSpc>
                <a:spcPts val="5424"/>
              </a:lnSpc>
              <a:buFont typeface="Arial"/>
              <a:buChar char="•"/>
            </a:pPr>
            <a:r>
              <a:rPr lang="en-US" sz="3874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Postprocess tanh → [0,1]</a:t>
            </a:r>
          </a:p>
          <a:p>
            <a:pPr marL="836503" lvl="1" indent="-418251" algn="l">
              <a:lnSpc>
                <a:spcPts val="5424"/>
              </a:lnSpc>
              <a:buFont typeface="Arial"/>
              <a:buChar char="•"/>
            </a:pPr>
            <a:r>
              <a:rPr lang="en-US" sz="3874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Save with OpenCV (BGR)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8348935" cy="1293056"/>
            <a:chOff x="0" y="0"/>
            <a:chExt cx="2677958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77958" cy="414754"/>
            </a:xfrm>
            <a:custGeom>
              <a:avLst/>
              <a:gdLst/>
              <a:ahLst/>
              <a:cxnLst/>
              <a:rect l="l" t="t" r="r" b="b"/>
              <a:pathLst>
                <a:path w="2677958" h="414754">
                  <a:moveTo>
                    <a:pt x="68620" y="0"/>
                  </a:moveTo>
                  <a:lnTo>
                    <a:pt x="2609338" y="0"/>
                  </a:lnTo>
                  <a:cubicBezTo>
                    <a:pt x="2627537" y="0"/>
                    <a:pt x="2644991" y="7230"/>
                    <a:pt x="2657859" y="20098"/>
                  </a:cubicBezTo>
                  <a:cubicBezTo>
                    <a:pt x="2670728" y="32967"/>
                    <a:pt x="2677958" y="50421"/>
                    <a:pt x="2677958" y="68620"/>
                  </a:cubicBezTo>
                  <a:lnTo>
                    <a:pt x="2677958" y="346134"/>
                  </a:lnTo>
                  <a:cubicBezTo>
                    <a:pt x="2677958" y="384031"/>
                    <a:pt x="2647236" y="414754"/>
                    <a:pt x="2609338" y="414754"/>
                  </a:cubicBezTo>
                  <a:lnTo>
                    <a:pt x="68620" y="414754"/>
                  </a:lnTo>
                  <a:cubicBezTo>
                    <a:pt x="50421" y="414754"/>
                    <a:pt x="32967" y="407524"/>
                    <a:pt x="20098" y="394655"/>
                  </a:cubicBezTo>
                  <a:cubicBezTo>
                    <a:pt x="7230" y="381787"/>
                    <a:pt x="0" y="364333"/>
                    <a:pt x="0" y="346134"/>
                  </a:cubicBezTo>
                  <a:lnTo>
                    <a:pt x="0" y="68620"/>
                  </a:lnTo>
                  <a:cubicBezTo>
                    <a:pt x="0" y="50421"/>
                    <a:pt x="7230" y="32967"/>
                    <a:pt x="20098" y="20098"/>
                  </a:cubicBezTo>
                  <a:cubicBezTo>
                    <a:pt x="32967" y="7230"/>
                    <a:pt x="50421" y="0"/>
                    <a:pt x="68620" y="0"/>
                  </a:cubicBezTo>
                  <a:close/>
                </a:path>
              </a:pathLst>
            </a:custGeom>
            <a:solidFill>
              <a:srgbClr val="F4DA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2677958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Result Visualization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8578923" y="2496153"/>
            <a:ext cx="8114473" cy="5294693"/>
          </a:xfrm>
          <a:custGeom>
            <a:avLst/>
            <a:gdLst/>
            <a:ahLst/>
            <a:cxnLst/>
            <a:rect l="l" t="t" r="r" b="b"/>
            <a:pathLst>
              <a:path w="8114473" h="5294693">
                <a:moveTo>
                  <a:pt x="0" y="0"/>
                </a:moveTo>
                <a:lnTo>
                  <a:pt x="8114473" y="0"/>
                </a:lnTo>
                <a:lnTo>
                  <a:pt x="8114473" y="5294694"/>
                </a:lnTo>
                <a:lnTo>
                  <a:pt x="0" y="5294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3942600"/>
            <a:ext cx="7995143" cy="338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7791" lvl="1" indent="-418895" algn="l">
              <a:lnSpc>
                <a:spcPts val="5432"/>
              </a:lnSpc>
              <a:buFont typeface="Arial"/>
              <a:buChar char="•"/>
            </a:pPr>
            <a:r>
              <a:rPr lang="en-US" sz="388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Triptych:</a:t>
            </a:r>
          </a:p>
          <a:p>
            <a:pPr marL="1675581" lvl="2" indent="-558527" algn="l">
              <a:lnSpc>
                <a:spcPts val="5432"/>
              </a:lnSpc>
              <a:buFont typeface="Arial"/>
              <a:buChar char="⚬"/>
            </a:pPr>
            <a:r>
              <a:rPr lang="en-US" sz="388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Grayscale | Original | Colorized</a:t>
            </a:r>
          </a:p>
          <a:p>
            <a:pPr marL="837791" lvl="1" indent="-418895" algn="l">
              <a:lnSpc>
                <a:spcPts val="5432"/>
              </a:lnSpc>
              <a:buFont typeface="Arial"/>
              <a:buChar char="•"/>
            </a:pPr>
            <a:r>
              <a:rPr lang="en-US" sz="388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Sample from val set</a:t>
            </a:r>
          </a:p>
          <a:p>
            <a:pPr marL="837791" lvl="1" indent="-418895" algn="l">
              <a:lnSpc>
                <a:spcPts val="5432"/>
              </a:lnSpc>
              <a:buFont typeface="Arial"/>
              <a:buChar char="•"/>
            </a:pPr>
            <a:r>
              <a:rPr lang="en-US" sz="388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Save outputs to folder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6873" y="1028700"/>
            <a:ext cx="9740873" cy="1293056"/>
            <a:chOff x="0" y="0"/>
            <a:chExt cx="3124428" cy="414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4428" cy="414754"/>
            </a:xfrm>
            <a:custGeom>
              <a:avLst/>
              <a:gdLst/>
              <a:ahLst/>
              <a:cxnLst/>
              <a:rect l="l" t="t" r="r" b="b"/>
              <a:pathLst>
                <a:path w="3124428" h="414754">
                  <a:moveTo>
                    <a:pt x="58814" y="0"/>
                  </a:moveTo>
                  <a:lnTo>
                    <a:pt x="3065614" y="0"/>
                  </a:lnTo>
                  <a:cubicBezTo>
                    <a:pt x="3081212" y="0"/>
                    <a:pt x="3096172" y="6196"/>
                    <a:pt x="3107202" y="17226"/>
                  </a:cubicBezTo>
                  <a:cubicBezTo>
                    <a:pt x="3118231" y="28256"/>
                    <a:pt x="3124428" y="43216"/>
                    <a:pt x="3124428" y="58814"/>
                  </a:cubicBezTo>
                  <a:lnTo>
                    <a:pt x="3124428" y="355939"/>
                  </a:lnTo>
                  <a:cubicBezTo>
                    <a:pt x="3124428" y="371538"/>
                    <a:pt x="3118231" y="386497"/>
                    <a:pt x="3107202" y="397527"/>
                  </a:cubicBezTo>
                  <a:cubicBezTo>
                    <a:pt x="3096172" y="408557"/>
                    <a:pt x="3081212" y="414754"/>
                    <a:pt x="3065614" y="414754"/>
                  </a:cubicBezTo>
                  <a:lnTo>
                    <a:pt x="58814" y="414754"/>
                  </a:lnTo>
                  <a:cubicBezTo>
                    <a:pt x="43216" y="414754"/>
                    <a:pt x="28256" y="408557"/>
                    <a:pt x="17226" y="397527"/>
                  </a:cubicBezTo>
                  <a:cubicBezTo>
                    <a:pt x="6196" y="386497"/>
                    <a:pt x="0" y="371538"/>
                    <a:pt x="0" y="355939"/>
                  </a:cubicBezTo>
                  <a:lnTo>
                    <a:pt x="0" y="58814"/>
                  </a:lnTo>
                  <a:cubicBezTo>
                    <a:pt x="0" y="43216"/>
                    <a:pt x="6196" y="28256"/>
                    <a:pt x="17226" y="17226"/>
                  </a:cubicBezTo>
                  <a:cubicBezTo>
                    <a:pt x="28256" y="6196"/>
                    <a:pt x="43216" y="0"/>
                    <a:pt x="58814" y="0"/>
                  </a:cubicBezTo>
                  <a:close/>
                </a:path>
              </a:pathLst>
            </a:custGeom>
            <a:solidFill>
              <a:srgbClr val="A9CF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3124428" cy="319504"/>
            </a:xfrm>
            <a:prstGeom prst="rect">
              <a:avLst/>
            </a:prstGeom>
          </p:spPr>
          <p:txBody>
            <a:bodyPr lIns="20451" tIns="20451" rIns="20451" bIns="20451" rtlCol="0" anchor="ctr"/>
            <a:lstStyle/>
            <a:p>
              <a:pPr algn="ctr">
                <a:lnSpc>
                  <a:spcPts val="5000"/>
                </a:lnSpc>
              </a:pPr>
              <a:r>
                <a:rPr lang="en-US" sz="5000" b="1" i="1">
                  <a:solidFill>
                    <a:srgbClr val="FAF5EF"/>
                  </a:solidFill>
                  <a:latin typeface="One Little Font Bold"/>
                  <a:ea typeface="One Little Font Bold"/>
                  <a:cs typeface="One Little Font Bold"/>
                  <a:sym typeface="One Little Font Bold"/>
                </a:rPr>
                <a:t>Limitations &amp; Ethics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734271" y="2441145"/>
            <a:ext cx="4784651" cy="4114800"/>
          </a:xfrm>
          <a:custGeom>
            <a:avLst/>
            <a:gdLst/>
            <a:ahLst/>
            <a:cxnLst/>
            <a:rect l="l" t="t" r="r" b="b"/>
            <a:pathLst>
              <a:path w="4784651" h="4114800">
                <a:moveTo>
                  <a:pt x="0" y="0"/>
                </a:moveTo>
                <a:lnTo>
                  <a:pt x="4784651" y="0"/>
                </a:lnTo>
                <a:lnTo>
                  <a:pt x="4784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15673" y="3799567"/>
            <a:ext cx="7374420" cy="2427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2167" lvl="1" indent="-376084" algn="l">
              <a:lnSpc>
                <a:spcPts val="4877"/>
              </a:lnSpc>
              <a:buFont typeface="Arial"/>
              <a:buChar char="•"/>
            </a:pPr>
            <a:r>
              <a:rPr lang="en-US" sz="348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Learned color ≠ true physiology</a:t>
            </a:r>
          </a:p>
          <a:p>
            <a:pPr marL="752167" lvl="1" indent="-376084" algn="l">
              <a:lnSpc>
                <a:spcPts val="4877"/>
              </a:lnSpc>
              <a:buFont typeface="Arial"/>
              <a:buChar char="•"/>
            </a:pPr>
            <a:r>
              <a:rPr lang="en-US" sz="348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Dataset/domain bias</a:t>
            </a:r>
          </a:p>
          <a:p>
            <a:pPr marL="752167" lvl="1" indent="-376084" algn="l">
              <a:lnSpc>
                <a:spcPts val="4877"/>
              </a:lnSpc>
              <a:buFont typeface="Arial"/>
              <a:buChar char="•"/>
            </a:pPr>
            <a:r>
              <a:rPr lang="en-US" sz="348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Not for immediate clinical use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F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12415" y="1841500"/>
            <a:ext cx="2463169" cy="2273300"/>
          </a:xfrm>
          <a:custGeom>
            <a:avLst/>
            <a:gdLst/>
            <a:ahLst/>
            <a:cxnLst/>
            <a:rect l="l" t="t" r="r" b="b"/>
            <a:pathLst>
              <a:path w="2463169" h="2273300">
                <a:moveTo>
                  <a:pt x="0" y="0"/>
                </a:moveTo>
                <a:lnTo>
                  <a:pt x="2463170" y="0"/>
                </a:lnTo>
                <a:lnTo>
                  <a:pt x="2463170" y="2273300"/>
                </a:lnTo>
                <a:lnTo>
                  <a:pt x="0" y="2273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076782" y="5036715"/>
            <a:ext cx="8134436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48"/>
              </a:lnSpc>
              <a:spcBef>
                <a:spcPct val="0"/>
              </a:spcBef>
            </a:pPr>
            <a:r>
              <a:rPr lang="en-US" sz="7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 lang="en-US" sz="7148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1430</Words>
  <Application>Microsoft Office PowerPoint</Application>
  <PresentationFormat>Custom</PresentationFormat>
  <Paragraphs>205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One Little Font</vt:lpstr>
      <vt:lpstr>Calibri</vt:lpstr>
      <vt:lpstr>Inter</vt:lpstr>
      <vt:lpstr>Canva Sans Bold</vt:lpstr>
      <vt:lpstr>Arial</vt:lpstr>
      <vt:lpstr>One Little Font Bold</vt:lpstr>
      <vt:lpstr>Inter Italics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CT Medical Imaging Tutorial</dc:title>
  <cp:lastModifiedBy>Ludolf, Joshua</cp:lastModifiedBy>
  <cp:revision>3</cp:revision>
  <dcterms:created xsi:type="dcterms:W3CDTF">2006-08-16T00:00:00Z</dcterms:created>
  <dcterms:modified xsi:type="dcterms:W3CDTF">2025-10-01T17:59:04Z</dcterms:modified>
  <dc:identifier>DAG0GD2kkOM</dc:identifier>
</cp:coreProperties>
</file>