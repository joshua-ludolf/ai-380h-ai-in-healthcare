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nva Sans" panose="020B0604020202020204" charset="0"/>
      <p:regular r:id="rId12"/>
    </p:embeddedFont>
    <p:embeddedFont>
      <p:font typeface="Canva Sans Bold" panose="020B0604020202020204" charset="0"/>
      <p:regular r:id="rId13"/>
    </p:embeddedFont>
    <p:embeddedFont>
      <p:font typeface="Canva Sans Italics" panose="020B0604020202020204" charset="0"/>
      <p:regular r:id="rId14"/>
    </p:embeddedFont>
    <p:embeddedFont>
      <p:font typeface="Heading Now 31-38" panose="020B0604020202020204" charset="0"/>
      <p:regular r:id="rId15"/>
    </p:embeddedFont>
    <p:embeddedFont>
      <p:font typeface="Heading Now 31-38 Bold" panose="020B0604020202020204" charset="0"/>
      <p:regular r:id="rId16"/>
    </p:embeddedFont>
    <p:embeddedFont>
      <p:font typeface="Heading Now 31-38 Bold Italics" panose="020B0604020202020204" charset="0"/>
      <p:regular r:id="rId17"/>
    </p:embeddedFont>
    <p:embeddedFont>
      <p:font typeface="Ruda" panose="020B0604020202020204" charset="0"/>
      <p:regular r:id="rId18"/>
    </p:embeddedFont>
    <p:embeddedFont>
      <p:font typeface="Ruda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19.10.2025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https://colab.research.google.com/drive/1gT7C6faQTgdsRS-PBf5WlEkQz-rpS_bl?usp=sharing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address this problem, we will primarily use the following datasets:</a:t>
            </a:r>
          </a:p>
          <a:p>
            <a:endParaRPr lang="en-US"/>
          </a:p>
          <a:p>
            <a:r>
              <a:rPr lang="en-US"/>
              <a:t>ADMISSIONS: This dataset contains crucial information about each hospital admission, including the HOSPITAL_EXPIRE_FLAG, which directly indicates in-hospital mortality. It also provides admission and discharge times, admission type, and initial diagnoses, which can be valuable features for prediction.</a:t>
            </a:r>
          </a:p>
          <a:p>
            <a:endParaRPr lang="en-US"/>
          </a:p>
          <a:p>
            <a:r>
              <a:rPr lang="en-US"/>
              <a:t>PATIENTS: This dataset contains patient demographic information, such as age and gender, which are important factors influencing mortality risk.</a:t>
            </a:r>
          </a:p>
          <a:p>
            <a:endParaRPr lang="en-US"/>
          </a:p>
          <a:p>
            <a:r>
              <a:rPr lang="en-US"/>
              <a:t>ICUSTAYS: While not strictly necessary for in-hospital mortality as defined by ADMISSIONS, this dataset provides information about ICU stays, which are often associated with higher acuity and risk. Features from this dataset, such as length of ICU stay or first/last care unit, could potentially improve the predictive model, although we will focus on features available at admission initially.</a:t>
            </a:r>
          </a:p>
          <a:p>
            <a:endParaRPr lang="en-US"/>
          </a:p>
          <a:p>
            <a:r>
              <a:rPr lang="en-US"/>
              <a:t>DIAGNOSES_ICD: This dataset links admissions to ICD-9 diagnosis codes. By utilizing this data in conjunction with D_ICD_DIAGNOSES, we can incorporate the patient's diagnoses as features, which are strong indicators of their health status and potential mortality risk.</a:t>
            </a:r>
          </a:p>
          <a:p>
            <a:endParaRPr lang="en-US"/>
          </a:p>
          <a:p>
            <a:r>
              <a:rPr lang="en-US"/>
              <a:t>D_ICD_DIAGNOSES: This is a lookup table that provides the full title for the ICD-9 codes found in DIAGNOSES_ICD. This will be used to understand and potentially group diagnoses for feature engineering.</a:t>
            </a:r>
          </a:p>
          <a:p>
            <a:endParaRPr lang="en-US"/>
          </a:p>
          <a:p>
            <a:r>
              <a:rPr lang="en-US"/>
              <a:t>We will focus on features available at or near the time of admission to build a predictive model that can be used for early risk assessment.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Primary Datasets to be Used:</a:t>
            </a:r>
          </a:p>
          <a:p>
            <a:endParaRPr lang="en-US"/>
          </a:p>
          <a:p>
            <a:r>
              <a:rPr lang="en-US"/>
              <a:t>To address this problem, we will primarily use the following datasets:</a:t>
            </a:r>
          </a:p>
          <a:p>
            <a:endParaRPr lang="en-US"/>
          </a:p>
          <a:p>
            <a:r>
              <a:rPr lang="en-US"/>
              <a:t>ADMISSIONS: This dataset contains crucial information about each hospital admission, including the HOSPITAL_EXPIRE_FLAG, which directly indicates in-hospital mortality. It also provides admission and discharge times, admission type, and initial diagnoses, which can be valuable features for prediction.</a:t>
            </a:r>
          </a:p>
          <a:p>
            <a:endParaRPr lang="en-US"/>
          </a:p>
          <a:p>
            <a:r>
              <a:rPr lang="en-US"/>
              <a:t>PATIENTS: This dataset contains patient demographic information, such as age and gender, which are important factors influencing mortality risk.</a:t>
            </a:r>
          </a:p>
          <a:p>
            <a:endParaRPr lang="en-US"/>
          </a:p>
          <a:p>
            <a:r>
              <a:rPr lang="en-US"/>
              <a:t>ICUSTAYS: While not strictly necessary for in-hospital mortality as defined by ADMISSIONS, this dataset provides information about ICU stays, which are often associated with higher acuity and risk. Features from this dataset, such as length of ICU stay or first/last care unit, could potentially improve the predictive model, although we will focus on features available at admission initially.</a:t>
            </a:r>
          </a:p>
          <a:p>
            <a:endParaRPr lang="en-US"/>
          </a:p>
          <a:p>
            <a:r>
              <a:rPr lang="en-US"/>
              <a:t>DIAGNOSES_ICD: This dataset links admissions to ICD-9 diagnosis codes. By utilizing this data in conjunction with D_ICD_DIAGNOSES, we can incorporate the patient's diagnoses as features, which are strong indicators of their health status and potential mortality risk.</a:t>
            </a:r>
          </a:p>
          <a:p>
            <a:endParaRPr lang="en-US"/>
          </a:p>
          <a:p>
            <a:r>
              <a:rPr lang="en-US"/>
              <a:t>D_ICD_DIAGNOSES: This is a lookup table that provides the full title for the ICD-9 codes found in DIAGNOSES_ICD. This will be used to understand and potentially group diagnoses for feature engineering.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Considerations for Class Imbalance:</a:t>
            </a:r>
          </a:p>
          <a:p>
            <a:endParaRPr lang="en-US"/>
          </a:p>
          <a:p>
            <a:r>
              <a:rPr lang="en-US"/>
              <a:t>In-hospital mortality is likely to be a rare event compared to survival, leading to a class imbalance problem (significantly fewer positive examples of mortality than negative examples of survival). This can bias models towards predicting the majority class (survival), resulting in poor performance on the minority class (mortality). To address this, we will consider techniques such as:</a:t>
            </a:r>
          </a:p>
          <a:p>
            <a:endParaRPr lang="en-US"/>
          </a:p>
          <a:p>
            <a:r>
              <a:rPr lang="en-US"/>
              <a:t>Using appropriate evaluation metrics: Instead of relying solely on accuracy, we will use metrics like precision, recall, F1-score, and AUC-ROC, which are more informative for imbalanced datasets.</a:t>
            </a:r>
          </a:p>
          <a:p>
            <a:endParaRPr lang="en-US"/>
          </a:p>
          <a:p>
            <a:r>
              <a:rPr lang="en-US"/>
              <a:t>Resampling techniques:</a:t>
            </a:r>
          </a:p>
          <a:p>
            <a:r>
              <a:rPr lang="en-US"/>
              <a:t>Oversampling the minority class: Duplicating examples from the minority class (e.g., using SMOTE - Synthetic Minority Over-sampling Technique) to balance the class distribution.</a:t>
            </a:r>
          </a:p>
          <a:p>
            <a:endParaRPr lang="en-US"/>
          </a:p>
          <a:p>
            <a:r>
              <a:rPr lang="en-US"/>
              <a:t>Undersampling the majority class: Removing examples from the majority class.</a:t>
            </a:r>
          </a:p>
          <a:p>
            <a:endParaRPr lang="en-US"/>
          </a:p>
          <a:p>
            <a:r>
              <a:rPr lang="en-US"/>
              <a:t>Using class weights: Many ML algorithms allow assigning higher weights to the minority class during training to penalize misclassifications of the minority class more heavily.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evaluating models for an imbalanced dataset like in-hospital mortality prediction, metrics like Accuracy can be misleading. A model that always predicts the majority class (survival) could have high accuracy but fail to identify any of the minority class (mortality). Therefore, we focus on Precision, Recall, F1-score, and especially AUC-ROC.</a:t>
            </a:r>
          </a:p>
          <a:p>
            <a:endParaRPr lang="en-US"/>
          </a:p>
          <a:p>
            <a:r>
              <a:rPr lang="en-US"/>
              <a:t>*   **AUC-ROC:** This metric represents the model's ability to distinguish between the positive and negative classes across various probability thresholds. A higher AUC-ROC indicates better overall discriminatory power.</a:t>
            </a:r>
          </a:p>
          <a:p>
            <a:endParaRPr lang="en-US"/>
          </a:p>
          <a:p>
            <a:r>
              <a:rPr lang="en-US"/>
              <a:t>*   **Precision:** Of all the patients the model *predicted* would die, what proportion actually died? High precision minimizes false positives (predicting death when the patient survives). This is important to avoid unnecessary distress or interventions.</a:t>
            </a:r>
          </a:p>
          <a:p>
            <a:endParaRPr lang="en-US"/>
          </a:p>
          <a:p>
            <a:r>
              <a:rPr lang="en-US"/>
              <a:t>*   **Recall:** Of all the patients who *actually* died, what proportion did the model correctly identify? High recall minimizes false negatives (failing to predict death for a patient who dies). This is crucial in a healthcare setting to ensure high-risk patients are not missed.</a:t>
            </a:r>
          </a:p>
          <a:p>
            <a:endParaRPr lang="en-US"/>
          </a:p>
          <a:p>
            <a:r>
              <a:rPr lang="en-US"/>
              <a:t>*   **F1-score:** The harmonic mean of precision and recall, providing a balance between the two.</a:t>
            </a:r>
          </a:p>
          <a:p>
            <a:endParaRPr lang="en-US"/>
          </a:p>
          <a:p>
            <a:r>
              <a:rPr lang="en-US"/>
              <a:t>Comparing the AUC-ROC values, we can see that LightGBM has the highest AUC-ROC (0.9942), followed closely by Random Forest (0.9934) and then Logistic Regression (0.9895). This suggests that LightGBM has the best overall ability to discriminate between patients who will and will not experience in-hospital mortality.</a:t>
            </a:r>
          </a:p>
          <a:p>
            <a:endParaRPr lang="en-US"/>
          </a:p>
          <a:p>
            <a:r>
              <a:rPr lang="en-US"/>
              <a:t>Looking at Precision and Recall, there is often a trade-off. LightGBM achieves a good balance with a high F1-score (0.8922), a relatively high Recall (0.8557) meaning it identifies a large proportion of actual deaths, and a strong Precision (0.9319) meaning its positive predictions are highly reliable. Random Forest has slightly higher Precision (0.9503) but lower Recall (0.8108), meaning it is more conservative in predicting death but misses more actual deaths. Logistic Regression has the lowest Precision and Recall among the three. In the context of predicting in-hospital mortality, the relative importance of precision and recall depends on the clinical application. If the goal is to identify a small group of high-risk patients for intensive intervention (where resources are limited), high precision might be preferred to minimize unnecessary interventions. If the goal is to screen a large population to ensure no high-risk patient is missed (even at the cost of some false positives), high recall might be more important. LightGBM strikes a strong balance between Precision and Recall, making it a potentially suitable model for various clinical goals.</a:t>
            </a:r>
          </a:p>
          <a:p>
            <a:endParaRPr lang="en-US"/>
          </a:p>
          <a:p>
            <a:r>
              <a:rPr lang="en-US"/>
              <a:t>Overall, LightGBM appears to be the best performing model based on its superior AUC-ROC and a strong balance between Precision and Recall as indicated by its high F1-score.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grpSp>
        <p:nvGrpSpPr>
          <p:cNvPr id="2" name="Group 2"/>
          <p:cNvGrpSpPr/>
          <p:nvPr/>
        </p:nvGrpSpPr>
        <p:grpSpPr>
          <a:xfrm>
            <a:off x="14324490" y="1816219"/>
            <a:ext cx="3177028" cy="317702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F67"/>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8429450" y="2181744"/>
            <a:ext cx="8829850" cy="8531843"/>
          </a:xfrm>
          <a:custGeom>
            <a:avLst/>
            <a:gdLst/>
            <a:ahLst/>
            <a:cxnLst/>
            <a:rect l="l" t="t" r="r" b="b"/>
            <a:pathLst>
              <a:path w="8829850" h="8531843">
                <a:moveTo>
                  <a:pt x="0" y="0"/>
                </a:moveTo>
                <a:lnTo>
                  <a:pt x="8829850" y="0"/>
                </a:lnTo>
                <a:lnTo>
                  <a:pt x="8829850" y="8531843"/>
                </a:lnTo>
                <a:lnTo>
                  <a:pt x="0" y="85318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1347002" y="1818884"/>
            <a:ext cx="5820815" cy="3825917"/>
          </a:xfrm>
          <a:prstGeom prst="rect">
            <a:avLst/>
          </a:prstGeom>
        </p:spPr>
        <p:txBody>
          <a:bodyPr lIns="0" tIns="0" rIns="0" bIns="0" rtlCol="0" anchor="t">
            <a:spAutoFit/>
          </a:bodyPr>
          <a:lstStyle/>
          <a:p>
            <a:pPr algn="ctr">
              <a:lnSpc>
                <a:spcPts val="7366"/>
              </a:lnSpc>
            </a:pPr>
            <a:r>
              <a:rPr lang="en-US" sz="5261" b="1">
                <a:solidFill>
                  <a:srgbClr val="000000"/>
                </a:solidFill>
                <a:latin typeface="Heading Now 31-38 Bold"/>
                <a:ea typeface="Heading Now 31-38 Bold"/>
                <a:cs typeface="Heading Now 31-38 Bold"/>
                <a:sym typeface="Heading Now 31-38 Bold"/>
              </a:rPr>
              <a:t>PREDICTING IN-HOSPITAL MORTALITY</a:t>
            </a:r>
          </a:p>
          <a:p>
            <a:pPr algn="ctr">
              <a:lnSpc>
                <a:spcPts val="7366"/>
              </a:lnSpc>
            </a:pPr>
            <a:r>
              <a:rPr lang="en-US" sz="5261" b="1">
                <a:solidFill>
                  <a:srgbClr val="000000"/>
                </a:solidFill>
                <a:latin typeface="Heading Now 31-38 Bold"/>
                <a:ea typeface="Heading Now 31-38 Bold"/>
                <a:cs typeface="Heading Now 31-38 Bold"/>
                <a:sym typeface="Heading Now 31-38 Bold"/>
              </a:rPr>
              <a:t>WITH MACHINE LEARNING</a:t>
            </a:r>
          </a:p>
          <a:p>
            <a:pPr algn="ctr">
              <a:lnSpc>
                <a:spcPts val="7366"/>
              </a:lnSpc>
            </a:pPr>
            <a:endParaRPr lang="en-US" sz="5261" b="1">
              <a:solidFill>
                <a:srgbClr val="000000"/>
              </a:solidFill>
              <a:latin typeface="Heading Now 31-38 Bold"/>
              <a:ea typeface="Heading Now 31-38 Bold"/>
              <a:cs typeface="Heading Now 31-38 Bold"/>
              <a:sym typeface="Heading Now 31-38 Bold"/>
            </a:endParaRPr>
          </a:p>
        </p:txBody>
      </p:sp>
      <p:sp>
        <p:nvSpPr>
          <p:cNvPr id="7" name="TextBox 7"/>
          <p:cNvSpPr txBox="1"/>
          <p:nvPr/>
        </p:nvSpPr>
        <p:spPr>
          <a:xfrm>
            <a:off x="1864987" y="5985780"/>
            <a:ext cx="6333166" cy="3165180"/>
          </a:xfrm>
          <a:prstGeom prst="rect">
            <a:avLst/>
          </a:prstGeom>
        </p:spPr>
        <p:txBody>
          <a:bodyPr lIns="0" tIns="0" rIns="0" bIns="0" rtlCol="0" anchor="t">
            <a:spAutoFit/>
          </a:bodyPr>
          <a:lstStyle/>
          <a:p>
            <a:pPr algn="l">
              <a:lnSpc>
                <a:spcPts val="6117"/>
              </a:lnSpc>
            </a:pPr>
            <a:r>
              <a:rPr lang="en-US" sz="4369" b="1" i="1">
                <a:solidFill>
                  <a:srgbClr val="07584B"/>
                </a:solidFill>
                <a:latin typeface="Heading Now 31-38 Bold Italics"/>
                <a:ea typeface="Heading Now 31-38 Bold Italics"/>
                <a:cs typeface="Heading Now 31-38 Bold Italics"/>
                <a:sym typeface="Heading Now 31-38 Bold Italics"/>
              </a:rPr>
              <a:t>JOSHUA LUDOLF</a:t>
            </a:r>
          </a:p>
          <a:p>
            <a:pPr algn="l">
              <a:lnSpc>
                <a:spcPts val="6117"/>
              </a:lnSpc>
            </a:pPr>
            <a:r>
              <a:rPr lang="en-US" sz="4369" b="1" i="1">
                <a:solidFill>
                  <a:srgbClr val="07584B"/>
                </a:solidFill>
                <a:latin typeface="Heading Now 31-38 Bold Italics"/>
                <a:ea typeface="Heading Now 31-38 Bold Italics"/>
                <a:cs typeface="Heading Now 31-38 Bold Italics"/>
                <a:sym typeface="Heading Now 31-38 Bold Italics"/>
              </a:rPr>
              <a:t>AI 395T - AI IN HEALTHCARE</a:t>
            </a:r>
          </a:p>
          <a:p>
            <a:pPr algn="l">
              <a:lnSpc>
                <a:spcPts val="6117"/>
              </a:lnSpc>
            </a:pPr>
            <a:r>
              <a:rPr lang="en-US" sz="4369" b="1" i="1">
                <a:solidFill>
                  <a:srgbClr val="07584B"/>
                </a:solidFill>
                <a:latin typeface="Heading Now 31-38 Bold Italics"/>
                <a:ea typeface="Heading Now 31-38 Bold Italics"/>
                <a:cs typeface="Heading Now 31-38 Bold Italics"/>
                <a:sym typeface="Heading Now 31-38 Bold Italics"/>
              </a:rPr>
              <a:t>UNIVERSITY OF TEXAS AT AUSTIN</a:t>
            </a:r>
          </a:p>
          <a:p>
            <a:pPr algn="l">
              <a:lnSpc>
                <a:spcPts val="6117"/>
              </a:lnSpc>
            </a:pPr>
            <a:endParaRPr lang="en-US" sz="4369" b="1" i="1">
              <a:solidFill>
                <a:srgbClr val="07584B"/>
              </a:solidFill>
              <a:latin typeface="Heading Now 31-38 Bold Italics"/>
              <a:ea typeface="Heading Now 31-38 Bold Italics"/>
              <a:cs typeface="Heading Now 31-38 Bold Italics"/>
              <a:sym typeface="Heading Now 31-38 Bold Itali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sp>
        <p:nvSpPr>
          <p:cNvPr id="2" name="AutoShape 2"/>
          <p:cNvSpPr/>
          <p:nvPr/>
        </p:nvSpPr>
        <p:spPr>
          <a:xfrm flipH="1" flipV="1">
            <a:off x="2206778" y="0"/>
            <a:ext cx="0" cy="6926127"/>
          </a:xfrm>
          <a:prstGeom prst="line">
            <a:avLst/>
          </a:prstGeom>
          <a:ln w="76200" cap="flat">
            <a:solidFill>
              <a:srgbClr val="07584B"/>
            </a:solidFill>
            <a:prstDash val="solid"/>
            <a:headEnd type="oval" w="lg" len="lg"/>
            <a:tailEnd type="none" w="sm" len="sm"/>
          </a:ln>
        </p:spPr>
        <p:txBody>
          <a:bodyPr/>
          <a:lstStyle/>
          <a:p>
            <a:endParaRPr lang="en-US"/>
          </a:p>
        </p:txBody>
      </p:sp>
      <p:sp>
        <p:nvSpPr>
          <p:cNvPr id="3" name="Freeform 3"/>
          <p:cNvSpPr/>
          <p:nvPr/>
        </p:nvSpPr>
        <p:spPr>
          <a:xfrm>
            <a:off x="14331027" y="5998077"/>
            <a:ext cx="2928273" cy="3260223"/>
          </a:xfrm>
          <a:custGeom>
            <a:avLst/>
            <a:gdLst/>
            <a:ahLst/>
            <a:cxnLst/>
            <a:rect l="l" t="t" r="r" b="b"/>
            <a:pathLst>
              <a:path w="2928273" h="3260223">
                <a:moveTo>
                  <a:pt x="0" y="0"/>
                </a:moveTo>
                <a:lnTo>
                  <a:pt x="2928273" y="0"/>
                </a:lnTo>
                <a:lnTo>
                  <a:pt x="2928273" y="3260223"/>
                </a:lnTo>
                <a:lnTo>
                  <a:pt x="0" y="32602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3040195" y="830513"/>
            <a:ext cx="4857847" cy="1521368"/>
          </a:xfrm>
          <a:prstGeom prst="rect">
            <a:avLst/>
          </a:prstGeom>
        </p:spPr>
        <p:txBody>
          <a:bodyPr lIns="0" tIns="0" rIns="0" bIns="0" rtlCol="0" anchor="t">
            <a:spAutoFit/>
          </a:bodyPr>
          <a:lstStyle/>
          <a:p>
            <a:pPr algn="l">
              <a:lnSpc>
                <a:spcPts val="9314"/>
              </a:lnSpc>
            </a:pPr>
            <a:r>
              <a:rPr lang="en-US" sz="10236">
                <a:solidFill>
                  <a:srgbClr val="000000"/>
                </a:solidFill>
                <a:latin typeface="Heading Now 31-38"/>
                <a:ea typeface="Heading Now 31-38"/>
                <a:cs typeface="Heading Now 31-38"/>
                <a:sym typeface="Heading Now 31-38"/>
              </a:rPr>
              <a:t>THE PROBLEM?</a:t>
            </a:r>
          </a:p>
        </p:txBody>
      </p:sp>
      <p:sp>
        <p:nvSpPr>
          <p:cNvPr id="5" name="TextBox 5"/>
          <p:cNvSpPr txBox="1"/>
          <p:nvPr/>
        </p:nvSpPr>
        <p:spPr>
          <a:xfrm>
            <a:off x="2522439" y="2765559"/>
            <a:ext cx="8514765" cy="4500511"/>
          </a:xfrm>
          <a:prstGeom prst="rect">
            <a:avLst/>
          </a:prstGeom>
        </p:spPr>
        <p:txBody>
          <a:bodyPr lIns="0" tIns="0" rIns="0" bIns="0" rtlCol="0" anchor="t">
            <a:spAutoFit/>
          </a:bodyPr>
          <a:lstStyle/>
          <a:p>
            <a:pPr marL="550787" lvl="1" indent="-275394" algn="l">
              <a:lnSpc>
                <a:spcPts val="3571"/>
              </a:lnSpc>
              <a:buFont typeface="Arial"/>
              <a:buChar char="•"/>
            </a:pPr>
            <a:r>
              <a:rPr lang="en-US" sz="2551" b="1">
                <a:solidFill>
                  <a:srgbClr val="000000"/>
                </a:solidFill>
                <a:latin typeface="Ruda Bold"/>
                <a:ea typeface="Ruda Bold"/>
                <a:cs typeface="Ruda Bold"/>
                <a:sym typeface="Ruda Bold"/>
              </a:rPr>
              <a:t>In-hospital mortality is a critical outcome in healthcare. Predicting which patients are at high risk of mortality upon admission or during their stay can allow healthcare providers to intervene earlier, allocate resources more effectively, and potentially improve patient outcomes. A predictive model could be used for risk stratification, guiding clinical decision-making, and identifying patients who may benefit from more intensive monitoring or specific interventions.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sp>
        <p:nvSpPr>
          <p:cNvPr id="2" name="AutoShape 2"/>
          <p:cNvSpPr/>
          <p:nvPr/>
        </p:nvSpPr>
        <p:spPr>
          <a:xfrm flipV="1">
            <a:off x="16347392" y="0"/>
            <a:ext cx="0" cy="3355801"/>
          </a:xfrm>
          <a:prstGeom prst="line">
            <a:avLst/>
          </a:prstGeom>
          <a:ln w="76200" cap="flat">
            <a:solidFill>
              <a:srgbClr val="07584B"/>
            </a:solidFill>
            <a:prstDash val="solid"/>
            <a:headEnd type="oval" w="lg" len="lg"/>
            <a:tailEnd type="none" w="sm" len="sm"/>
          </a:ln>
        </p:spPr>
        <p:txBody>
          <a:bodyPr/>
          <a:lstStyle/>
          <a:p>
            <a:endParaRPr lang="en-US"/>
          </a:p>
        </p:txBody>
      </p:sp>
      <p:sp>
        <p:nvSpPr>
          <p:cNvPr id="3" name="Freeform 3"/>
          <p:cNvSpPr/>
          <p:nvPr/>
        </p:nvSpPr>
        <p:spPr>
          <a:xfrm>
            <a:off x="1145610" y="1426146"/>
            <a:ext cx="4267704" cy="4277294"/>
          </a:xfrm>
          <a:custGeom>
            <a:avLst/>
            <a:gdLst/>
            <a:ahLst/>
            <a:cxnLst/>
            <a:rect l="l" t="t" r="r" b="b"/>
            <a:pathLst>
              <a:path w="4267704" h="4277294">
                <a:moveTo>
                  <a:pt x="0" y="0"/>
                </a:moveTo>
                <a:lnTo>
                  <a:pt x="4267704" y="0"/>
                </a:lnTo>
                <a:lnTo>
                  <a:pt x="4267704" y="4277294"/>
                </a:lnTo>
                <a:lnTo>
                  <a:pt x="0" y="4277294"/>
                </a:lnTo>
                <a:lnTo>
                  <a:pt x="0" y="0"/>
                </a:lnTo>
                <a:close/>
              </a:path>
            </a:pathLst>
          </a:custGeom>
          <a:blipFill>
            <a:blip r:embed="rId3"/>
            <a:stretch>
              <a:fillRect/>
            </a:stretch>
          </a:blipFill>
        </p:spPr>
        <p:txBody>
          <a:bodyPr/>
          <a:lstStyle/>
          <a:p>
            <a:endParaRPr lang="en-US"/>
          </a:p>
        </p:txBody>
      </p:sp>
      <p:sp>
        <p:nvSpPr>
          <p:cNvPr id="4" name="Freeform 4"/>
          <p:cNvSpPr/>
          <p:nvPr/>
        </p:nvSpPr>
        <p:spPr>
          <a:xfrm>
            <a:off x="1145610" y="6127947"/>
            <a:ext cx="4552532" cy="2243413"/>
          </a:xfrm>
          <a:custGeom>
            <a:avLst/>
            <a:gdLst/>
            <a:ahLst/>
            <a:cxnLst/>
            <a:rect l="l" t="t" r="r" b="b"/>
            <a:pathLst>
              <a:path w="4552532" h="2243413">
                <a:moveTo>
                  <a:pt x="0" y="0"/>
                </a:moveTo>
                <a:lnTo>
                  <a:pt x="4552531" y="0"/>
                </a:lnTo>
                <a:lnTo>
                  <a:pt x="4552531" y="2243413"/>
                </a:lnTo>
                <a:lnTo>
                  <a:pt x="0" y="2243413"/>
                </a:lnTo>
                <a:lnTo>
                  <a:pt x="0" y="0"/>
                </a:lnTo>
                <a:close/>
              </a:path>
            </a:pathLst>
          </a:custGeom>
          <a:blipFill>
            <a:blip r:embed="rId4"/>
            <a:stretch>
              <a:fillRect/>
            </a:stretch>
          </a:blipFill>
        </p:spPr>
        <p:txBody>
          <a:bodyPr/>
          <a:lstStyle/>
          <a:p>
            <a:endParaRPr lang="en-US"/>
          </a:p>
        </p:txBody>
      </p:sp>
      <p:sp>
        <p:nvSpPr>
          <p:cNvPr id="5" name="Freeform 5"/>
          <p:cNvSpPr/>
          <p:nvPr/>
        </p:nvSpPr>
        <p:spPr>
          <a:xfrm>
            <a:off x="6165925" y="2576967"/>
            <a:ext cx="5956150" cy="2583504"/>
          </a:xfrm>
          <a:custGeom>
            <a:avLst/>
            <a:gdLst/>
            <a:ahLst/>
            <a:cxnLst/>
            <a:rect l="l" t="t" r="r" b="b"/>
            <a:pathLst>
              <a:path w="5956150" h="2583504">
                <a:moveTo>
                  <a:pt x="0" y="0"/>
                </a:moveTo>
                <a:lnTo>
                  <a:pt x="5956150" y="0"/>
                </a:lnTo>
                <a:lnTo>
                  <a:pt x="5956150" y="2583503"/>
                </a:lnTo>
                <a:lnTo>
                  <a:pt x="0" y="2583503"/>
                </a:lnTo>
                <a:lnTo>
                  <a:pt x="0" y="0"/>
                </a:lnTo>
                <a:close/>
              </a:path>
            </a:pathLst>
          </a:custGeom>
          <a:blipFill>
            <a:blip r:embed="rId5"/>
            <a:stretch>
              <a:fillRect/>
            </a:stretch>
          </a:blipFill>
        </p:spPr>
        <p:txBody>
          <a:bodyPr/>
          <a:lstStyle/>
          <a:p>
            <a:endParaRPr lang="en-US"/>
          </a:p>
        </p:txBody>
      </p:sp>
      <p:sp>
        <p:nvSpPr>
          <p:cNvPr id="6" name="Freeform 6"/>
          <p:cNvSpPr/>
          <p:nvPr/>
        </p:nvSpPr>
        <p:spPr>
          <a:xfrm>
            <a:off x="6550341" y="5847037"/>
            <a:ext cx="5186259" cy="2805233"/>
          </a:xfrm>
          <a:custGeom>
            <a:avLst/>
            <a:gdLst/>
            <a:ahLst/>
            <a:cxnLst/>
            <a:rect l="l" t="t" r="r" b="b"/>
            <a:pathLst>
              <a:path w="5186259" h="2805233">
                <a:moveTo>
                  <a:pt x="0" y="0"/>
                </a:moveTo>
                <a:lnTo>
                  <a:pt x="5186259" y="0"/>
                </a:lnTo>
                <a:lnTo>
                  <a:pt x="5186259" y="2805233"/>
                </a:lnTo>
                <a:lnTo>
                  <a:pt x="0" y="2805233"/>
                </a:lnTo>
                <a:lnTo>
                  <a:pt x="0" y="0"/>
                </a:lnTo>
                <a:close/>
              </a:path>
            </a:pathLst>
          </a:custGeom>
          <a:blipFill>
            <a:blip r:embed="rId6"/>
            <a:stretch>
              <a:fillRect/>
            </a:stretch>
          </a:blipFill>
        </p:spPr>
        <p:txBody>
          <a:bodyPr/>
          <a:lstStyle/>
          <a:p>
            <a:endParaRPr lang="en-US"/>
          </a:p>
        </p:txBody>
      </p:sp>
      <p:sp>
        <p:nvSpPr>
          <p:cNvPr id="7" name="Freeform 7"/>
          <p:cNvSpPr/>
          <p:nvPr/>
        </p:nvSpPr>
        <p:spPr>
          <a:xfrm>
            <a:off x="12588800" y="4589497"/>
            <a:ext cx="4261254" cy="3781862"/>
          </a:xfrm>
          <a:custGeom>
            <a:avLst/>
            <a:gdLst/>
            <a:ahLst/>
            <a:cxnLst/>
            <a:rect l="l" t="t" r="r" b="b"/>
            <a:pathLst>
              <a:path w="4261254" h="3781862">
                <a:moveTo>
                  <a:pt x="0" y="0"/>
                </a:moveTo>
                <a:lnTo>
                  <a:pt x="4261254" y="0"/>
                </a:lnTo>
                <a:lnTo>
                  <a:pt x="4261254" y="3781863"/>
                </a:lnTo>
                <a:lnTo>
                  <a:pt x="0" y="3781863"/>
                </a:lnTo>
                <a:lnTo>
                  <a:pt x="0" y="0"/>
                </a:lnTo>
                <a:close/>
              </a:path>
            </a:pathLst>
          </a:custGeom>
          <a:blipFill>
            <a:blip r:embed="rId7"/>
            <a:stretch>
              <a:fillRect/>
            </a:stretch>
          </a:blipFill>
        </p:spPr>
        <p:txBody>
          <a:bodyPr/>
          <a:lstStyle/>
          <a:p>
            <a:endParaRPr lang="en-US"/>
          </a:p>
        </p:txBody>
      </p:sp>
      <p:sp>
        <p:nvSpPr>
          <p:cNvPr id="8" name="TextBox 8"/>
          <p:cNvSpPr txBox="1"/>
          <p:nvPr/>
        </p:nvSpPr>
        <p:spPr>
          <a:xfrm>
            <a:off x="6883034" y="1047750"/>
            <a:ext cx="8157399" cy="1529217"/>
          </a:xfrm>
          <a:prstGeom prst="rect">
            <a:avLst/>
          </a:prstGeom>
        </p:spPr>
        <p:txBody>
          <a:bodyPr lIns="0" tIns="0" rIns="0" bIns="0" rtlCol="0" anchor="t">
            <a:spAutoFit/>
          </a:bodyPr>
          <a:lstStyle/>
          <a:p>
            <a:pPr algn="ctr">
              <a:lnSpc>
                <a:spcPts val="5306"/>
              </a:lnSpc>
            </a:pPr>
            <a:r>
              <a:rPr lang="en-US" sz="5831" b="1">
                <a:solidFill>
                  <a:srgbClr val="000000"/>
                </a:solidFill>
                <a:latin typeface="Heading Now 31-38 Bold"/>
                <a:ea typeface="Heading Now 31-38 Bold"/>
                <a:cs typeface="Heading Now 31-38 Bold"/>
                <a:sym typeface="Heading Now 31-38 Bold"/>
              </a:rPr>
              <a:t>DATA EXPLORATION</a:t>
            </a:r>
          </a:p>
          <a:p>
            <a:pPr algn="ctr">
              <a:lnSpc>
                <a:spcPts val="5306"/>
              </a:lnSpc>
            </a:pPr>
            <a:endParaRPr lang="en-US" sz="5831" b="1">
              <a:solidFill>
                <a:srgbClr val="000000"/>
              </a:solidFill>
              <a:latin typeface="Heading Now 31-38 Bold"/>
              <a:ea typeface="Heading Now 31-38 Bold"/>
              <a:cs typeface="Heading Now 31-38 Bold"/>
              <a:sym typeface="Heading Now 31-38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sp>
        <p:nvSpPr>
          <p:cNvPr id="2" name="AutoShape 2"/>
          <p:cNvSpPr/>
          <p:nvPr/>
        </p:nvSpPr>
        <p:spPr>
          <a:xfrm flipV="1">
            <a:off x="16347392" y="0"/>
            <a:ext cx="0" cy="3355801"/>
          </a:xfrm>
          <a:prstGeom prst="line">
            <a:avLst/>
          </a:prstGeom>
          <a:ln w="76200" cap="flat">
            <a:solidFill>
              <a:srgbClr val="07584B"/>
            </a:solidFill>
            <a:prstDash val="solid"/>
            <a:headEnd type="oval" w="lg" len="lg"/>
            <a:tailEnd type="none" w="sm" len="sm"/>
          </a:ln>
        </p:spPr>
        <p:txBody>
          <a:bodyPr/>
          <a:lstStyle/>
          <a:p>
            <a:endParaRPr lang="en-US"/>
          </a:p>
        </p:txBody>
      </p:sp>
      <p:sp>
        <p:nvSpPr>
          <p:cNvPr id="3" name="Freeform 3"/>
          <p:cNvSpPr/>
          <p:nvPr/>
        </p:nvSpPr>
        <p:spPr>
          <a:xfrm>
            <a:off x="1028700" y="3669031"/>
            <a:ext cx="2406491" cy="5589269"/>
          </a:xfrm>
          <a:custGeom>
            <a:avLst/>
            <a:gdLst/>
            <a:ahLst/>
            <a:cxnLst/>
            <a:rect l="l" t="t" r="r" b="b"/>
            <a:pathLst>
              <a:path w="2406491" h="5589269">
                <a:moveTo>
                  <a:pt x="0" y="0"/>
                </a:moveTo>
                <a:lnTo>
                  <a:pt x="2406491" y="0"/>
                </a:lnTo>
                <a:lnTo>
                  <a:pt x="2406491" y="5589269"/>
                </a:lnTo>
                <a:lnTo>
                  <a:pt x="0" y="5589269"/>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rot="-10800000">
            <a:off x="3652419" y="6096100"/>
            <a:ext cx="3086100" cy="1780916"/>
            <a:chOff x="0" y="0"/>
            <a:chExt cx="647700" cy="373773"/>
          </a:xfrm>
        </p:grpSpPr>
        <p:sp>
          <p:nvSpPr>
            <p:cNvPr id="5" name="Freeform 5"/>
            <p:cNvSpPr/>
            <p:nvPr/>
          </p:nvSpPr>
          <p:spPr>
            <a:xfrm>
              <a:off x="0" y="0"/>
              <a:ext cx="647700" cy="373773"/>
            </a:xfrm>
            <a:custGeom>
              <a:avLst/>
              <a:gdLst/>
              <a:ahLst/>
              <a:cxnLst/>
              <a:rect l="l" t="t" r="r" b="b"/>
              <a:pathLst>
                <a:path w="647700" h="373773">
                  <a:moveTo>
                    <a:pt x="239386" y="165383"/>
                  </a:moveTo>
                  <a:lnTo>
                    <a:pt x="647700" y="165383"/>
                  </a:lnTo>
                  <a:lnTo>
                    <a:pt x="647700" y="208381"/>
                  </a:lnTo>
                  <a:lnTo>
                    <a:pt x="239373" y="208381"/>
                  </a:lnTo>
                  <a:lnTo>
                    <a:pt x="302255" y="373773"/>
                  </a:lnTo>
                  <a:lnTo>
                    <a:pt x="0" y="186886"/>
                  </a:lnTo>
                  <a:lnTo>
                    <a:pt x="302255" y="0"/>
                  </a:lnTo>
                  <a:lnTo>
                    <a:pt x="239386" y="165383"/>
                  </a:lnTo>
                  <a:close/>
                </a:path>
              </a:pathLst>
            </a:custGeom>
            <a:solidFill>
              <a:srgbClr val="07584B"/>
            </a:solidFill>
          </p:spPr>
          <p:txBody>
            <a:bodyPr/>
            <a:lstStyle/>
            <a:p>
              <a:endParaRPr lang="en-US"/>
            </a:p>
          </p:txBody>
        </p:sp>
        <p:sp>
          <p:nvSpPr>
            <p:cNvPr id="6" name="TextBox 6"/>
            <p:cNvSpPr txBox="1"/>
            <p:nvPr/>
          </p:nvSpPr>
          <p:spPr>
            <a:xfrm>
              <a:off x="120650" y="127000"/>
              <a:ext cx="527050" cy="81673"/>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7104514" y="3798633"/>
            <a:ext cx="3075657" cy="5330065"/>
          </a:xfrm>
          <a:custGeom>
            <a:avLst/>
            <a:gdLst/>
            <a:ahLst/>
            <a:cxnLst/>
            <a:rect l="l" t="t" r="r" b="b"/>
            <a:pathLst>
              <a:path w="3075657" h="5330065">
                <a:moveTo>
                  <a:pt x="0" y="0"/>
                </a:moveTo>
                <a:lnTo>
                  <a:pt x="3075657" y="0"/>
                </a:lnTo>
                <a:lnTo>
                  <a:pt x="3075657" y="5330065"/>
                </a:lnTo>
                <a:lnTo>
                  <a:pt x="0" y="5330065"/>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6883034" y="1047750"/>
            <a:ext cx="8157399" cy="1529217"/>
          </a:xfrm>
          <a:prstGeom prst="rect">
            <a:avLst/>
          </a:prstGeom>
        </p:spPr>
        <p:txBody>
          <a:bodyPr lIns="0" tIns="0" rIns="0" bIns="0" rtlCol="0" anchor="t">
            <a:spAutoFit/>
          </a:bodyPr>
          <a:lstStyle/>
          <a:p>
            <a:pPr algn="ctr">
              <a:lnSpc>
                <a:spcPts val="5306"/>
              </a:lnSpc>
            </a:pPr>
            <a:r>
              <a:rPr lang="en-US" sz="5831" b="1">
                <a:solidFill>
                  <a:srgbClr val="000000"/>
                </a:solidFill>
                <a:latin typeface="Heading Now 31-38 Bold"/>
                <a:ea typeface="Heading Now 31-38 Bold"/>
                <a:cs typeface="Heading Now 31-38 Bold"/>
                <a:sym typeface="Heading Now 31-38 Bold"/>
              </a:rPr>
              <a:t>PREPROCESSING THE DATA</a:t>
            </a:r>
          </a:p>
          <a:p>
            <a:pPr algn="ctr">
              <a:lnSpc>
                <a:spcPts val="5306"/>
              </a:lnSpc>
            </a:pPr>
            <a:endParaRPr lang="en-US" sz="5831" b="1">
              <a:solidFill>
                <a:srgbClr val="000000"/>
              </a:solidFill>
              <a:latin typeface="Heading Now 31-38 Bold"/>
              <a:ea typeface="Heading Now 31-38 Bold"/>
              <a:cs typeface="Heading Now 31-38 Bold"/>
              <a:sym typeface="Heading Now 31-38 Bold"/>
            </a:endParaRPr>
          </a:p>
        </p:txBody>
      </p:sp>
      <p:sp>
        <p:nvSpPr>
          <p:cNvPr id="9" name="TextBox 9"/>
          <p:cNvSpPr txBox="1"/>
          <p:nvPr/>
        </p:nvSpPr>
        <p:spPr>
          <a:xfrm>
            <a:off x="8077818" y="1930217"/>
            <a:ext cx="5767832" cy="1738814"/>
          </a:xfrm>
          <a:prstGeom prst="rect">
            <a:avLst/>
          </a:prstGeom>
        </p:spPr>
        <p:txBody>
          <a:bodyPr lIns="0" tIns="0" rIns="0" bIns="0" rtlCol="0" anchor="t">
            <a:spAutoFit/>
          </a:bodyPr>
          <a:lstStyle/>
          <a:p>
            <a:pPr marL="524126" lvl="1" indent="-262063" algn="ctr">
              <a:lnSpc>
                <a:spcPts val="3398"/>
              </a:lnSpc>
              <a:buFont typeface="Arial"/>
              <a:buChar char="•"/>
            </a:pPr>
            <a:r>
              <a:rPr lang="en-US" sz="2427">
                <a:solidFill>
                  <a:srgbClr val="000000"/>
                </a:solidFill>
                <a:latin typeface="Heading Now 31-38"/>
                <a:ea typeface="Heading Now 31-38"/>
                <a:cs typeface="Heading Now 31-38"/>
                <a:sym typeface="Heading Now 31-38"/>
              </a:rPr>
              <a:t>AFTER INITIAL EXPLORATION IT WAS CLEAR THAT SOME OF THE DATA WAS MISSING (NULL VAULES) FOR THE ICD9_CODES, DIAGONOSIS, AND SEQUENCE NUMBERS. THUS TO HANDLE THIS EITHER DROPPING THE COLUMN OR FILL IT WITH A DEFAULT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sp>
        <p:nvSpPr>
          <p:cNvPr id="2" name="AutoShape 2"/>
          <p:cNvSpPr/>
          <p:nvPr/>
        </p:nvSpPr>
        <p:spPr>
          <a:xfrm flipH="1" flipV="1">
            <a:off x="1989344" y="-1137964"/>
            <a:ext cx="0" cy="6926127"/>
          </a:xfrm>
          <a:prstGeom prst="line">
            <a:avLst/>
          </a:prstGeom>
          <a:ln w="76200" cap="flat">
            <a:solidFill>
              <a:srgbClr val="07584B"/>
            </a:solidFill>
            <a:prstDash val="solid"/>
            <a:headEnd type="triangle" w="lg" len="med"/>
            <a:tailEnd type="none" w="sm" len="sm"/>
          </a:ln>
        </p:spPr>
        <p:txBody>
          <a:bodyPr/>
          <a:lstStyle/>
          <a:p>
            <a:endParaRPr lang="en-US"/>
          </a:p>
        </p:txBody>
      </p:sp>
      <p:sp>
        <p:nvSpPr>
          <p:cNvPr id="3" name="Freeform 3"/>
          <p:cNvSpPr/>
          <p:nvPr/>
        </p:nvSpPr>
        <p:spPr>
          <a:xfrm>
            <a:off x="11015956" y="2695861"/>
            <a:ext cx="4354835" cy="5736769"/>
          </a:xfrm>
          <a:custGeom>
            <a:avLst/>
            <a:gdLst/>
            <a:ahLst/>
            <a:cxnLst/>
            <a:rect l="l" t="t" r="r" b="b"/>
            <a:pathLst>
              <a:path w="4354835" h="5736769">
                <a:moveTo>
                  <a:pt x="0" y="0"/>
                </a:moveTo>
                <a:lnTo>
                  <a:pt x="4354835" y="0"/>
                </a:lnTo>
                <a:lnTo>
                  <a:pt x="4354835" y="5736769"/>
                </a:lnTo>
                <a:lnTo>
                  <a:pt x="0" y="5736769"/>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4126550" y="1047750"/>
            <a:ext cx="10034900" cy="1277350"/>
          </a:xfrm>
          <a:prstGeom prst="rect">
            <a:avLst/>
          </a:prstGeom>
        </p:spPr>
        <p:txBody>
          <a:bodyPr lIns="0" tIns="0" rIns="0" bIns="0" rtlCol="0" anchor="t">
            <a:spAutoFit/>
          </a:bodyPr>
          <a:lstStyle/>
          <a:p>
            <a:pPr algn="ctr">
              <a:lnSpc>
                <a:spcPts val="7791"/>
              </a:lnSpc>
            </a:pPr>
            <a:r>
              <a:rPr lang="en-US" sz="8561">
                <a:solidFill>
                  <a:srgbClr val="07584B"/>
                </a:solidFill>
                <a:latin typeface="Heading Now 31-38"/>
                <a:ea typeface="Heading Now 31-38"/>
                <a:cs typeface="Heading Now 31-38"/>
                <a:sym typeface="Heading Now 31-38"/>
              </a:rPr>
              <a:t>FEATURE ENGINEERING</a:t>
            </a:r>
          </a:p>
        </p:txBody>
      </p:sp>
      <p:sp>
        <p:nvSpPr>
          <p:cNvPr id="5" name="TextBox 5"/>
          <p:cNvSpPr txBox="1"/>
          <p:nvPr/>
        </p:nvSpPr>
        <p:spPr>
          <a:xfrm>
            <a:off x="2577830" y="3008710"/>
            <a:ext cx="7783909" cy="2373443"/>
          </a:xfrm>
          <a:prstGeom prst="rect">
            <a:avLst/>
          </a:prstGeom>
        </p:spPr>
        <p:txBody>
          <a:bodyPr lIns="0" tIns="0" rIns="0" bIns="0" rtlCol="0" anchor="t">
            <a:spAutoFit/>
          </a:bodyPr>
          <a:lstStyle/>
          <a:p>
            <a:pPr marL="707327" lvl="1" indent="-353664" algn="just">
              <a:lnSpc>
                <a:spcPts val="4586"/>
              </a:lnSpc>
              <a:buFont typeface="Arial"/>
              <a:buChar char="•"/>
            </a:pPr>
            <a:r>
              <a:rPr lang="en-US" sz="3276">
                <a:solidFill>
                  <a:srgbClr val="000000"/>
                </a:solidFill>
                <a:latin typeface="Heading Now 31-38"/>
                <a:ea typeface="Heading Now 31-38"/>
                <a:cs typeface="Heading Now 31-38"/>
                <a:sym typeface="Heading Now 31-38"/>
              </a:rPr>
              <a:t>CREATED NEW FEATURES FROM THE RAW DATA THAT CAN IMPROVE THE PERFORMANCE OF THE MODEL(S). THIS  INVOLVED TIME-SERIES ANALYSIS, AGGREGATING DATA, AND CREATING CATEGORICAL VARIABLES.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sp>
        <p:nvSpPr>
          <p:cNvPr id="2" name="TextBox 2"/>
          <p:cNvSpPr txBox="1"/>
          <p:nvPr/>
        </p:nvSpPr>
        <p:spPr>
          <a:xfrm>
            <a:off x="5717138" y="6663839"/>
            <a:ext cx="6529150" cy="1277350"/>
          </a:xfrm>
          <a:prstGeom prst="rect">
            <a:avLst/>
          </a:prstGeom>
        </p:spPr>
        <p:txBody>
          <a:bodyPr lIns="0" tIns="0" rIns="0" bIns="0" rtlCol="0" anchor="t">
            <a:spAutoFit/>
          </a:bodyPr>
          <a:lstStyle/>
          <a:p>
            <a:pPr algn="ctr">
              <a:lnSpc>
                <a:spcPts val="7791"/>
              </a:lnSpc>
            </a:pPr>
            <a:r>
              <a:rPr lang="en-US" sz="8561" b="1">
                <a:solidFill>
                  <a:srgbClr val="000000"/>
                </a:solidFill>
                <a:latin typeface="Heading Now 31-38 Bold"/>
                <a:ea typeface="Heading Now 31-38 Bold"/>
                <a:cs typeface="Heading Now 31-38 Bold"/>
                <a:sym typeface="Heading Now 31-38 Bold"/>
              </a:rPr>
              <a:t>Model(s) Selection</a:t>
            </a:r>
          </a:p>
        </p:txBody>
      </p:sp>
      <p:sp>
        <p:nvSpPr>
          <p:cNvPr id="3" name="TextBox 3"/>
          <p:cNvSpPr txBox="1"/>
          <p:nvPr/>
        </p:nvSpPr>
        <p:spPr>
          <a:xfrm>
            <a:off x="1571640" y="1728338"/>
            <a:ext cx="14820146" cy="4158607"/>
          </a:xfrm>
          <a:prstGeom prst="rect">
            <a:avLst/>
          </a:prstGeom>
        </p:spPr>
        <p:txBody>
          <a:bodyPr lIns="0" tIns="0" rIns="0" bIns="0" rtlCol="0" anchor="t">
            <a:spAutoFit/>
          </a:bodyPr>
          <a:lstStyle/>
          <a:p>
            <a:pPr algn="l">
              <a:lnSpc>
                <a:spcPts val="1785"/>
              </a:lnSpc>
            </a:pPr>
            <a:r>
              <a:rPr lang="en-US" sz="1275">
                <a:solidFill>
                  <a:srgbClr val="000000"/>
                </a:solidFill>
                <a:latin typeface="Canva Sans"/>
                <a:ea typeface="Canva Sans"/>
                <a:cs typeface="Canva Sans"/>
                <a:sym typeface="Canva Sans"/>
              </a:rPr>
              <a:t>Based on the defined problem of predicting in-hospital mortality, which is a binary classification task, and the nature of our data (a mix of numerical and categorical features, including engineered features and potentially a large number of diagnosis-related features), Iconsidered the following machine learning models:</a:t>
            </a:r>
          </a:p>
          <a:p>
            <a:pPr algn="l">
              <a:lnSpc>
                <a:spcPts val="1785"/>
              </a:lnSpc>
            </a:pPr>
            <a:endParaRPr lang="en-US" sz="1275">
              <a:solidFill>
                <a:srgbClr val="000000"/>
              </a:solidFill>
              <a:latin typeface="Canva Sans"/>
              <a:ea typeface="Canva Sans"/>
              <a:cs typeface="Canva Sans"/>
              <a:sym typeface="Canva Sans"/>
            </a:endParaRPr>
          </a:p>
          <a:p>
            <a:pPr marL="275339" lvl="1" indent="-137669" algn="l">
              <a:lnSpc>
                <a:spcPts val="1785"/>
              </a:lnSpc>
              <a:buAutoNum type="arabicPeriod"/>
            </a:pPr>
            <a:r>
              <a:rPr lang="en-US" sz="1275" b="1">
                <a:solidFill>
                  <a:srgbClr val="000000"/>
                </a:solidFill>
                <a:latin typeface="Canva Sans Bold"/>
                <a:ea typeface="Canva Sans Bold"/>
                <a:cs typeface="Canva Sans Bold"/>
                <a:sym typeface="Canva Sans Bold"/>
              </a:rPr>
              <a:t>Logistic Regression:</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Rationale</a:t>
            </a:r>
            <a:r>
              <a:rPr lang="en-US" sz="1275">
                <a:solidFill>
                  <a:srgbClr val="000000"/>
                </a:solidFill>
                <a:latin typeface="Canva Sans"/>
                <a:ea typeface="Canva Sans"/>
                <a:cs typeface="Canva Sans"/>
                <a:sym typeface="Canva Sans"/>
              </a:rPr>
              <a:t>: Logistic Regression is a simple yet powerful linear model for binary classification. It provides interpretable results (coefficients can be interpreted as the change in the log-odds of the outcome for a one-unit change in the predictor). It is computationally efficient and can serve as a good baseline model.</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Strengths</a:t>
            </a:r>
            <a:r>
              <a:rPr lang="en-US" sz="1275">
                <a:solidFill>
                  <a:srgbClr val="000000"/>
                </a:solidFill>
                <a:latin typeface="Canva Sans"/>
                <a:ea typeface="Canva Sans"/>
                <a:cs typeface="Canva Sans"/>
                <a:sym typeface="Canva Sans"/>
              </a:rPr>
              <a:t>: Interpretability, speed, good performance on linearly separable data.</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Weaknesses</a:t>
            </a:r>
            <a:r>
              <a:rPr lang="en-US" sz="1275">
                <a:solidFill>
                  <a:srgbClr val="000000"/>
                </a:solidFill>
                <a:latin typeface="Canva Sans"/>
                <a:ea typeface="Canva Sans"/>
                <a:cs typeface="Canva Sans"/>
                <a:sym typeface="Canva Sans"/>
              </a:rPr>
              <a:t>: Assumes a linear relationship between features and the log-odds of the outcome, may not capture complex non-linear relationships.</a:t>
            </a:r>
          </a:p>
          <a:p>
            <a:pPr marL="275339" lvl="1" indent="-137669" algn="l">
              <a:lnSpc>
                <a:spcPts val="1785"/>
              </a:lnSpc>
              <a:buAutoNum type="arabicPeriod"/>
            </a:pPr>
            <a:r>
              <a:rPr lang="en-US" sz="1275" b="1">
                <a:solidFill>
                  <a:srgbClr val="000000"/>
                </a:solidFill>
                <a:latin typeface="Canva Sans Bold"/>
                <a:ea typeface="Canva Sans Bold"/>
                <a:cs typeface="Canva Sans Bold"/>
                <a:sym typeface="Canva Sans Bold"/>
              </a:rPr>
              <a:t>Gradient Boosting (e.g., LightGBM or XGBoost):</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Rationale</a:t>
            </a:r>
            <a:r>
              <a:rPr lang="en-US" sz="1275" b="1">
                <a:solidFill>
                  <a:srgbClr val="000000"/>
                </a:solidFill>
                <a:latin typeface="Canva Sans Bold"/>
                <a:ea typeface="Canva Sans Bold"/>
                <a:cs typeface="Canva Sans Bold"/>
                <a:sym typeface="Canva Sans Bold"/>
              </a:rPr>
              <a:t>: </a:t>
            </a:r>
            <a:r>
              <a:rPr lang="en-US" sz="1275">
                <a:solidFill>
                  <a:srgbClr val="000000"/>
                </a:solidFill>
                <a:latin typeface="Canva Sans"/>
                <a:ea typeface="Canva Sans"/>
                <a:cs typeface="Canva Sans"/>
                <a:sym typeface="Canva Sans"/>
              </a:rPr>
              <a:t>Gradient Boosting models are ensemble methods that combine multiple weak learners (typically decision trees) to create a strong predictive model. They are known for their high accuracy and ability to handle complex non-linear relationships and interactions between features. They are often top performers in tabular data competitions.</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Strengths</a:t>
            </a:r>
            <a:r>
              <a:rPr lang="en-US" sz="1275" b="1">
                <a:solidFill>
                  <a:srgbClr val="000000"/>
                </a:solidFill>
                <a:latin typeface="Canva Sans Bold"/>
                <a:ea typeface="Canva Sans Bold"/>
                <a:cs typeface="Canva Sans Bold"/>
                <a:sym typeface="Canva Sans Bold"/>
              </a:rPr>
              <a:t>: </a:t>
            </a:r>
            <a:r>
              <a:rPr lang="en-US" sz="1275">
                <a:solidFill>
                  <a:srgbClr val="000000"/>
                </a:solidFill>
                <a:latin typeface="Canva Sans"/>
                <a:ea typeface="Canva Sans"/>
                <a:cs typeface="Canva Sans"/>
                <a:sym typeface="Canva Sans"/>
              </a:rPr>
              <a:t>High accuracy, handles non-linearities and interactions well, robust to different types of features.</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Weaknesses</a:t>
            </a:r>
            <a:r>
              <a:rPr lang="en-US" sz="1275" b="1">
                <a:solidFill>
                  <a:srgbClr val="000000"/>
                </a:solidFill>
                <a:latin typeface="Canva Sans Bold"/>
                <a:ea typeface="Canva Sans Bold"/>
                <a:cs typeface="Canva Sans Bold"/>
                <a:sym typeface="Canva Sans Bold"/>
              </a:rPr>
              <a:t>: </a:t>
            </a:r>
            <a:r>
              <a:rPr lang="en-US" sz="1275">
                <a:solidFill>
                  <a:srgbClr val="000000"/>
                </a:solidFill>
                <a:latin typeface="Canva Sans"/>
                <a:ea typeface="Canva Sans"/>
                <a:cs typeface="Canva Sans"/>
                <a:sym typeface="Canva Sans"/>
              </a:rPr>
              <a:t>Can be prone to overfitting if not tuned properly, less interpretable than linear models.</a:t>
            </a:r>
          </a:p>
          <a:p>
            <a:pPr marL="275339" lvl="1" indent="-137669" algn="l">
              <a:lnSpc>
                <a:spcPts val="1785"/>
              </a:lnSpc>
              <a:buAutoNum type="arabicPeriod"/>
            </a:pPr>
            <a:r>
              <a:rPr lang="en-US" sz="1275" b="1">
                <a:solidFill>
                  <a:srgbClr val="000000"/>
                </a:solidFill>
                <a:latin typeface="Canva Sans Bold"/>
                <a:ea typeface="Canva Sans Bold"/>
                <a:cs typeface="Canva Sans Bold"/>
                <a:sym typeface="Canva Sans Bold"/>
              </a:rPr>
              <a:t>Random Forest:</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Rationale</a:t>
            </a:r>
            <a:r>
              <a:rPr lang="en-US" sz="1275" b="1">
                <a:solidFill>
                  <a:srgbClr val="000000"/>
                </a:solidFill>
                <a:latin typeface="Canva Sans Bold"/>
                <a:ea typeface="Canva Sans Bold"/>
                <a:cs typeface="Canva Sans Bold"/>
                <a:sym typeface="Canva Sans Bold"/>
              </a:rPr>
              <a:t>: </a:t>
            </a:r>
            <a:r>
              <a:rPr lang="en-US" sz="1275">
                <a:solidFill>
                  <a:srgbClr val="000000"/>
                </a:solidFill>
                <a:latin typeface="Canva Sans"/>
                <a:ea typeface="Canva Sans"/>
                <a:cs typeface="Canva Sans"/>
                <a:sym typeface="Canva Sans"/>
              </a:rPr>
              <a:t>Random Forest is another ensemble method that builds multiple decision trees and aggregates their predictions. It is less sensitive to hyperparameters than Gradient Boosting and provides a measure of feature importance, which can be useful for understanding the model's decisions.</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Strengths</a:t>
            </a:r>
            <a:r>
              <a:rPr lang="en-US" sz="1275" b="1">
                <a:solidFill>
                  <a:srgbClr val="000000"/>
                </a:solidFill>
                <a:latin typeface="Canva Sans Bold"/>
                <a:ea typeface="Canva Sans Bold"/>
                <a:cs typeface="Canva Sans Bold"/>
                <a:sym typeface="Canva Sans Bold"/>
              </a:rPr>
              <a:t>: </a:t>
            </a:r>
            <a:r>
              <a:rPr lang="en-US" sz="1275">
                <a:solidFill>
                  <a:srgbClr val="000000"/>
                </a:solidFill>
                <a:latin typeface="Canva Sans"/>
                <a:ea typeface="Canva Sans"/>
                <a:cs typeface="Canva Sans"/>
                <a:sym typeface="Canva Sans"/>
              </a:rPr>
              <a:t>Good accuracy, less prone to overfitting than single decision trees, provides feature importance, handles various feature types.</a:t>
            </a:r>
          </a:p>
          <a:p>
            <a:pPr marL="550678" lvl="2" indent="-183559" algn="l">
              <a:lnSpc>
                <a:spcPts val="1785"/>
              </a:lnSpc>
              <a:buFont typeface="Arial"/>
              <a:buChar char="⚬"/>
            </a:pPr>
            <a:r>
              <a:rPr lang="en-US" sz="1275" i="1">
                <a:solidFill>
                  <a:srgbClr val="000000"/>
                </a:solidFill>
                <a:latin typeface="Canva Sans Italics"/>
                <a:ea typeface="Canva Sans Italics"/>
                <a:cs typeface="Canva Sans Italics"/>
                <a:sym typeface="Canva Sans Italics"/>
              </a:rPr>
              <a:t>Weaknesses</a:t>
            </a:r>
            <a:r>
              <a:rPr lang="en-US" sz="1275" b="1">
                <a:solidFill>
                  <a:srgbClr val="000000"/>
                </a:solidFill>
                <a:latin typeface="Canva Sans Bold"/>
                <a:ea typeface="Canva Sans Bold"/>
                <a:cs typeface="Canva Sans Bold"/>
                <a:sym typeface="Canva Sans Bold"/>
              </a:rPr>
              <a:t>: </a:t>
            </a:r>
            <a:r>
              <a:rPr lang="en-US" sz="1275">
                <a:solidFill>
                  <a:srgbClr val="000000"/>
                </a:solidFill>
                <a:latin typeface="Canva Sans"/>
                <a:ea typeface="Canva Sans"/>
                <a:cs typeface="Canva Sans"/>
                <a:sym typeface="Canva Sans"/>
              </a:rPr>
              <a:t>Can be computationally more expensive than Logistic Regression, less interpretable than linear models.</a:t>
            </a:r>
          </a:p>
          <a:p>
            <a:pPr algn="l">
              <a:lnSpc>
                <a:spcPts val="1785"/>
              </a:lnSpc>
            </a:pPr>
            <a:endParaRPr lang="en-US" sz="1275">
              <a:solidFill>
                <a:srgbClr val="000000"/>
              </a:solidFill>
              <a:latin typeface="Canva Sans"/>
              <a:ea typeface="Canva Sans"/>
              <a:cs typeface="Canva Sans"/>
              <a:sym typeface="Canv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sp>
        <p:nvSpPr>
          <p:cNvPr id="2" name="AutoShape 2"/>
          <p:cNvSpPr/>
          <p:nvPr/>
        </p:nvSpPr>
        <p:spPr>
          <a:xfrm flipV="1">
            <a:off x="10333173" y="1276040"/>
            <a:ext cx="6926127" cy="0"/>
          </a:xfrm>
          <a:prstGeom prst="line">
            <a:avLst/>
          </a:prstGeom>
          <a:ln w="76200" cap="flat">
            <a:solidFill>
              <a:srgbClr val="07584B"/>
            </a:solidFill>
            <a:prstDash val="solid"/>
            <a:headEnd type="oval" w="lg" len="lg"/>
            <a:tailEnd type="none" w="sm" len="sm"/>
          </a:ln>
        </p:spPr>
        <p:txBody>
          <a:bodyPr/>
          <a:lstStyle/>
          <a:p>
            <a:endParaRPr lang="en-US"/>
          </a:p>
        </p:txBody>
      </p:sp>
      <p:sp>
        <p:nvSpPr>
          <p:cNvPr id="3" name="Freeform 3"/>
          <p:cNvSpPr/>
          <p:nvPr/>
        </p:nvSpPr>
        <p:spPr>
          <a:xfrm>
            <a:off x="1844374" y="2032914"/>
            <a:ext cx="8115688" cy="6482406"/>
          </a:xfrm>
          <a:custGeom>
            <a:avLst/>
            <a:gdLst/>
            <a:ahLst/>
            <a:cxnLst/>
            <a:rect l="l" t="t" r="r" b="b"/>
            <a:pathLst>
              <a:path w="8115688" h="6482406">
                <a:moveTo>
                  <a:pt x="0" y="0"/>
                </a:moveTo>
                <a:lnTo>
                  <a:pt x="8115688" y="0"/>
                </a:lnTo>
                <a:lnTo>
                  <a:pt x="8115688" y="6482406"/>
                </a:lnTo>
                <a:lnTo>
                  <a:pt x="0" y="648240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9658763" y="2197607"/>
            <a:ext cx="7600537" cy="2258425"/>
          </a:xfrm>
          <a:prstGeom prst="rect">
            <a:avLst/>
          </a:prstGeom>
        </p:spPr>
        <p:txBody>
          <a:bodyPr lIns="0" tIns="0" rIns="0" bIns="0" rtlCol="0" anchor="t">
            <a:spAutoFit/>
          </a:bodyPr>
          <a:lstStyle/>
          <a:p>
            <a:pPr algn="r">
              <a:lnSpc>
                <a:spcPts val="7791"/>
              </a:lnSpc>
            </a:pPr>
            <a:r>
              <a:rPr lang="en-US" sz="8561">
                <a:solidFill>
                  <a:srgbClr val="07584B"/>
                </a:solidFill>
                <a:latin typeface="Heading Now 31-38"/>
                <a:ea typeface="Heading Now 31-38"/>
                <a:cs typeface="Heading Now 31-38"/>
                <a:sym typeface="Heading Now 31-38"/>
              </a:rPr>
              <a:t>MODEL TRAINING AND 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sp>
        <p:nvSpPr>
          <p:cNvPr id="2" name="AutoShape 2"/>
          <p:cNvSpPr/>
          <p:nvPr/>
        </p:nvSpPr>
        <p:spPr>
          <a:xfrm flipH="1" flipV="1">
            <a:off x="1417900" y="0"/>
            <a:ext cx="0" cy="6926127"/>
          </a:xfrm>
          <a:prstGeom prst="line">
            <a:avLst/>
          </a:prstGeom>
          <a:ln w="76200" cap="flat">
            <a:solidFill>
              <a:srgbClr val="07584B"/>
            </a:solidFill>
            <a:prstDash val="solid"/>
            <a:headEnd type="oval" w="lg" len="lg"/>
            <a:tailEnd type="none" w="sm" len="sm"/>
          </a:ln>
        </p:spPr>
        <p:txBody>
          <a:bodyPr/>
          <a:lstStyle/>
          <a:p>
            <a:endParaRPr lang="en-US"/>
          </a:p>
        </p:txBody>
      </p:sp>
      <p:sp>
        <p:nvSpPr>
          <p:cNvPr id="3" name="TextBox 3"/>
          <p:cNvSpPr txBox="1"/>
          <p:nvPr/>
        </p:nvSpPr>
        <p:spPr>
          <a:xfrm>
            <a:off x="2251317" y="820988"/>
            <a:ext cx="3762565" cy="1277350"/>
          </a:xfrm>
          <a:prstGeom prst="rect">
            <a:avLst/>
          </a:prstGeom>
        </p:spPr>
        <p:txBody>
          <a:bodyPr lIns="0" tIns="0" rIns="0" bIns="0" rtlCol="0" anchor="t">
            <a:spAutoFit/>
          </a:bodyPr>
          <a:lstStyle/>
          <a:p>
            <a:pPr algn="l">
              <a:lnSpc>
                <a:spcPts val="7791"/>
              </a:lnSpc>
            </a:pPr>
            <a:r>
              <a:rPr lang="en-US" sz="8561">
                <a:solidFill>
                  <a:srgbClr val="07584B"/>
                </a:solidFill>
                <a:latin typeface="Heading Now 31-38"/>
                <a:ea typeface="Heading Now 31-38"/>
                <a:cs typeface="Heading Now 31-38"/>
                <a:sym typeface="Heading Now 31-38"/>
              </a:rPr>
              <a:t>NEXT STEPS</a:t>
            </a:r>
          </a:p>
        </p:txBody>
      </p:sp>
      <p:sp>
        <p:nvSpPr>
          <p:cNvPr id="4" name="TextBox 4"/>
          <p:cNvSpPr txBox="1"/>
          <p:nvPr/>
        </p:nvSpPr>
        <p:spPr>
          <a:xfrm>
            <a:off x="2251317" y="2899439"/>
            <a:ext cx="13102783" cy="4740934"/>
          </a:xfrm>
          <a:prstGeom prst="rect">
            <a:avLst/>
          </a:prstGeom>
        </p:spPr>
        <p:txBody>
          <a:bodyPr lIns="0" tIns="0" rIns="0" bIns="0" rtlCol="0" anchor="t">
            <a:spAutoFit/>
          </a:bodyPr>
          <a:lstStyle/>
          <a:p>
            <a:pPr marL="588120" lvl="1" indent="-294060" algn="l">
              <a:lnSpc>
                <a:spcPts val="3813"/>
              </a:lnSpc>
              <a:buFont typeface="Arial"/>
              <a:buChar char="•"/>
            </a:pPr>
            <a:r>
              <a:rPr lang="en-US" sz="2724">
                <a:solidFill>
                  <a:srgbClr val="000000"/>
                </a:solidFill>
                <a:latin typeface="Ruda"/>
                <a:ea typeface="Ruda"/>
                <a:cs typeface="Ruda"/>
                <a:sym typeface="Ruda"/>
              </a:rPr>
              <a:t>While the models achieved high performance metrics, the persistence of very high scores even after removing apparent leakage suggests a need for further rigorous investigation into potential subtle data leakage or re-evaluation of the feature set based on strict clinical availability at the time of prediction.</a:t>
            </a:r>
          </a:p>
          <a:p>
            <a:pPr algn="l">
              <a:lnSpc>
                <a:spcPts val="3813"/>
              </a:lnSpc>
            </a:pPr>
            <a:endParaRPr lang="en-US" sz="2724">
              <a:solidFill>
                <a:srgbClr val="000000"/>
              </a:solidFill>
              <a:latin typeface="Ruda"/>
              <a:ea typeface="Ruda"/>
              <a:cs typeface="Ruda"/>
              <a:sym typeface="Ruda"/>
            </a:endParaRPr>
          </a:p>
          <a:p>
            <a:pPr marL="588120" lvl="1" indent="-294060" algn="l">
              <a:lnSpc>
                <a:spcPts val="3813"/>
              </a:lnSpc>
              <a:buFont typeface="Arial"/>
              <a:buChar char="•"/>
            </a:pPr>
            <a:r>
              <a:rPr lang="en-US" sz="2724">
                <a:solidFill>
                  <a:srgbClr val="000000"/>
                </a:solidFill>
                <a:latin typeface="Ruda"/>
                <a:ea typeface="Ruda"/>
                <a:cs typeface="Ruda"/>
                <a:sym typeface="Ruda"/>
              </a:rPr>
              <a:t>Future work should explore incorporating dynamic, time-series data from MIMIC-III (like vital signs or lab results) to capture changes in patient condition during hospitalization, which could potentially improve the predictive power of the models beyond admission-time features.</a:t>
            </a:r>
          </a:p>
          <a:p>
            <a:pPr algn="l">
              <a:lnSpc>
                <a:spcPts val="3813"/>
              </a:lnSpc>
            </a:pPr>
            <a:endParaRPr lang="en-US" sz="2724">
              <a:solidFill>
                <a:srgbClr val="000000"/>
              </a:solidFill>
              <a:latin typeface="Ruda"/>
              <a:ea typeface="Ruda"/>
              <a:cs typeface="Ruda"/>
              <a:sym typeface="Rud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5E6AB"/>
        </a:solidFill>
        <a:effectLst/>
      </p:bgPr>
    </p:bg>
    <p:spTree>
      <p:nvGrpSpPr>
        <p:cNvPr id="1" name=""/>
        <p:cNvGrpSpPr/>
        <p:nvPr/>
      </p:nvGrpSpPr>
      <p:grpSpPr>
        <a:xfrm>
          <a:off x="0" y="0"/>
          <a:ext cx="0" cy="0"/>
          <a:chOff x="0" y="0"/>
          <a:chExt cx="0" cy="0"/>
        </a:xfrm>
      </p:grpSpPr>
      <p:sp>
        <p:nvSpPr>
          <p:cNvPr id="2" name="Freeform 2"/>
          <p:cNvSpPr/>
          <p:nvPr/>
        </p:nvSpPr>
        <p:spPr>
          <a:xfrm>
            <a:off x="9410865" y="2416936"/>
            <a:ext cx="7475689" cy="5980552"/>
          </a:xfrm>
          <a:custGeom>
            <a:avLst/>
            <a:gdLst/>
            <a:ahLst/>
            <a:cxnLst/>
            <a:rect l="l" t="t" r="r" b="b"/>
            <a:pathLst>
              <a:path w="7475689" h="5980552">
                <a:moveTo>
                  <a:pt x="0" y="0"/>
                </a:moveTo>
                <a:lnTo>
                  <a:pt x="7475689" y="0"/>
                </a:lnTo>
                <a:lnTo>
                  <a:pt x="7475689" y="5980551"/>
                </a:lnTo>
                <a:lnTo>
                  <a:pt x="0" y="59805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715123" y="3707446"/>
            <a:ext cx="4767464" cy="2032239"/>
          </a:xfrm>
          <a:prstGeom prst="rect">
            <a:avLst/>
          </a:prstGeom>
        </p:spPr>
        <p:txBody>
          <a:bodyPr lIns="0" tIns="0" rIns="0" bIns="0" rtlCol="0" anchor="t">
            <a:spAutoFit/>
          </a:bodyPr>
          <a:lstStyle/>
          <a:p>
            <a:pPr algn="l">
              <a:lnSpc>
                <a:spcPts val="14511"/>
              </a:lnSpc>
            </a:pPr>
            <a:r>
              <a:rPr lang="en-US" sz="10365" b="1" i="1">
                <a:solidFill>
                  <a:srgbClr val="07584B"/>
                </a:solidFill>
                <a:latin typeface="Heading Now 31-38 Bold Italics"/>
                <a:ea typeface="Heading Now 31-38 Bold Italics"/>
                <a:cs typeface="Heading Now 31-38 Bold Italics"/>
                <a:sym typeface="Heading Now 31-38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1829</Words>
  <Application>Microsoft Office PowerPoint</Application>
  <PresentationFormat>Custom</PresentationFormat>
  <Paragraphs>99</Paragraphs>
  <Slides>9</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Canva Sans Bold</vt:lpstr>
      <vt:lpstr>Ruda</vt:lpstr>
      <vt:lpstr>Canva Sans Italics</vt:lpstr>
      <vt:lpstr>Heading Now 31-38 Bold Italics</vt:lpstr>
      <vt:lpstr>Arial</vt:lpstr>
      <vt:lpstr>Heading Now 31-38 Bold</vt:lpstr>
      <vt:lpstr>Heading Now 31-38</vt:lpstr>
      <vt:lpstr>Canva Sans</vt:lpstr>
      <vt:lpstr>Calibri</vt:lpstr>
      <vt:lpstr>Ruda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In-Hospital Mortality</dc:title>
  <cp:lastModifiedBy>Ludolf, Joshua</cp:lastModifiedBy>
  <cp:revision>1</cp:revision>
  <dcterms:created xsi:type="dcterms:W3CDTF">2006-08-16T00:00:00Z</dcterms:created>
  <dcterms:modified xsi:type="dcterms:W3CDTF">2025-10-19T16:44:18Z</dcterms:modified>
  <dc:identifier>DAG2PxsRtkw</dc:identifier>
</cp:coreProperties>
</file>