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mo Bold" charset="1" panose="020B0704020202020204"/>
      <p:regular r:id="rId29"/>
    </p:embeddedFont>
    <p:embeddedFont>
      <p:font typeface="Canva Sans Bold" charset="1" panose="020B0803030501040103"/>
      <p:regular r:id="rId30"/>
    </p:embeddedFont>
    <p:embeddedFont>
      <p:font typeface="Canva Sans" charset="1" panose="020B0503030501040103"/>
      <p:regular r:id="rId31"/>
    </p:embeddedFont>
    <p:embeddedFont>
      <p:font typeface="Canva Sans Italics" charset="1" panose="020B0503030501040103"/>
      <p:regular r:id="rId32"/>
    </p:embeddedFont>
    <p:embeddedFont>
      <p:font typeface="Canva Sans Bold Italics" charset="1" panose="020B08030305010401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VAGx-hEAdI0.mp4" Type="http://schemas.openxmlformats.org/officeDocument/2006/relationships/video"/><Relationship Id="rId4" Target="../media/VAGx-hEAdI0.mp4" Type="http://schemas.microsoft.com/office/2007/relationships/media"/></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jpeg" Type="http://schemas.openxmlformats.org/officeDocument/2006/relationships/image"/><Relationship Id="rId5" Target="../media/VAGyB3yO1L4.mp4" Type="http://schemas.openxmlformats.org/officeDocument/2006/relationships/video"/><Relationship Id="rId6" Target="../media/VAGyB3yO1L4.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jpeg" Type="http://schemas.openxmlformats.org/officeDocument/2006/relationships/image"/><Relationship Id="rId5" Target="../media/VAGyCFKHxwk.mp4" Type="http://schemas.openxmlformats.org/officeDocument/2006/relationships/video"/><Relationship Id="rId6" Target="../media/VAGyCFKHxwk.mp4" Type="http://schemas.microsoft.com/office/2007/relationships/media"/></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jpeg" Type="http://schemas.openxmlformats.org/officeDocument/2006/relationships/image"/><Relationship Id="rId5" Target="../media/VAGyCGWXSbU.mp4" Type="http://schemas.openxmlformats.org/officeDocument/2006/relationships/video"/><Relationship Id="rId6" Target="../media/VAGyCGWXSbU.mp4" Type="http://schemas.microsoft.com/office/2007/relationships/media"/></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VAGyBzAj9oA.mp4" Type="http://schemas.openxmlformats.org/officeDocument/2006/relationships/video"/><Relationship Id="rId4" Target="../media/VAGyBzAj9oA.mp4" Type="http://schemas.microsoft.com/office/2007/relationships/media"/></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jpeg" Type="http://schemas.openxmlformats.org/officeDocument/2006/relationships/image"/><Relationship Id="rId5" Target="../media/VAGyCPQl8ZI.mp4" Type="http://schemas.openxmlformats.org/officeDocument/2006/relationships/video"/><Relationship Id="rId6" Target="../media/VAGyCPQl8ZI.mp4" Type="http://schemas.microsoft.com/office/2007/relationships/media"/></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223879" cy="11351526"/>
            <a:chOff x="0" y="0"/>
            <a:chExt cx="585713" cy="2989702"/>
          </a:xfrm>
        </p:grpSpPr>
        <p:sp>
          <p:nvSpPr>
            <p:cNvPr name="Freeform 3" id="3"/>
            <p:cNvSpPr/>
            <p:nvPr/>
          </p:nvSpPr>
          <p:spPr>
            <a:xfrm flipH="false" flipV="false" rot="0">
              <a:off x="0" y="0"/>
              <a:ext cx="585713" cy="2989702"/>
            </a:xfrm>
            <a:custGeom>
              <a:avLst/>
              <a:gdLst/>
              <a:ahLst/>
              <a:cxnLst/>
              <a:rect r="r" b="b" t="t" l="l"/>
              <a:pathLst>
                <a:path h="2989702" w="585713">
                  <a:moveTo>
                    <a:pt x="0" y="0"/>
                  </a:moveTo>
                  <a:lnTo>
                    <a:pt x="585713" y="0"/>
                  </a:lnTo>
                  <a:lnTo>
                    <a:pt x="585713" y="2989702"/>
                  </a:lnTo>
                  <a:lnTo>
                    <a:pt x="0" y="2989702"/>
                  </a:lnTo>
                  <a:close/>
                </a:path>
              </a:pathLst>
            </a:custGeom>
            <a:solidFill>
              <a:srgbClr val="0C535C"/>
            </a:solidFill>
          </p:spPr>
        </p:sp>
        <p:sp>
          <p:nvSpPr>
            <p:cNvPr name="TextBox 4" id="4"/>
            <p:cNvSpPr txBox="true"/>
            <p:nvPr/>
          </p:nvSpPr>
          <p:spPr>
            <a:xfrm>
              <a:off x="0" y="-38100"/>
              <a:ext cx="585713" cy="302780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223879" y="0"/>
            <a:ext cx="16064121" cy="10287000"/>
            <a:chOff x="0" y="0"/>
            <a:chExt cx="4230880" cy="2709333"/>
          </a:xfrm>
        </p:grpSpPr>
        <p:sp>
          <p:nvSpPr>
            <p:cNvPr name="Freeform 6" id="6"/>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7" id="7"/>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1157866">
            <a:off x="12806991" y="-1046797"/>
            <a:ext cx="6019512" cy="601951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5046" t="0" r="-25046" b="0"/>
              </a:stretch>
            </a:blipFill>
          </p:spPr>
        </p:sp>
      </p:grpSp>
      <p:grpSp>
        <p:nvGrpSpPr>
          <p:cNvPr name="Group 10" id="10"/>
          <p:cNvGrpSpPr/>
          <p:nvPr/>
        </p:nvGrpSpPr>
        <p:grpSpPr>
          <a:xfrm rot="-2539143">
            <a:off x="11917982" y="4028045"/>
            <a:ext cx="6339380" cy="633938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471" t="0" r="-25471" b="0"/>
              </a:stretch>
            </a:blipFill>
          </p:spPr>
        </p:sp>
      </p:grpSp>
      <p:sp>
        <p:nvSpPr>
          <p:cNvPr name="Freeform 12" id="12"/>
          <p:cNvSpPr/>
          <p:nvPr/>
        </p:nvSpPr>
        <p:spPr>
          <a:xfrm flipH="false" flipV="false" rot="0">
            <a:off x="14720514" y="3868052"/>
            <a:ext cx="734318" cy="844852"/>
          </a:xfrm>
          <a:custGeom>
            <a:avLst/>
            <a:gdLst/>
            <a:ahLst/>
            <a:cxnLst/>
            <a:rect r="r" b="b" t="t" l="l"/>
            <a:pathLst>
              <a:path h="844852" w="734318">
                <a:moveTo>
                  <a:pt x="0" y="0"/>
                </a:moveTo>
                <a:lnTo>
                  <a:pt x="734317" y="0"/>
                </a:lnTo>
                <a:lnTo>
                  <a:pt x="734317" y="844852"/>
                </a:lnTo>
                <a:lnTo>
                  <a:pt x="0" y="844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816747" y="148892"/>
            <a:ext cx="753409" cy="636631"/>
          </a:xfrm>
          <a:custGeom>
            <a:avLst/>
            <a:gdLst/>
            <a:ahLst/>
            <a:cxnLst/>
            <a:rect r="r" b="b" t="t" l="l"/>
            <a:pathLst>
              <a:path h="636631" w="753409">
                <a:moveTo>
                  <a:pt x="0" y="0"/>
                </a:moveTo>
                <a:lnTo>
                  <a:pt x="753410" y="0"/>
                </a:lnTo>
                <a:lnTo>
                  <a:pt x="753410" y="636630"/>
                </a:lnTo>
                <a:lnTo>
                  <a:pt x="0" y="6366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2858247" y="1469087"/>
            <a:ext cx="7751713" cy="4512330"/>
          </a:xfrm>
          <a:prstGeom prst="rect">
            <a:avLst/>
          </a:prstGeom>
        </p:spPr>
        <p:txBody>
          <a:bodyPr anchor="t" rtlCol="false" tIns="0" lIns="0" bIns="0" rIns="0">
            <a:spAutoFit/>
          </a:bodyPr>
          <a:lstStyle/>
          <a:p>
            <a:pPr algn="ctr">
              <a:lnSpc>
                <a:spcPts val="17988"/>
              </a:lnSpc>
            </a:pPr>
            <a:r>
              <a:rPr lang="en-US" sz="12849" b="true">
                <a:solidFill>
                  <a:srgbClr val="FFFFFF"/>
                </a:solidFill>
                <a:latin typeface="Arimo Bold"/>
                <a:ea typeface="Arimo Bold"/>
                <a:cs typeface="Arimo Bold"/>
                <a:sym typeface="Arimo Bold"/>
              </a:rPr>
              <a:t>MIMIC SQL</a:t>
            </a:r>
          </a:p>
        </p:txBody>
      </p:sp>
      <p:sp>
        <p:nvSpPr>
          <p:cNvPr name="TextBox 15" id="15"/>
          <p:cNvSpPr txBox="true"/>
          <p:nvPr/>
        </p:nvSpPr>
        <p:spPr>
          <a:xfrm rot="0">
            <a:off x="3647794" y="6305770"/>
            <a:ext cx="6172620" cy="1663932"/>
          </a:xfrm>
          <a:prstGeom prst="rect">
            <a:avLst/>
          </a:prstGeom>
        </p:spPr>
        <p:txBody>
          <a:bodyPr anchor="t" rtlCol="false" tIns="0" lIns="0" bIns="0" rIns="0">
            <a:spAutoFit/>
          </a:bodyPr>
          <a:lstStyle/>
          <a:p>
            <a:pPr algn="ctr">
              <a:lnSpc>
                <a:spcPts val="3312"/>
              </a:lnSpc>
              <a:spcBef>
                <a:spcPct val="0"/>
              </a:spcBef>
            </a:pPr>
            <a:r>
              <a:rPr lang="en-US" b="true" sz="2365">
                <a:solidFill>
                  <a:srgbClr val="FFFFFF"/>
                </a:solidFill>
                <a:latin typeface="Canva Sans Bold"/>
                <a:ea typeface="Canva Sans Bold"/>
                <a:cs typeface="Canva Sans Bold"/>
                <a:sym typeface="Canva Sans Bold"/>
              </a:rPr>
              <a:t>Joshua Ludo</a:t>
            </a:r>
            <a:r>
              <a:rPr lang="en-US" b="true" sz="2365">
                <a:solidFill>
                  <a:srgbClr val="FFFFFF"/>
                </a:solidFill>
                <a:latin typeface="Canva Sans Bold"/>
                <a:ea typeface="Canva Sans Bold"/>
                <a:cs typeface="Canva Sans Bold"/>
                <a:sym typeface="Canva Sans Bold"/>
              </a:rPr>
              <a:t>lf</a:t>
            </a:r>
          </a:p>
          <a:p>
            <a:pPr algn="ctr">
              <a:lnSpc>
                <a:spcPts val="3312"/>
              </a:lnSpc>
              <a:spcBef>
                <a:spcPct val="0"/>
              </a:spcBef>
            </a:pPr>
            <a:r>
              <a:rPr lang="en-US" b="true" sz="2365">
                <a:solidFill>
                  <a:srgbClr val="FFFFFF"/>
                </a:solidFill>
                <a:latin typeface="Canva Sans Bold"/>
                <a:ea typeface="Canva Sans Bold"/>
                <a:cs typeface="Canva Sans Bold"/>
                <a:sym typeface="Canva Sans Bold"/>
              </a:rPr>
              <a:t>AI 395T - AI in Healthcare</a:t>
            </a:r>
          </a:p>
          <a:p>
            <a:pPr algn="ctr">
              <a:lnSpc>
                <a:spcPts val="3312"/>
              </a:lnSpc>
              <a:spcBef>
                <a:spcPct val="0"/>
              </a:spcBef>
            </a:pPr>
            <a:r>
              <a:rPr lang="en-US" b="true" sz="2365">
                <a:solidFill>
                  <a:srgbClr val="FFFFFF"/>
                </a:solidFill>
                <a:latin typeface="Canva Sans Bold"/>
                <a:ea typeface="Canva Sans Bold"/>
                <a:cs typeface="Canva Sans Bold"/>
                <a:sym typeface="Canva Sans Bold"/>
              </a:rPr>
              <a:t>University of Texas at Austin</a:t>
            </a:r>
          </a:p>
          <a:p>
            <a:pPr algn="ctr">
              <a:lnSpc>
                <a:spcPts val="3312"/>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1" y="0"/>
            <a:ext cx="18287569" cy="10287000"/>
            <a:chOff x="0" y="0"/>
            <a:chExt cx="24383426"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4598"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11972246" y="2207906"/>
            <a:ext cx="4973650" cy="2716856"/>
          </a:xfrm>
          <a:custGeom>
            <a:avLst/>
            <a:gdLst/>
            <a:ahLst/>
            <a:cxnLst/>
            <a:rect r="r" b="b" t="t" l="l"/>
            <a:pathLst>
              <a:path h="2716856" w="4973650">
                <a:moveTo>
                  <a:pt x="0" y="0"/>
                </a:moveTo>
                <a:lnTo>
                  <a:pt x="4973650" y="0"/>
                </a:lnTo>
                <a:lnTo>
                  <a:pt x="4973650" y="2716856"/>
                </a:lnTo>
                <a:lnTo>
                  <a:pt x="0" y="2716856"/>
                </a:lnTo>
                <a:lnTo>
                  <a:pt x="0" y="0"/>
                </a:lnTo>
                <a:close/>
              </a:path>
            </a:pathLst>
          </a:custGeom>
          <a:blipFill>
            <a:blip r:embed="rId2"/>
            <a:stretch>
              <a:fillRect l="0" t="0" r="0" b="0"/>
            </a:stretch>
          </a:blipFill>
        </p:spPr>
      </p:sp>
      <p:sp>
        <p:nvSpPr>
          <p:cNvPr name="Freeform 10" id="10"/>
          <p:cNvSpPr/>
          <p:nvPr/>
        </p:nvSpPr>
        <p:spPr>
          <a:xfrm flipH="false" flipV="false" rot="0">
            <a:off x="12152637" y="5249436"/>
            <a:ext cx="4612868" cy="3453885"/>
          </a:xfrm>
          <a:custGeom>
            <a:avLst/>
            <a:gdLst/>
            <a:ahLst/>
            <a:cxnLst/>
            <a:rect r="r" b="b" t="t" l="l"/>
            <a:pathLst>
              <a:path h="3453885" w="4612868">
                <a:moveTo>
                  <a:pt x="0" y="0"/>
                </a:moveTo>
                <a:lnTo>
                  <a:pt x="4612868" y="0"/>
                </a:lnTo>
                <a:lnTo>
                  <a:pt x="4612868" y="3453885"/>
                </a:lnTo>
                <a:lnTo>
                  <a:pt x="0" y="3453885"/>
                </a:lnTo>
                <a:lnTo>
                  <a:pt x="0" y="0"/>
                </a:lnTo>
                <a:close/>
              </a:path>
            </a:pathLst>
          </a:custGeom>
          <a:blipFill>
            <a:blip r:embed="rId3"/>
            <a:stretch>
              <a:fillRect l="0" t="0" r="0" b="0"/>
            </a:stretch>
          </a:blipFill>
        </p:spPr>
      </p:sp>
      <p:sp>
        <p:nvSpPr>
          <p:cNvPr name="TextBox 11" id="11"/>
          <p:cNvSpPr txBox="true"/>
          <p:nvPr/>
        </p:nvSpPr>
        <p:spPr>
          <a:xfrm rot="0">
            <a:off x="4114909" y="885825"/>
            <a:ext cx="6304003" cy="10572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Meet the Patients</a:t>
            </a:r>
          </a:p>
        </p:txBody>
      </p:sp>
      <p:sp>
        <p:nvSpPr>
          <p:cNvPr name="TextBox 12" id="12"/>
          <p:cNvSpPr txBox="true"/>
          <p:nvPr/>
        </p:nvSpPr>
        <p:spPr>
          <a:xfrm rot="0">
            <a:off x="3637117" y="2015027"/>
            <a:ext cx="7045219" cy="6964212"/>
          </a:xfrm>
          <a:prstGeom prst="rect">
            <a:avLst/>
          </a:prstGeom>
        </p:spPr>
        <p:txBody>
          <a:bodyPr anchor="t" rtlCol="false" tIns="0" lIns="0" bIns="0" rIns="0">
            <a:spAutoFit/>
          </a:bodyPr>
          <a:lstStyle/>
          <a:p>
            <a:pPr algn="just">
              <a:lnSpc>
                <a:spcPts val="3095"/>
              </a:lnSpc>
            </a:pPr>
            <a:r>
              <a:rPr lang="en-US" sz="2210">
                <a:solidFill>
                  <a:srgbClr val="FFFFFF"/>
                </a:solidFill>
                <a:latin typeface="Canva Sans"/>
                <a:ea typeface="Canva Sans"/>
                <a:cs typeface="Canva Sans"/>
                <a:sym typeface="Canva Sans"/>
              </a:rPr>
              <a:t>W</a:t>
            </a:r>
            <a:r>
              <a:rPr lang="en-US" sz="2210">
                <a:solidFill>
                  <a:srgbClr val="FFFFFF"/>
                </a:solidFill>
                <a:latin typeface="Canva Sans"/>
                <a:ea typeface="Canva Sans"/>
                <a:cs typeface="Canva Sans"/>
                <a:sym typeface="Canva Sans"/>
              </a:rPr>
              <a:t>e start by exploring the basic demographics of our patient population. Using the patients table from MIMIC III, we’ll look at gender distribution and average age at admission. This sets the stage for understanding who is affected by the condition we’re studying.</a:t>
            </a:r>
          </a:p>
          <a:p>
            <a:pPr algn="just">
              <a:lnSpc>
                <a:spcPts val="3095"/>
              </a:lnSpc>
            </a:pPr>
          </a:p>
          <a:p>
            <a:pPr algn="just" marL="477306" indent="-238653" lvl="1">
              <a:lnSpc>
                <a:spcPts val="3095"/>
              </a:lnSpc>
              <a:buFont typeface="Arial"/>
              <a:buChar char="•"/>
            </a:pPr>
            <a:r>
              <a:rPr lang="en-US" sz="2210">
                <a:solidFill>
                  <a:srgbClr val="FFFFFF"/>
                </a:solidFill>
                <a:latin typeface="Canva Sans"/>
                <a:ea typeface="Canva Sans"/>
                <a:cs typeface="Canva Sans"/>
                <a:sym typeface="Canva Sans"/>
              </a:rPr>
              <a:t>The majority of patients are </a:t>
            </a:r>
            <a:r>
              <a:rPr lang="en-US" b="true" sz="2210">
                <a:solidFill>
                  <a:srgbClr val="FFFFFF"/>
                </a:solidFill>
                <a:latin typeface="Canva Sans Bold"/>
                <a:ea typeface="Canva Sans Bold"/>
                <a:cs typeface="Canva Sans Bold"/>
                <a:sym typeface="Canva Sans Bold"/>
              </a:rPr>
              <a:t>56.15%</a:t>
            </a:r>
            <a:r>
              <a:rPr lang="en-US" sz="2210">
                <a:solidFill>
                  <a:srgbClr val="FFFFFF"/>
                </a:solidFill>
                <a:latin typeface="Canva Sans"/>
                <a:ea typeface="Canva Sans"/>
                <a:cs typeface="Canva Sans"/>
                <a:sym typeface="Canva Sans"/>
              </a:rPr>
              <a:t> male and </a:t>
            </a:r>
            <a:r>
              <a:rPr lang="en-US" b="true" sz="2210">
                <a:solidFill>
                  <a:srgbClr val="FFFFFF"/>
                </a:solidFill>
                <a:latin typeface="Canva Sans Bold"/>
                <a:ea typeface="Canva Sans Bold"/>
                <a:cs typeface="Canva Sans Bold"/>
                <a:sym typeface="Canva Sans Bold"/>
              </a:rPr>
              <a:t>43.85%</a:t>
            </a:r>
            <a:r>
              <a:rPr lang="en-US" sz="2210">
                <a:solidFill>
                  <a:srgbClr val="FFFFFF"/>
                </a:solidFill>
                <a:latin typeface="Canva Sans"/>
                <a:ea typeface="Canva Sans"/>
                <a:cs typeface="Canva Sans"/>
                <a:sym typeface="Canva Sans"/>
              </a:rPr>
              <a:t> female (calculated by taking each respective gender total and dividing by total of both gender → equivalently the same as total patients) , with an average age of  </a:t>
            </a:r>
            <a:r>
              <a:rPr lang="en-US" sz="2210" u="sng">
                <a:solidFill>
                  <a:srgbClr val="FFFFFF"/>
                </a:solidFill>
                <a:latin typeface="Canva Sans"/>
                <a:ea typeface="Canva Sans"/>
                <a:cs typeface="Canva Sans"/>
                <a:sym typeface="Canva Sans"/>
              </a:rPr>
              <a:t>57.6 years for males</a:t>
            </a:r>
            <a:r>
              <a:rPr lang="en-US" sz="2210">
                <a:solidFill>
                  <a:srgbClr val="FFFFFF"/>
                </a:solidFill>
                <a:latin typeface="Canva Sans"/>
                <a:ea typeface="Canva Sans"/>
                <a:cs typeface="Canva Sans"/>
                <a:sym typeface="Canva Sans"/>
              </a:rPr>
              <a:t> and </a:t>
            </a:r>
            <a:r>
              <a:rPr lang="en-US" sz="2210" u="sng">
                <a:solidFill>
                  <a:srgbClr val="FFFFFF"/>
                </a:solidFill>
                <a:latin typeface="Canva Sans"/>
                <a:ea typeface="Canva Sans"/>
                <a:cs typeface="Canva Sans"/>
                <a:sym typeface="Canva Sans"/>
              </a:rPr>
              <a:t>67.3 for females</a:t>
            </a:r>
            <a:r>
              <a:rPr lang="en-US" sz="2210">
                <a:solidFill>
                  <a:srgbClr val="FFFFFF"/>
                </a:solidFill>
                <a:latin typeface="Canva Sans"/>
                <a:ea typeface="Canva Sans"/>
                <a:cs typeface="Canva Sans"/>
                <a:sym typeface="Canva Sans"/>
              </a:rPr>
              <a:t> (see next slide for visualizations).</a:t>
            </a:r>
          </a:p>
          <a:p>
            <a:pPr algn="just">
              <a:lnSpc>
                <a:spcPts val="3095"/>
              </a:lnSpc>
            </a:pPr>
          </a:p>
          <a:p>
            <a:pPr algn="just" marL="477306" indent="-238653" lvl="1">
              <a:lnSpc>
                <a:spcPts val="3095"/>
              </a:lnSpc>
              <a:buFont typeface="Arial"/>
              <a:buChar char="•"/>
            </a:pPr>
            <a:r>
              <a:rPr lang="en-US" sz="2210">
                <a:solidFill>
                  <a:srgbClr val="FFFFFF"/>
                </a:solidFill>
                <a:latin typeface="Canva Sans"/>
                <a:ea typeface="Canva Sans"/>
                <a:cs typeface="Canva Sans"/>
                <a:sym typeface="Canva Sans"/>
              </a:rPr>
              <a:t>Knowing their age and gender will help us interpret later findings about severity, treatment, and outcomes.</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5172"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pic>
        <p:nvPicPr>
          <p:cNvPr name="Picture 9" id="9">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884829" y="3222934"/>
            <a:ext cx="13162110" cy="5525100"/>
          </a:xfrm>
          <a:prstGeom prst="rect">
            <a:avLst/>
          </a:prstGeom>
        </p:spPr>
      </p:pic>
      <p:sp>
        <p:nvSpPr>
          <p:cNvPr name="TextBox 10" id="10"/>
          <p:cNvSpPr txBox="true"/>
          <p:nvPr/>
        </p:nvSpPr>
        <p:spPr>
          <a:xfrm rot="0">
            <a:off x="4308396" y="885825"/>
            <a:ext cx="6304003"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Meet the Patients Visuals</a:t>
            </a:r>
          </a:p>
        </p:txBody>
      </p:sp>
    </p:spTree>
  </p:cSld>
  <p:clrMapOvr>
    <a:masterClrMapping/>
  </p:clrMapOvr>
  <p:transition spd="fast">
    <p:fade/>
  </p:transition>
  <p:timing>
    <p:tnLst>
      <p:par>
        <p:cTn dur="indefinite" restart="never" nodeType="tmRoot">
          <p:childTnLst>
            <p:video>
              <p:cMediaNode vol="0">
                <p:cTn fill="hold" display="false">
                  <p:stCondLst>
                    <p:cond delay="indefinite"/>
                  </p:stCondLst>
                </p:cTn>
                <p:tgtEl>
                  <p:spTgt spid="9"/>
                </p:tgtEl>
              </p:cMediaNode>
            </p:video>
          </p:childTnLst>
        </p:cTn>
      </p:par>
    </p:tnLst>
  </p:timing>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40071" cy="10287000"/>
            <a:chOff x="0" y="0"/>
            <a:chExt cx="24320095" cy="13716000"/>
          </a:xfrm>
        </p:grpSpPr>
        <p:grpSp>
          <p:nvGrpSpPr>
            <p:cNvPr name="Group 3" id="3"/>
            <p:cNvGrpSpPr/>
            <p:nvPr/>
          </p:nvGrpSpPr>
          <p:grpSpPr>
            <a:xfrm rot="0">
              <a:off x="0" y="0"/>
              <a:ext cx="2901268" cy="13716000"/>
              <a:chOff x="0" y="0"/>
              <a:chExt cx="573090" cy="2709333"/>
            </a:xfrm>
          </p:grpSpPr>
          <p:sp>
            <p:nvSpPr>
              <p:cNvPr name="Freeform 4" id="4"/>
              <p:cNvSpPr/>
              <p:nvPr/>
            </p:nvSpPr>
            <p:spPr>
              <a:xfrm flipH="false" flipV="false" rot="0">
                <a:off x="0" y="0"/>
                <a:ext cx="573090" cy="2709333"/>
              </a:xfrm>
              <a:custGeom>
                <a:avLst/>
                <a:gdLst/>
                <a:ahLst/>
                <a:cxnLst/>
                <a:rect r="r" b="b" t="t" l="l"/>
                <a:pathLst>
                  <a:path h="2709333" w="573090">
                    <a:moveTo>
                      <a:pt x="0" y="0"/>
                    </a:moveTo>
                    <a:lnTo>
                      <a:pt x="573090" y="0"/>
                    </a:lnTo>
                    <a:lnTo>
                      <a:pt x="573090" y="2709333"/>
                    </a:lnTo>
                    <a:lnTo>
                      <a:pt x="0" y="2709333"/>
                    </a:lnTo>
                    <a:close/>
                  </a:path>
                </a:pathLst>
              </a:custGeom>
              <a:solidFill>
                <a:srgbClr val="0C535C"/>
              </a:solidFill>
            </p:spPr>
          </p:sp>
          <p:sp>
            <p:nvSpPr>
              <p:cNvPr name="TextBox 5" id="5"/>
              <p:cNvSpPr txBox="true"/>
              <p:nvPr/>
            </p:nvSpPr>
            <p:spPr>
              <a:xfrm>
                <a:off x="0" y="-38100"/>
                <a:ext cx="573090"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01268"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2741218" y="3628106"/>
            <a:ext cx="12900095" cy="5059045"/>
          </a:xfrm>
          <a:prstGeom prst="rect">
            <a:avLst/>
          </a:prstGeom>
        </p:spPr>
        <p:txBody>
          <a:bodyPr anchor="t" rtlCol="false" tIns="0" lIns="0" bIns="0" rIns="0">
            <a:spAutoFit/>
          </a:bodyPr>
          <a:lstStyle/>
          <a:p>
            <a:pPr algn="just">
              <a:lnSpc>
                <a:spcPts val="3079"/>
              </a:lnSpc>
            </a:pPr>
            <a:r>
              <a:rPr lang="en-US" sz="2199">
                <a:solidFill>
                  <a:srgbClr val="FFFFFF"/>
                </a:solidFill>
                <a:latin typeface="Canva Sans"/>
                <a:ea typeface="Canva Sans"/>
                <a:cs typeface="Canva Sans"/>
                <a:sym typeface="Canva Sans"/>
              </a:rPr>
              <a:t>We examine how patients pay for their care by looking at insurance distribution at admission and overlay average hospital length of stay to surface differences in resource use.</a:t>
            </a:r>
          </a:p>
          <a:p>
            <a:pPr algn="just">
              <a:lnSpc>
                <a:spcPts val="3079"/>
              </a:lnSpc>
            </a:pPr>
          </a:p>
          <a:p>
            <a:pPr algn="just" marL="474978" indent="-237489" lvl="1">
              <a:lnSpc>
                <a:spcPts val="3079"/>
              </a:lnSpc>
              <a:buFont typeface="Arial"/>
              <a:buChar char="•"/>
            </a:pPr>
            <a:r>
              <a:rPr lang="en-US" sz="2199">
                <a:solidFill>
                  <a:srgbClr val="FFFFFF"/>
                </a:solidFill>
                <a:latin typeface="Canva Sans"/>
                <a:ea typeface="Canva Sans"/>
                <a:cs typeface="Canva Sans"/>
                <a:sym typeface="Canva Sans"/>
              </a:rPr>
              <a:t>Medicare</a:t>
            </a:r>
            <a:r>
              <a:rPr lang="en-US" sz="2199">
                <a:solidFill>
                  <a:srgbClr val="FFFFFF"/>
                </a:solidFill>
                <a:latin typeface="Canva Sans"/>
                <a:ea typeface="Canva Sans"/>
                <a:cs typeface="Canva Sans"/>
                <a:sym typeface="Canva Sans"/>
              </a:rPr>
              <a:t> and Private plans cover the vast majority of patients, at </a:t>
            </a:r>
            <a:r>
              <a:rPr lang="en-US" b="true" sz="2199">
                <a:solidFill>
                  <a:srgbClr val="FFFFFF"/>
                </a:solidFill>
                <a:latin typeface="Canva Sans Bold"/>
                <a:ea typeface="Canva Sans Bold"/>
                <a:cs typeface="Canva Sans Bold"/>
                <a:sym typeface="Canva Sans Bold"/>
              </a:rPr>
              <a:t>45.1%</a:t>
            </a:r>
            <a:r>
              <a:rPr lang="en-US" sz="2199">
                <a:solidFill>
                  <a:srgbClr val="FFFFFF"/>
                </a:solidFill>
                <a:latin typeface="Canva Sans"/>
                <a:ea typeface="Canva Sans"/>
                <a:cs typeface="Canva Sans"/>
                <a:sym typeface="Canva Sans"/>
              </a:rPr>
              <a:t> (</a:t>
            </a:r>
            <a:r>
              <a:rPr lang="en-US" sz="2199" i="true">
                <a:solidFill>
                  <a:srgbClr val="FFFFFF"/>
                </a:solidFill>
                <a:latin typeface="Canva Sans Italics"/>
                <a:ea typeface="Canva Sans Italics"/>
                <a:cs typeface="Canva Sans Italics"/>
                <a:sym typeface="Canva Sans Italics"/>
              </a:rPr>
              <a:t>21,002</a:t>
            </a:r>
            <a:r>
              <a:rPr lang="en-US" sz="2199">
                <a:solidFill>
                  <a:srgbClr val="FFFFFF"/>
                </a:solidFill>
                <a:latin typeface="Canva Sans"/>
                <a:ea typeface="Canva Sans"/>
                <a:cs typeface="Canva Sans"/>
                <a:sym typeface="Canva Sans"/>
              </a:rPr>
              <a:t>) and </a:t>
            </a:r>
            <a:r>
              <a:rPr lang="en-US" b="true" sz="2199">
                <a:solidFill>
                  <a:srgbClr val="FFFFFF"/>
                </a:solidFill>
                <a:latin typeface="Canva Sans Bold"/>
                <a:ea typeface="Canva Sans Bold"/>
                <a:cs typeface="Canva Sans Bold"/>
                <a:sym typeface="Canva Sans Bold"/>
              </a:rPr>
              <a:t>42.3%</a:t>
            </a:r>
            <a:r>
              <a:rPr lang="en-US" sz="2199">
                <a:solidFill>
                  <a:srgbClr val="FFFFFF"/>
                </a:solidFill>
                <a:latin typeface="Canva Sans"/>
                <a:ea typeface="Canva Sans"/>
                <a:cs typeface="Canva Sans"/>
                <a:sym typeface="Canva Sans"/>
              </a:rPr>
              <a:t> (</a:t>
            </a:r>
            <a:r>
              <a:rPr lang="en-US" sz="2199" i="true">
                <a:solidFill>
                  <a:srgbClr val="FFFFFF"/>
                </a:solidFill>
                <a:latin typeface="Canva Sans Italics"/>
                <a:ea typeface="Canva Sans Italics"/>
                <a:cs typeface="Canva Sans Italics"/>
                <a:sym typeface="Canva Sans Italics"/>
              </a:rPr>
              <a:t>19,663</a:t>
            </a:r>
            <a:r>
              <a:rPr lang="en-US" sz="2199">
                <a:solidFill>
                  <a:srgbClr val="FFFFFF"/>
                </a:solidFill>
                <a:latin typeface="Canva Sans"/>
                <a:ea typeface="Canva Sans"/>
                <a:cs typeface="Canva Sans"/>
                <a:sym typeface="Canva Sans"/>
              </a:rPr>
              <a:t>) respectively.</a:t>
            </a:r>
          </a:p>
          <a:p>
            <a:pPr algn="just" marL="474978" indent="-237489" lvl="1">
              <a:lnSpc>
                <a:spcPts val="3079"/>
              </a:lnSpc>
              <a:buFont typeface="Arial"/>
              <a:buChar char="•"/>
            </a:pPr>
            <a:r>
              <a:rPr lang="en-US" sz="2199">
                <a:solidFill>
                  <a:srgbClr val="FFFFFF"/>
                </a:solidFill>
                <a:latin typeface="Canva Sans"/>
                <a:ea typeface="Canva Sans"/>
                <a:cs typeface="Canva Sans"/>
                <a:sym typeface="Canva Sans"/>
              </a:rPr>
              <a:t>Medicaid accounts for </a:t>
            </a:r>
            <a:r>
              <a:rPr lang="en-US" b="true" sz="2199">
                <a:solidFill>
                  <a:srgbClr val="FFFFFF"/>
                </a:solidFill>
                <a:latin typeface="Canva Sans Bold"/>
                <a:ea typeface="Canva Sans Bold"/>
                <a:cs typeface="Canva Sans Bold"/>
                <a:sym typeface="Canva Sans Bold"/>
              </a:rPr>
              <a:t>9.8%</a:t>
            </a:r>
            <a:r>
              <a:rPr lang="en-US" sz="2199">
                <a:solidFill>
                  <a:srgbClr val="FFFFFF"/>
                </a:solidFill>
                <a:latin typeface="Canva Sans"/>
                <a:ea typeface="Canva Sans"/>
                <a:cs typeface="Canva Sans"/>
                <a:sym typeface="Canva Sans"/>
              </a:rPr>
              <a:t> of patients (</a:t>
            </a:r>
            <a:r>
              <a:rPr lang="en-US" sz="2199" i="true">
                <a:solidFill>
                  <a:srgbClr val="FFFFFF"/>
                </a:solidFill>
                <a:latin typeface="Canva Sans Italics"/>
                <a:ea typeface="Canva Sans Italics"/>
                <a:cs typeface="Canva Sans Italics"/>
                <a:sym typeface="Canva Sans Italics"/>
              </a:rPr>
              <a:t>4,570</a:t>
            </a:r>
            <a:r>
              <a:rPr lang="en-US" sz="2199">
                <a:solidFill>
                  <a:srgbClr val="FFFFFF"/>
                </a:solidFill>
                <a:latin typeface="Canva Sans"/>
                <a:ea typeface="Canva Sans"/>
                <a:cs typeface="Canva Sans"/>
                <a:sym typeface="Canva Sans"/>
              </a:rPr>
              <a:t>) but has the longest average stay at </a:t>
            </a:r>
            <a:r>
              <a:rPr lang="en-US" sz="2199" u="sng">
                <a:solidFill>
                  <a:srgbClr val="FFFFFF"/>
                </a:solidFill>
                <a:latin typeface="Canva Sans"/>
                <a:ea typeface="Canva Sans"/>
                <a:cs typeface="Canva Sans"/>
                <a:sym typeface="Canva Sans"/>
              </a:rPr>
              <a:t>11.4 days</a:t>
            </a:r>
            <a:r>
              <a:rPr lang="en-US" sz="2199">
                <a:solidFill>
                  <a:srgbClr val="FFFFFF"/>
                </a:solidFill>
                <a:latin typeface="Canva Sans"/>
                <a:ea typeface="Canva Sans"/>
                <a:cs typeface="Canva Sans"/>
                <a:sym typeface="Canva Sans"/>
              </a:rPr>
              <a:t>.</a:t>
            </a:r>
          </a:p>
          <a:p>
            <a:pPr algn="just" marL="474978" indent="-237489" lvl="1">
              <a:lnSpc>
                <a:spcPts val="3079"/>
              </a:lnSpc>
              <a:buFont typeface="Arial"/>
              <a:buChar char="•"/>
            </a:pPr>
            <a:r>
              <a:rPr lang="en-US" sz="2199">
                <a:solidFill>
                  <a:srgbClr val="FFFFFF"/>
                </a:solidFill>
                <a:latin typeface="Canva Sans"/>
                <a:ea typeface="Canva Sans"/>
                <a:cs typeface="Canva Sans"/>
                <a:sym typeface="Canva Sans"/>
              </a:rPr>
              <a:t>Government insurance covers </a:t>
            </a:r>
            <a:r>
              <a:rPr lang="en-US" b="true" sz="2199">
                <a:solidFill>
                  <a:srgbClr val="FFFFFF"/>
                </a:solidFill>
                <a:latin typeface="Canva Sans Bold"/>
                <a:ea typeface="Canva Sans Bold"/>
                <a:cs typeface="Canva Sans Bold"/>
                <a:sym typeface="Canva Sans Bold"/>
              </a:rPr>
              <a:t>3.5%</a:t>
            </a:r>
            <a:r>
              <a:rPr lang="en-US" sz="2199">
                <a:solidFill>
                  <a:srgbClr val="FFFFFF"/>
                </a:solidFill>
                <a:latin typeface="Canva Sans"/>
                <a:ea typeface="Canva Sans"/>
                <a:cs typeface="Canva Sans"/>
                <a:sym typeface="Canva Sans"/>
              </a:rPr>
              <a:t> (</a:t>
            </a:r>
            <a:r>
              <a:rPr lang="en-US" sz="2199" i="true">
                <a:solidFill>
                  <a:srgbClr val="FFFFFF"/>
                </a:solidFill>
                <a:latin typeface="Canva Sans Italics"/>
                <a:ea typeface="Canva Sans Italics"/>
                <a:cs typeface="Canva Sans Italics"/>
                <a:sym typeface="Canva Sans Italics"/>
              </a:rPr>
              <a:t>1,614</a:t>
            </a:r>
            <a:r>
              <a:rPr lang="en-US" sz="2199">
                <a:solidFill>
                  <a:srgbClr val="FFFFFF"/>
                </a:solidFill>
                <a:latin typeface="Canva Sans"/>
                <a:ea typeface="Canva Sans"/>
                <a:cs typeface="Canva Sans"/>
                <a:sym typeface="Canva Sans"/>
              </a:rPr>
              <a:t>) with an average stay of </a:t>
            </a:r>
            <a:r>
              <a:rPr lang="en-US" sz="2199" u="sng">
                <a:solidFill>
                  <a:srgbClr val="FFFFFF"/>
                </a:solidFill>
                <a:latin typeface="Canva Sans"/>
                <a:ea typeface="Canva Sans"/>
                <a:cs typeface="Canva Sans"/>
                <a:sym typeface="Canva Sans"/>
              </a:rPr>
              <a:t>9.7 days</a:t>
            </a:r>
            <a:r>
              <a:rPr lang="en-US" sz="2199">
                <a:solidFill>
                  <a:srgbClr val="FFFFFF"/>
                </a:solidFill>
                <a:latin typeface="Canva Sans"/>
                <a:ea typeface="Canva Sans"/>
                <a:cs typeface="Canva Sans"/>
                <a:sym typeface="Canva Sans"/>
              </a:rPr>
              <a:t>, closely mirroring Medicare (</a:t>
            </a:r>
            <a:r>
              <a:rPr lang="en-US" sz="2199" i="true" u="sng">
                <a:solidFill>
                  <a:srgbClr val="FFFFFF"/>
                </a:solidFill>
                <a:latin typeface="Canva Sans Italics"/>
                <a:ea typeface="Canva Sans Italics"/>
                <a:cs typeface="Canva Sans Italics"/>
                <a:sym typeface="Canva Sans Italics"/>
              </a:rPr>
              <a:t>9.9 days</a:t>
            </a:r>
            <a:r>
              <a:rPr lang="en-US" sz="2199">
                <a:solidFill>
                  <a:srgbClr val="FFFFFF"/>
                </a:solidFill>
                <a:latin typeface="Canva Sans"/>
                <a:ea typeface="Canva Sans"/>
                <a:cs typeface="Canva Sans"/>
                <a:sym typeface="Canva Sans"/>
              </a:rPr>
              <a:t>).</a:t>
            </a:r>
          </a:p>
          <a:p>
            <a:pPr algn="just" marL="474978" indent="-237489" lvl="1">
              <a:lnSpc>
                <a:spcPts val="3079"/>
              </a:lnSpc>
              <a:buFont typeface="Arial"/>
              <a:buChar char="•"/>
            </a:pPr>
            <a:r>
              <a:rPr lang="en-US" sz="2199">
                <a:solidFill>
                  <a:srgbClr val="FFFFFF"/>
                </a:solidFill>
                <a:latin typeface="Canva Sans"/>
                <a:ea typeface="Canva Sans"/>
                <a:cs typeface="Canva Sans"/>
                <a:sym typeface="Canva Sans"/>
              </a:rPr>
              <a:t>Self Pay represents only </a:t>
            </a:r>
            <a:r>
              <a:rPr lang="en-US" b="true" sz="2199">
                <a:solidFill>
                  <a:srgbClr val="FFFFFF"/>
                </a:solidFill>
                <a:latin typeface="Canva Sans Bold"/>
                <a:ea typeface="Canva Sans Bold"/>
                <a:cs typeface="Canva Sans Bold"/>
                <a:sym typeface="Canva Sans Bold"/>
              </a:rPr>
              <a:t>1.3% </a:t>
            </a:r>
            <a:r>
              <a:rPr lang="en-US" sz="2199">
                <a:solidFill>
                  <a:srgbClr val="FFFFFF"/>
                </a:solidFill>
                <a:latin typeface="Canva Sans"/>
                <a:ea typeface="Canva Sans"/>
                <a:cs typeface="Canva Sans"/>
                <a:sym typeface="Canva Sans"/>
              </a:rPr>
              <a:t>(</a:t>
            </a:r>
            <a:r>
              <a:rPr lang="en-US" sz="2199" i="true">
                <a:solidFill>
                  <a:srgbClr val="FFFFFF"/>
                </a:solidFill>
                <a:latin typeface="Canva Sans Italics"/>
                <a:ea typeface="Canva Sans Italics"/>
                <a:cs typeface="Canva Sans Italics"/>
                <a:sym typeface="Canva Sans Italics"/>
              </a:rPr>
              <a:t>600</a:t>
            </a:r>
            <a:r>
              <a:rPr lang="en-US" sz="2199">
                <a:solidFill>
                  <a:srgbClr val="FFFFFF"/>
                </a:solidFill>
                <a:latin typeface="Canva Sans"/>
                <a:ea typeface="Canva Sans"/>
                <a:cs typeface="Canva Sans"/>
                <a:sym typeface="Canva Sans"/>
              </a:rPr>
              <a:t>) and has the shortest average stay of </a:t>
            </a:r>
            <a:r>
              <a:rPr lang="en-US" sz="2199" u="sng">
                <a:solidFill>
                  <a:srgbClr val="FFFFFF"/>
                </a:solidFill>
                <a:latin typeface="Canva Sans"/>
                <a:ea typeface="Canva Sans"/>
                <a:cs typeface="Canva Sans"/>
                <a:sym typeface="Canva Sans"/>
              </a:rPr>
              <a:t>6.3 days</a:t>
            </a:r>
            <a:r>
              <a:rPr lang="en-US" sz="2199">
                <a:solidFill>
                  <a:srgbClr val="FFFFFF"/>
                </a:solidFill>
                <a:latin typeface="Canva Sans"/>
                <a:ea typeface="Canva Sans"/>
                <a:cs typeface="Canva Sans"/>
                <a:sym typeface="Canva Sans"/>
              </a:rPr>
              <a:t>.</a:t>
            </a:r>
          </a:p>
          <a:p>
            <a:pPr algn="just">
              <a:lnSpc>
                <a:spcPts val="3079"/>
              </a:lnSpc>
            </a:pPr>
          </a:p>
          <a:p>
            <a:pPr algn="just">
              <a:lnSpc>
                <a:spcPts val="3079"/>
              </a:lnSpc>
            </a:pPr>
            <a:r>
              <a:rPr lang="en-US" sz="2199">
                <a:solidFill>
                  <a:srgbClr val="FFFFFF"/>
                </a:solidFill>
                <a:latin typeface="Canva Sans"/>
                <a:ea typeface="Canva Sans"/>
                <a:cs typeface="Canva Sans"/>
                <a:sym typeface="Canva Sans"/>
              </a:rPr>
              <a:t>Medicaid patients stay longest on average, suggesting higher medical complexity or barriers to prompt discharge. Self-pay’s shorter stays may reflect financial pressures to minimize inpatient time.</a:t>
            </a:r>
          </a:p>
        </p:txBody>
      </p:sp>
      <p:sp>
        <p:nvSpPr>
          <p:cNvPr name="TextBox 10" id="10"/>
          <p:cNvSpPr txBox="true"/>
          <p:nvPr/>
        </p:nvSpPr>
        <p:spPr>
          <a:xfrm rot="0">
            <a:off x="3074455" y="761640"/>
            <a:ext cx="7076150"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Coverage and Care Access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08891" cy="13716000"/>
              <a:chOff x="0" y="0"/>
              <a:chExt cx="574596" cy="2709333"/>
            </a:xfrm>
          </p:grpSpPr>
          <p:sp>
            <p:nvSpPr>
              <p:cNvPr name="Freeform 4" id="4"/>
              <p:cNvSpPr/>
              <p:nvPr/>
            </p:nvSpPr>
            <p:spPr>
              <a:xfrm flipH="false" flipV="false" rot="0">
                <a:off x="0" y="0"/>
                <a:ext cx="574596" cy="2709333"/>
              </a:xfrm>
              <a:custGeom>
                <a:avLst/>
                <a:gdLst/>
                <a:ahLst/>
                <a:cxnLst/>
                <a:rect r="r" b="b" t="t" l="l"/>
                <a:pathLst>
                  <a:path h="2709333" w="574596">
                    <a:moveTo>
                      <a:pt x="0" y="0"/>
                    </a:moveTo>
                    <a:lnTo>
                      <a:pt x="574596" y="0"/>
                    </a:lnTo>
                    <a:lnTo>
                      <a:pt x="574596" y="2709333"/>
                    </a:lnTo>
                    <a:lnTo>
                      <a:pt x="0" y="2709333"/>
                    </a:lnTo>
                    <a:close/>
                  </a:path>
                </a:pathLst>
              </a:custGeom>
              <a:solidFill>
                <a:srgbClr val="0C535C"/>
              </a:solidFill>
            </p:spPr>
          </p:sp>
          <p:sp>
            <p:nvSpPr>
              <p:cNvPr name="TextBox 5" id="5"/>
              <p:cNvSpPr txBox="true"/>
              <p:nvPr/>
            </p:nvSpPr>
            <p:spPr>
              <a:xfrm>
                <a:off x="0" y="-38100"/>
                <a:ext cx="57459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08891" y="0"/>
              <a:ext cx="21475109" cy="13716000"/>
              <a:chOff x="0" y="0"/>
              <a:chExt cx="4241997" cy="2709333"/>
            </a:xfrm>
          </p:grpSpPr>
          <p:sp>
            <p:nvSpPr>
              <p:cNvPr name="Freeform 7" id="7"/>
              <p:cNvSpPr/>
              <p:nvPr/>
            </p:nvSpPr>
            <p:spPr>
              <a:xfrm flipH="false" flipV="false" rot="0">
                <a:off x="0" y="0"/>
                <a:ext cx="4241997" cy="2709333"/>
              </a:xfrm>
              <a:custGeom>
                <a:avLst/>
                <a:gdLst/>
                <a:ahLst/>
                <a:cxnLst/>
                <a:rect r="r" b="b" t="t" l="l"/>
                <a:pathLst>
                  <a:path h="2709333" w="4241997">
                    <a:moveTo>
                      <a:pt x="0" y="0"/>
                    </a:moveTo>
                    <a:lnTo>
                      <a:pt x="4241997" y="0"/>
                    </a:lnTo>
                    <a:lnTo>
                      <a:pt x="4241997" y="2709333"/>
                    </a:lnTo>
                    <a:lnTo>
                      <a:pt x="0" y="2709333"/>
                    </a:lnTo>
                    <a:close/>
                  </a:path>
                </a:pathLst>
              </a:custGeom>
              <a:solidFill>
                <a:srgbClr val="000000"/>
              </a:solidFill>
            </p:spPr>
          </p:sp>
          <p:sp>
            <p:nvSpPr>
              <p:cNvPr name="TextBox 8" id="8"/>
              <p:cNvSpPr txBox="true"/>
              <p:nvPr/>
            </p:nvSpPr>
            <p:spPr>
              <a:xfrm>
                <a:off x="0" y="-38100"/>
                <a:ext cx="4241997"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2702865" y="3610263"/>
            <a:ext cx="5792079" cy="2500000"/>
          </a:xfrm>
          <a:custGeom>
            <a:avLst/>
            <a:gdLst/>
            <a:ahLst/>
            <a:cxnLst/>
            <a:rect r="r" b="b" t="t" l="l"/>
            <a:pathLst>
              <a:path h="2500000" w="5792079">
                <a:moveTo>
                  <a:pt x="0" y="0"/>
                </a:moveTo>
                <a:lnTo>
                  <a:pt x="5792079" y="0"/>
                </a:lnTo>
                <a:lnTo>
                  <a:pt x="5792079" y="2500000"/>
                </a:lnTo>
                <a:lnTo>
                  <a:pt x="0" y="2500000"/>
                </a:lnTo>
                <a:lnTo>
                  <a:pt x="0" y="0"/>
                </a:lnTo>
                <a:close/>
              </a:path>
            </a:pathLst>
          </a:custGeom>
          <a:blipFill>
            <a:blip r:embed="rId2"/>
            <a:stretch>
              <a:fillRect l="0" t="0" r="0" b="0"/>
            </a:stretch>
          </a:blipFill>
        </p:spPr>
      </p:sp>
      <p:sp>
        <p:nvSpPr>
          <p:cNvPr name="Freeform 10" id="10"/>
          <p:cNvSpPr/>
          <p:nvPr/>
        </p:nvSpPr>
        <p:spPr>
          <a:xfrm flipH="false" flipV="false" rot="0">
            <a:off x="9144000" y="3566590"/>
            <a:ext cx="8091336" cy="2587346"/>
          </a:xfrm>
          <a:custGeom>
            <a:avLst/>
            <a:gdLst/>
            <a:ahLst/>
            <a:cxnLst/>
            <a:rect r="r" b="b" t="t" l="l"/>
            <a:pathLst>
              <a:path h="2587346" w="8091336">
                <a:moveTo>
                  <a:pt x="0" y="0"/>
                </a:moveTo>
                <a:lnTo>
                  <a:pt x="8091336" y="0"/>
                </a:lnTo>
                <a:lnTo>
                  <a:pt x="8091336" y="2587346"/>
                </a:lnTo>
                <a:lnTo>
                  <a:pt x="0" y="2587346"/>
                </a:lnTo>
                <a:lnTo>
                  <a:pt x="0" y="0"/>
                </a:lnTo>
                <a:close/>
              </a:path>
            </a:pathLst>
          </a:custGeom>
          <a:blipFill>
            <a:blip r:embed="rId3"/>
            <a:stretch>
              <a:fillRect l="0" t="0" r="0" b="0"/>
            </a:stretch>
          </a:blipFill>
        </p:spPr>
      </p:sp>
      <p:sp>
        <p:nvSpPr>
          <p:cNvPr name="Freeform 11" id="11"/>
          <p:cNvSpPr/>
          <p:nvPr/>
        </p:nvSpPr>
        <p:spPr>
          <a:xfrm flipH="false" flipV="false" rot="0">
            <a:off x="5513198" y="6416719"/>
            <a:ext cx="7309533" cy="2841581"/>
          </a:xfrm>
          <a:custGeom>
            <a:avLst/>
            <a:gdLst/>
            <a:ahLst/>
            <a:cxnLst/>
            <a:rect r="r" b="b" t="t" l="l"/>
            <a:pathLst>
              <a:path h="2841581" w="7309533">
                <a:moveTo>
                  <a:pt x="0" y="0"/>
                </a:moveTo>
                <a:lnTo>
                  <a:pt x="7309533" y="0"/>
                </a:lnTo>
                <a:lnTo>
                  <a:pt x="7309533" y="2841581"/>
                </a:lnTo>
                <a:lnTo>
                  <a:pt x="0" y="2841581"/>
                </a:lnTo>
                <a:lnTo>
                  <a:pt x="0" y="0"/>
                </a:lnTo>
                <a:close/>
              </a:path>
            </a:pathLst>
          </a:custGeom>
          <a:blipFill>
            <a:blip r:embed="rId4"/>
            <a:stretch>
              <a:fillRect l="0" t="0" r="0" b="0"/>
            </a:stretch>
          </a:blipFill>
        </p:spPr>
      </p:sp>
      <p:sp>
        <p:nvSpPr>
          <p:cNvPr name="TextBox 12" id="12"/>
          <p:cNvSpPr txBox="true"/>
          <p:nvPr/>
        </p:nvSpPr>
        <p:spPr>
          <a:xfrm rot="0">
            <a:off x="3074455" y="761640"/>
            <a:ext cx="7076150"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Coverage and Care Access Visuals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5172"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4520592" y="914400"/>
            <a:ext cx="8980445" cy="1028700"/>
          </a:xfrm>
          <a:prstGeom prst="rect">
            <a:avLst/>
          </a:prstGeom>
        </p:spPr>
        <p:txBody>
          <a:bodyPr anchor="t" rtlCol="false" tIns="0" lIns="0" bIns="0" rIns="0">
            <a:spAutoFit/>
          </a:bodyPr>
          <a:lstStyle/>
          <a:p>
            <a:pPr algn="ctr">
              <a:lnSpc>
                <a:spcPts val="8400"/>
              </a:lnSpc>
            </a:pPr>
            <a:r>
              <a:rPr lang="en-US" sz="6000" b="true">
                <a:solidFill>
                  <a:srgbClr val="FFFFFF"/>
                </a:solidFill>
                <a:latin typeface="Canva Sans Bold"/>
                <a:ea typeface="Canva Sans Bold"/>
                <a:cs typeface="Canva Sans Bold"/>
                <a:sym typeface="Canva Sans Bold"/>
              </a:rPr>
              <a:t>ICU Utilization</a:t>
            </a:r>
          </a:p>
        </p:txBody>
      </p:sp>
      <p:sp>
        <p:nvSpPr>
          <p:cNvPr name="TextBox 10" id="10"/>
          <p:cNvSpPr txBox="true"/>
          <p:nvPr/>
        </p:nvSpPr>
        <p:spPr>
          <a:xfrm rot="0">
            <a:off x="2744024" y="2363294"/>
            <a:ext cx="13432002" cy="6373706"/>
          </a:xfrm>
          <a:prstGeom prst="rect">
            <a:avLst/>
          </a:prstGeom>
        </p:spPr>
        <p:txBody>
          <a:bodyPr anchor="t" rtlCol="false" tIns="0" lIns="0" bIns="0" rIns="0">
            <a:spAutoFit/>
          </a:bodyPr>
          <a:lstStyle/>
          <a:p>
            <a:pPr algn="just">
              <a:lnSpc>
                <a:spcPts val="4643"/>
              </a:lnSpc>
            </a:pPr>
            <a:r>
              <a:rPr lang="en-US" sz="3316">
                <a:solidFill>
                  <a:srgbClr val="FFFFFF"/>
                </a:solidFill>
                <a:latin typeface="Canva Sans"/>
                <a:ea typeface="Canva Sans"/>
                <a:cs typeface="Canva Sans"/>
                <a:sym typeface="Canva Sans"/>
              </a:rPr>
              <a:t>We pivot from payer-based length of stay to critical-care intensity, linking admissions with ICU stays, summarizing by unit, and then isolating those admissions whose ICU hours exceed the overall average.</a:t>
            </a:r>
          </a:p>
          <a:p>
            <a:pPr algn="just">
              <a:lnSpc>
                <a:spcPts val="4643"/>
              </a:lnSpc>
            </a:pPr>
          </a:p>
          <a:p>
            <a:pPr algn="just" marL="716076" indent="-358038" lvl="1">
              <a:lnSpc>
                <a:spcPts val="4643"/>
              </a:lnSpc>
              <a:buFont typeface="Arial"/>
              <a:buChar char="•"/>
            </a:pPr>
            <a:r>
              <a:rPr lang="en-US" sz="3316">
                <a:solidFill>
                  <a:srgbClr val="FFFFFF"/>
                </a:solidFill>
                <a:latin typeface="Canva Sans"/>
                <a:ea typeface="Canva Sans"/>
                <a:cs typeface="Canva Sans"/>
                <a:sym typeface="Canva Sans"/>
              </a:rPr>
              <a:t>These top 10 admissions recorded ICU stays of </a:t>
            </a:r>
            <a:r>
              <a:rPr lang="en-US" b="true" sz="3316">
                <a:solidFill>
                  <a:srgbClr val="FFFFFF"/>
                </a:solidFill>
                <a:latin typeface="Canva Sans Bold"/>
                <a:ea typeface="Canva Sans Bold"/>
                <a:cs typeface="Canva Sans Bold"/>
                <a:sym typeface="Canva Sans Bold"/>
              </a:rPr>
              <a:t>3,493–4,154</a:t>
            </a:r>
            <a:r>
              <a:rPr lang="en-US" sz="3316">
                <a:solidFill>
                  <a:srgbClr val="FFFFFF"/>
                </a:solidFill>
                <a:latin typeface="Canva Sans"/>
                <a:ea typeface="Canva Sans"/>
                <a:cs typeface="Canva Sans"/>
                <a:sym typeface="Canva Sans"/>
              </a:rPr>
              <a:t> </a:t>
            </a:r>
            <a:r>
              <a:rPr lang="en-US" b="true" sz="3316">
                <a:solidFill>
                  <a:srgbClr val="FFFFFF"/>
                </a:solidFill>
                <a:latin typeface="Canva Sans Bold"/>
                <a:ea typeface="Canva Sans Bold"/>
                <a:cs typeface="Canva Sans Bold"/>
                <a:sym typeface="Canva Sans Bold"/>
              </a:rPr>
              <a:t>hours</a:t>
            </a:r>
            <a:r>
              <a:rPr lang="en-US" sz="3316">
                <a:solidFill>
                  <a:srgbClr val="FFFFFF"/>
                </a:solidFill>
                <a:latin typeface="Canva Sans"/>
                <a:ea typeface="Canva Sans"/>
                <a:cs typeface="Canva Sans"/>
                <a:sym typeface="Canva Sans"/>
              </a:rPr>
              <a:t> (≈</a:t>
            </a:r>
            <a:r>
              <a:rPr lang="en-US" sz="3316" u="sng">
                <a:solidFill>
                  <a:srgbClr val="FFFFFF"/>
                </a:solidFill>
                <a:latin typeface="Canva Sans"/>
                <a:ea typeface="Canva Sans"/>
                <a:cs typeface="Canva Sans"/>
                <a:sym typeface="Canva Sans"/>
              </a:rPr>
              <a:t>145–173 days</a:t>
            </a:r>
            <a:r>
              <a:rPr lang="en-US" sz="3316">
                <a:solidFill>
                  <a:srgbClr val="FFFFFF"/>
                </a:solidFill>
                <a:latin typeface="Canva Sans"/>
                <a:ea typeface="Canva Sans"/>
                <a:cs typeface="Canva Sans"/>
                <a:sym typeface="Canva Sans"/>
              </a:rPr>
              <a:t>), signaling either prolonged chronic critical care or potential timestamp anomalies.</a:t>
            </a:r>
          </a:p>
          <a:p>
            <a:pPr algn="just">
              <a:lnSpc>
                <a:spcPts val="4643"/>
              </a:lnSpc>
            </a:pPr>
          </a:p>
          <a:p>
            <a:pPr algn="just" marL="716076" indent="-358038" lvl="1">
              <a:lnSpc>
                <a:spcPts val="4643"/>
              </a:lnSpc>
              <a:buFont typeface="Arial"/>
              <a:buChar char="•"/>
            </a:pPr>
            <a:r>
              <a:rPr lang="en-US" sz="3316">
                <a:solidFill>
                  <a:srgbClr val="FFFFFF"/>
                </a:solidFill>
                <a:latin typeface="Canva Sans"/>
                <a:ea typeface="Canva Sans"/>
                <a:cs typeface="Canva Sans"/>
                <a:sym typeface="Canva Sans"/>
              </a:rPr>
              <a:t>Outliers concentrate at hospitals </a:t>
            </a:r>
            <a:r>
              <a:rPr lang="en-US" sz="3316" i="true">
                <a:solidFill>
                  <a:srgbClr val="FFFFFF"/>
                </a:solidFill>
                <a:latin typeface="Canva Sans Italics"/>
                <a:ea typeface="Canva Sans Italics"/>
                <a:cs typeface="Canva Sans Italics"/>
                <a:sym typeface="Canva Sans Italics"/>
              </a:rPr>
              <a:t>194773 </a:t>
            </a:r>
            <a:r>
              <a:rPr lang="en-US" sz="3316">
                <a:solidFill>
                  <a:srgbClr val="FFFFFF"/>
                </a:solidFill>
                <a:latin typeface="Canva Sans"/>
                <a:ea typeface="Canva Sans"/>
                <a:cs typeface="Canva Sans"/>
                <a:sym typeface="Canva Sans"/>
              </a:rPr>
              <a:t>and </a:t>
            </a:r>
            <a:r>
              <a:rPr lang="en-US" sz="3316" i="true">
                <a:solidFill>
                  <a:srgbClr val="FFFFFF"/>
                </a:solidFill>
                <a:latin typeface="Canva Sans Italics"/>
                <a:ea typeface="Canva Sans Italics"/>
                <a:cs typeface="Canva Sans Italics"/>
                <a:sym typeface="Canva Sans Italics"/>
              </a:rPr>
              <a:t>176860</a:t>
            </a:r>
            <a:r>
              <a:rPr lang="en-US" sz="3316">
                <a:solidFill>
                  <a:srgbClr val="FFFFFF"/>
                </a:solidFill>
                <a:latin typeface="Canva Sans"/>
                <a:ea typeface="Canva Sans"/>
                <a:cs typeface="Canva Sans"/>
                <a:sym typeface="Canva Sans"/>
              </a:rPr>
              <a:t>, hinting at institutional practices or unique patient populations.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5172"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2580026" y="2273516"/>
            <a:ext cx="4850219" cy="4096241"/>
          </a:xfrm>
          <a:custGeom>
            <a:avLst/>
            <a:gdLst/>
            <a:ahLst/>
            <a:cxnLst/>
            <a:rect r="r" b="b" t="t" l="l"/>
            <a:pathLst>
              <a:path h="4096241" w="4850219">
                <a:moveTo>
                  <a:pt x="0" y="0"/>
                </a:moveTo>
                <a:lnTo>
                  <a:pt x="4850219" y="0"/>
                </a:lnTo>
                <a:lnTo>
                  <a:pt x="4850219" y="4096241"/>
                </a:lnTo>
                <a:lnTo>
                  <a:pt x="0" y="4096241"/>
                </a:lnTo>
                <a:lnTo>
                  <a:pt x="0" y="0"/>
                </a:lnTo>
                <a:close/>
              </a:path>
            </a:pathLst>
          </a:custGeom>
          <a:blipFill>
            <a:blip r:embed="rId2"/>
            <a:stretch>
              <a:fillRect l="0" t="0" r="0" b="0"/>
            </a:stretch>
          </a:blipFill>
        </p:spPr>
      </p:sp>
      <p:sp>
        <p:nvSpPr>
          <p:cNvPr name="Freeform 10" id="10"/>
          <p:cNvSpPr/>
          <p:nvPr/>
        </p:nvSpPr>
        <p:spPr>
          <a:xfrm flipH="false" flipV="false" rot="0">
            <a:off x="2433883" y="6614456"/>
            <a:ext cx="5142505" cy="2643844"/>
          </a:xfrm>
          <a:custGeom>
            <a:avLst/>
            <a:gdLst/>
            <a:ahLst/>
            <a:cxnLst/>
            <a:rect r="r" b="b" t="t" l="l"/>
            <a:pathLst>
              <a:path h="2643844" w="5142505">
                <a:moveTo>
                  <a:pt x="0" y="0"/>
                </a:moveTo>
                <a:lnTo>
                  <a:pt x="5142505" y="0"/>
                </a:lnTo>
                <a:lnTo>
                  <a:pt x="5142505" y="2643844"/>
                </a:lnTo>
                <a:lnTo>
                  <a:pt x="0" y="2643844"/>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576" t="0" r="576" b="0"/>
          <a:stretch>
            <a:fillRect/>
          </a:stretch>
        </p:blipFill>
        <p:spPr>
          <a:xfrm flipH="false" flipV="false" rot="0">
            <a:off x="9010815" y="3805673"/>
            <a:ext cx="8248186" cy="3299275"/>
          </a:xfrm>
          <a:prstGeom prst="rect">
            <a:avLst/>
          </a:prstGeom>
        </p:spPr>
      </p:pic>
      <p:sp>
        <p:nvSpPr>
          <p:cNvPr name="TextBox 12" id="12"/>
          <p:cNvSpPr txBox="true"/>
          <p:nvPr/>
        </p:nvSpPr>
        <p:spPr>
          <a:xfrm rot="0">
            <a:off x="4520592" y="914400"/>
            <a:ext cx="8980445" cy="1028700"/>
          </a:xfrm>
          <a:prstGeom prst="rect">
            <a:avLst/>
          </a:prstGeom>
        </p:spPr>
        <p:txBody>
          <a:bodyPr anchor="t" rtlCol="false" tIns="0" lIns="0" bIns="0" rIns="0">
            <a:spAutoFit/>
          </a:bodyPr>
          <a:lstStyle/>
          <a:p>
            <a:pPr algn="ctr">
              <a:lnSpc>
                <a:spcPts val="8400"/>
              </a:lnSpc>
            </a:pPr>
            <a:r>
              <a:rPr lang="en-US" sz="6000" b="true">
                <a:solidFill>
                  <a:srgbClr val="FFFFFF"/>
                </a:solidFill>
                <a:latin typeface="Canva Sans Bold"/>
                <a:ea typeface="Canva Sans Bold"/>
                <a:cs typeface="Canva Sans Bold"/>
                <a:sym typeface="Canva Sans Bold"/>
              </a:rPr>
              <a:t>ICU Utilization Visuals</a:t>
            </a:r>
          </a:p>
        </p:txBody>
      </p:sp>
    </p:spTree>
  </p:cSld>
  <p:clrMapOvr>
    <a:masterClrMapping/>
  </p:clrMapOvr>
  <p:transition spd="fast">
    <p:fade/>
  </p:transition>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478338" y="1250033"/>
            <a:ext cx="9522431" cy="10572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The Diagnosis Landscape</a:t>
            </a:r>
          </a:p>
        </p:txBody>
      </p:sp>
      <p:sp>
        <p:nvSpPr>
          <p:cNvPr name="TextBox 10" id="10"/>
          <p:cNvSpPr txBox="true"/>
          <p:nvPr/>
        </p:nvSpPr>
        <p:spPr>
          <a:xfrm rot="0">
            <a:off x="3031517" y="2816728"/>
            <a:ext cx="12547444" cy="5848467"/>
          </a:xfrm>
          <a:prstGeom prst="rect">
            <a:avLst/>
          </a:prstGeom>
        </p:spPr>
        <p:txBody>
          <a:bodyPr anchor="t" rtlCol="false" tIns="0" lIns="0" bIns="0" rIns="0">
            <a:spAutoFit/>
          </a:bodyPr>
          <a:lstStyle/>
          <a:p>
            <a:pPr algn="l">
              <a:lnSpc>
                <a:spcPts val="3143"/>
              </a:lnSpc>
            </a:pPr>
            <a:r>
              <a:rPr lang="en-US" sz="2245">
                <a:solidFill>
                  <a:srgbClr val="FFFFFF"/>
                </a:solidFill>
                <a:latin typeface="Canva Sans"/>
                <a:ea typeface="Canva Sans"/>
                <a:cs typeface="Canva Sans"/>
                <a:sym typeface="Canva Sans"/>
              </a:rPr>
              <a:t>W</a:t>
            </a:r>
            <a:r>
              <a:rPr lang="en-US" sz="2245">
                <a:solidFill>
                  <a:srgbClr val="FFFFFF"/>
                </a:solidFill>
                <a:latin typeface="Canva Sans"/>
                <a:ea typeface="Canva Sans"/>
                <a:cs typeface="Canva Sans"/>
                <a:sym typeface="Canva Sans"/>
              </a:rPr>
              <a:t>e explore the most frequent Diagnosis Related Group (DRG) codes and their severity levels by joining the admissions and drgcodes tables. This reveals which conditions drive hospital admissions and how complex those cases tend to be.</a:t>
            </a:r>
          </a:p>
          <a:p>
            <a:pPr algn="l">
              <a:lnSpc>
                <a:spcPts val="3143"/>
              </a:lnSpc>
            </a:pPr>
          </a:p>
          <a:p>
            <a:pPr algn="l" marL="484779" indent="-242390" lvl="1">
              <a:lnSpc>
                <a:spcPts val="3143"/>
              </a:lnSpc>
              <a:buFont typeface="Arial"/>
              <a:buChar char="•"/>
            </a:pPr>
            <a:r>
              <a:rPr lang="en-US" sz="2245">
                <a:solidFill>
                  <a:srgbClr val="FFFFFF"/>
                </a:solidFill>
                <a:latin typeface="Canva Sans"/>
                <a:ea typeface="Canva Sans"/>
                <a:cs typeface="Canva Sans"/>
                <a:sym typeface="Canva Sans"/>
              </a:rPr>
              <a:t>Drug 7204 (“Septicemia &amp; Disseminated Infections”) appears twice at </a:t>
            </a:r>
            <a:r>
              <a:rPr lang="en-US" b="true" sz="2245">
                <a:solidFill>
                  <a:srgbClr val="FFFFFF"/>
                </a:solidFill>
                <a:latin typeface="Canva Sans Bold"/>
                <a:ea typeface="Canva Sans Bold"/>
                <a:cs typeface="Canva Sans Bold"/>
                <a:sym typeface="Canva Sans Bold"/>
              </a:rPr>
              <a:t>severity 1</a:t>
            </a:r>
            <a:r>
              <a:rPr lang="en-US" sz="2245">
                <a:solidFill>
                  <a:srgbClr val="FFFFFF"/>
                </a:solidFill>
                <a:latin typeface="Canva Sans"/>
                <a:ea typeface="Canva Sans"/>
                <a:cs typeface="Canva Sans"/>
                <a:sym typeface="Canva Sans"/>
              </a:rPr>
              <a:t> and severity 3—together accounting for </a:t>
            </a:r>
            <a:r>
              <a:rPr lang="en-US" sz="2245" u="sng">
                <a:solidFill>
                  <a:srgbClr val="FFFFFF"/>
                </a:solidFill>
                <a:latin typeface="Canva Sans"/>
                <a:ea typeface="Canva Sans"/>
                <a:cs typeface="Canva Sans"/>
                <a:sym typeface="Canva Sans"/>
              </a:rPr>
              <a:t>2,811 admissions</a:t>
            </a:r>
            <a:r>
              <a:rPr lang="en-US" sz="2245">
                <a:solidFill>
                  <a:srgbClr val="FFFFFF"/>
                </a:solidFill>
                <a:latin typeface="Canva Sans"/>
                <a:ea typeface="Canva Sans"/>
                <a:cs typeface="Canva Sans"/>
                <a:sym typeface="Canva Sans"/>
              </a:rPr>
              <a:t>.</a:t>
            </a:r>
          </a:p>
          <a:p>
            <a:pPr algn="l">
              <a:lnSpc>
                <a:spcPts val="3143"/>
              </a:lnSpc>
            </a:pPr>
          </a:p>
          <a:p>
            <a:pPr algn="l" marL="484779" indent="-242390" lvl="1">
              <a:lnSpc>
                <a:spcPts val="3143"/>
              </a:lnSpc>
              <a:buFont typeface="Arial"/>
              <a:buChar char="•"/>
            </a:pPr>
            <a:r>
              <a:rPr lang="en-US" sz="2245">
                <a:solidFill>
                  <a:srgbClr val="FFFFFF"/>
                </a:solidFill>
                <a:latin typeface="Canva Sans"/>
                <a:ea typeface="Canva Sans"/>
                <a:cs typeface="Canva Sans"/>
                <a:sym typeface="Canva Sans"/>
              </a:rPr>
              <a:t>Neonatal and cardiac surgical drugs (e.g., </a:t>
            </a:r>
            <a:r>
              <a:rPr lang="en-US" sz="2245" i="true">
                <a:solidFill>
                  <a:srgbClr val="FFFFFF"/>
                </a:solidFill>
                <a:latin typeface="Canva Sans Italics"/>
                <a:ea typeface="Canva Sans Italics"/>
                <a:cs typeface="Canva Sans Italics"/>
                <a:sym typeface="Canva Sans Italics"/>
              </a:rPr>
              <a:t>6402, 1662, 1018, 7203</a:t>
            </a:r>
            <a:r>
              <a:rPr lang="en-US" sz="2245">
                <a:solidFill>
                  <a:srgbClr val="FFFFFF"/>
                </a:solidFill>
                <a:latin typeface="Canva Sans"/>
                <a:ea typeface="Canva Sans"/>
                <a:cs typeface="Canva Sans"/>
                <a:sym typeface="Canva Sans"/>
              </a:rPr>
              <a:t>) dominate the high-volume list, reflecting major resource drivers.</a:t>
            </a:r>
          </a:p>
          <a:p>
            <a:pPr algn="l">
              <a:lnSpc>
                <a:spcPts val="3143"/>
              </a:lnSpc>
            </a:pPr>
          </a:p>
          <a:p>
            <a:pPr algn="l" marL="484779" indent="-242390" lvl="1">
              <a:lnSpc>
                <a:spcPts val="3143"/>
              </a:lnSpc>
              <a:buFont typeface="Arial"/>
              <a:buChar char="•"/>
            </a:pPr>
            <a:r>
              <a:rPr lang="en-US" b="true" sz="2245">
                <a:solidFill>
                  <a:srgbClr val="FFFFFF"/>
                </a:solidFill>
                <a:latin typeface="Canva Sans Bold"/>
                <a:ea typeface="Canva Sans Bold"/>
                <a:cs typeface="Canva Sans Bold"/>
                <a:sym typeface="Canva Sans Bold"/>
              </a:rPr>
              <a:t>Severity 1</a:t>
            </a:r>
            <a:r>
              <a:rPr lang="en-US" sz="2245">
                <a:solidFill>
                  <a:srgbClr val="FFFFFF"/>
                </a:solidFill>
                <a:latin typeface="Canva Sans"/>
                <a:ea typeface="Canva Sans"/>
                <a:cs typeface="Canva Sans"/>
                <a:sym typeface="Canva Sans"/>
              </a:rPr>
              <a:t> entries still represent large cohorts (e.g., </a:t>
            </a:r>
            <a:r>
              <a:rPr lang="en-US" b="true" sz="2245" i="true">
                <a:solidFill>
                  <a:srgbClr val="FFFFFF"/>
                </a:solidFill>
                <a:latin typeface="Canva Sans Bold Italics"/>
                <a:ea typeface="Canva Sans Bold Italics"/>
                <a:cs typeface="Canva Sans Bold Italics"/>
                <a:sym typeface="Canva Sans Bold Italics"/>
              </a:rPr>
              <a:t>1,768</a:t>
            </a:r>
            <a:r>
              <a:rPr lang="en-US" sz="2245">
                <a:solidFill>
                  <a:srgbClr val="FFFFFF"/>
                </a:solidFill>
                <a:latin typeface="Canva Sans"/>
                <a:ea typeface="Canva Sans"/>
                <a:cs typeface="Canva Sans"/>
                <a:sym typeface="Canva Sans"/>
              </a:rPr>
              <a:t> admissions for septicemia at level 1), underscoring that even “lower-complexity” groups can be common.</a:t>
            </a:r>
          </a:p>
          <a:p>
            <a:pPr algn="l">
              <a:lnSpc>
                <a:spcPts val="3143"/>
              </a:lnSpc>
            </a:pPr>
          </a:p>
          <a:p>
            <a:pPr algn="l" marL="484779" indent="-242390" lvl="1">
              <a:lnSpc>
                <a:spcPts val="3143"/>
              </a:lnSpc>
              <a:buFont typeface="Arial"/>
              <a:buChar char="•"/>
            </a:pPr>
            <a:r>
              <a:rPr lang="en-US" sz="2245">
                <a:solidFill>
                  <a:srgbClr val="FFFFFF"/>
                </a:solidFill>
                <a:latin typeface="Canva Sans"/>
                <a:ea typeface="Canva Sans"/>
                <a:cs typeface="Canva Sans"/>
                <a:sym typeface="Canva Sans"/>
              </a:rPr>
              <a:t>Presence of the same drug at multiple severities (e.g., </a:t>
            </a:r>
            <a:r>
              <a:rPr lang="en-US" sz="2245" i="true">
                <a:solidFill>
                  <a:srgbClr val="FFFFFF"/>
                </a:solidFill>
                <a:latin typeface="Canva Sans Italics"/>
                <a:ea typeface="Canva Sans Italics"/>
                <a:cs typeface="Canva Sans Italics"/>
                <a:sym typeface="Canva Sans Italics"/>
              </a:rPr>
              <a:t>7204</a:t>
            </a:r>
            <a:r>
              <a:rPr lang="en-US" sz="2245">
                <a:solidFill>
                  <a:srgbClr val="FFFFFF"/>
                </a:solidFill>
                <a:latin typeface="Canva Sans"/>
                <a:ea typeface="Canva Sans"/>
                <a:cs typeface="Canva Sans"/>
                <a:sym typeface="Canva Sans"/>
              </a:rPr>
              <a:t>) suggests a wide spectrum of clinical complexity within a single condition group.</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3872091" y="2570017"/>
            <a:ext cx="3779684" cy="2630065"/>
          </a:xfrm>
          <a:custGeom>
            <a:avLst/>
            <a:gdLst/>
            <a:ahLst/>
            <a:cxnLst/>
            <a:rect r="r" b="b" t="t" l="l"/>
            <a:pathLst>
              <a:path h="2630065" w="3779684">
                <a:moveTo>
                  <a:pt x="0" y="0"/>
                </a:moveTo>
                <a:lnTo>
                  <a:pt x="3779684" y="0"/>
                </a:lnTo>
                <a:lnTo>
                  <a:pt x="3779684" y="2630065"/>
                </a:lnTo>
                <a:lnTo>
                  <a:pt x="0" y="2630065"/>
                </a:lnTo>
                <a:lnTo>
                  <a:pt x="0" y="0"/>
                </a:lnTo>
                <a:close/>
              </a:path>
            </a:pathLst>
          </a:custGeom>
          <a:blipFill>
            <a:blip r:embed="rId2"/>
            <a:stretch>
              <a:fillRect l="0" t="0" r="0" b="0"/>
            </a:stretch>
          </a:blipFill>
        </p:spPr>
      </p:sp>
      <p:sp>
        <p:nvSpPr>
          <p:cNvPr name="Freeform 10" id="10"/>
          <p:cNvSpPr/>
          <p:nvPr/>
        </p:nvSpPr>
        <p:spPr>
          <a:xfrm flipH="false" flipV="false" rot="0">
            <a:off x="3299817" y="5462790"/>
            <a:ext cx="5387837" cy="2848819"/>
          </a:xfrm>
          <a:custGeom>
            <a:avLst/>
            <a:gdLst/>
            <a:ahLst/>
            <a:cxnLst/>
            <a:rect r="r" b="b" t="t" l="l"/>
            <a:pathLst>
              <a:path h="2848819" w="5387837">
                <a:moveTo>
                  <a:pt x="0" y="0"/>
                </a:moveTo>
                <a:lnTo>
                  <a:pt x="5387837" y="0"/>
                </a:lnTo>
                <a:lnTo>
                  <a:pt x="5387837" y="2848819"/>
                </a:lnTo>
                <a:lnTo>
                  <a:pt x="0" y="2848819"/>
                </a:lnTo>
                <a:lnTo>
                  <a:pt x="0" y="0"/>
                </a:lnTo>
                <a:close/>
              </a:path>
            </a:pathLst>
          </a:custGeom>
          <a:blipFill>
            <a:blip r:embed="rId3"/>
            <a:stretch>
              <a:fillRect l="0" t="0" r="0" b="0"/>
            </a:stretch>
          </a:blipFill>
        </p:spPr>
      </p:sp>
      <p:sp>
        <p:nvSpPr>
          <p:cNvPr name="Freeform 11" id="11"/>
          <p:cNvSpPr/>
          <p:nvPr/>
        </p:nvSpPr>
        <p:spPr>
          <a:xfrm flipH="false" flipV="false" rot="0">
            <a:off x="10319632" y="3076812"/>
            <a:ext cx="6532333" cy="2539444"/>
          </a:xfrm>
          <a:custGeom>
            <a:avLst/>
            <a:gdLst/>
            <a:ahLst/>
            <a:cxnLst/>
            <a:rect r="r" b="b" t="t" l="l"/>
            <a:pathLst>
              <a:path h="2539444" w="6532333">
                <a:moveTo>
                  <a:pt x="0" y="0"/>
                </a:moveTo>
                <a:lnTo>
                  <a:pt x="6532333" y="0"/>
                </a:lnTo>
                <a:lnTo>
                  <a:pt x="6532333" y="2539445"/>
                </a:lnTo>
                <a:lnTo>
                  <a:pt x="0" y="2539445"/>
                </a:lnTo>
                <a:lnTo>
                  <a:pt x="0" y="0"/>
                </a:lnTo>
                <a:close/>
              </a:path>
            </a:pathLst>
          </a:custGeom>
          <a:blipFill>
            <a:blip r:embed="rId4"/>
            <a:stretch>
              <a:fillRect l="0" t="0" r="0" b="0"/>
            </a:stretch>
          </a:blipFill>
        </p:spPr>
      </p:sp>
      <p:sp>
        <p:nvSpPr>
          <p:cNvPr name="Freeform 12" id="12"/>
          <p:cNvSpPr/>
          <p:nvPr/>
        </p:nvSpPr>
        <p:spPr>
          <a:xfrm flipH="false" flipV="false" rot="0">
            <a:off x="10319632" y="6014941"/>
            <a:ext cx="6455952" cy="2477472"/>
          </a:xfrm>
          <a:custGeom>
            <a:avLst/>
            <a:gdLst/>
            <a:ahLst/>
            <a:cxnLst/>
            <a:rect r="r" b="b" t="t" l="l"/>
            <a:pathLst>
              <a:path h="2477472" w="6455952">
                <a:moveTo>
                  <a:pt x="0" y="0"/>
                </a:moveTo>
                <a:lnTo>
                  <a:pt x="6455952" y="0"/>
                </a:lnTo>
                <a:lnTo>
                  <a:pt x="6455952" y="2477472"/>
                </a:lnTo>
                <a:lnTo>
                  <a:pt x="0" y="2477472"/>
                </a:lnTo>
                <a:lnTo>
                  <a:pt x="0" y="0"/>
                </a:lnTo>
                <a:close/>
              </a:path>
            </a:pathLst>
          </a:custGeom>
          <a:blipFill>
            <a:blip r:embed="rId5"/>
            <a:stretch>
              <a:fillRect l="0" t="0" r="0" b="0"/>
            </a:stretch>
          </a:blipFill>
        </p:spPr>
      </p:sp>
      <p:sp>
        <p:nvSpPr>
          <p:cNvPr name="TextBox 13" id="13"/>
          <p:cNvSpPr txBox="true"/>
          <p:nvPr/>
        </p:nvSpPr>
        <p:spPr>
          <a:xfrm rot="0">
            <a:off x="3478338" y="1250033"/>
            <a:ext cx="12311861" cy="10572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The Diagnosis Landscape Visuals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33223" y="1314529"/>
            <a:ext cx="12473100" cy="10572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Length of Stay by Drug Severity</a:t>
            </a:r>
          </a:p>
        </p:txBody>
      </p:sp>
      <p:sp>
        <p:nvSpPr>
          <p:cNvPr name="TextBox 10" id="10"/>
          <p:cNvSpPr txBox="true"/>
          <p:nvPr/>
        </p:nvSpPr>
        <p:spPr>
          <a:xfrm rot="0">
            <a:off x="2580617" y="2742167"/>
            <a:ext cx="13978312" cy="5981138"/>
          </a:xfrm>
          <a:prstGeom prst="rect">
            <a:avLst/>
          </a:prstGeom>
        </p:spPr>
        <p:txBody>
          <a:bodyPr anchor="t" rtlCol="false" tIns="0" lIns="0" bIns="0" rIns="0">
            <a:spAutoFit/>
          </a:bodyPr>
          <a:lstStyle/>
          <a:p>
            <a:pPr algn="just">
              <a:lnSpc>
                <a:spcPts val="3180"/>
              </a:lnSpc>
            </a:pPr>
            <a:r>
              <a:rPr lang="en-US" sz="2272">
                <a:solidFill>
                  <a:srgbClr val="FFFFFF"/>
                </a:solidFill>
                <a:latin typeface="Canva Sans"/>
                <a:ea typeface="Canva Sans"/>
                <a:cs typeface="Canva Sans"/>
                <a:sym typeface="Canva Sans"/>
              </a:rPr>
              <a:t>A</a:t>
            </a:r>
            <a:r>
              <a:rPr lang="en-US" sz="2272">
                <a:solidFill>
                  <a:srgbClr val="FFFFFF"/>
                </a:solidFill>
                <a:latin typeface="Canva Sans"/>
                <a:ea typeface="Canva Sans"/>
                <a:cs typeface="Canva Sans"/>
                <a:sym typeface="Canva Sans"/>
              </a:rPr>
              <a:t>ssessing how case complexity impacts ICU stay duration, sourcing  length of stay from the icustays table and filtering out null severities.</a:t>
            </a:r>
          </a:p>
          <a:p>
            <a:pPr algn="just">
              <a:lnSpc>
                <a:spcPts val="3180"/>
              </a:lnSpc>
            </a:pPr>
          </a:p>
          <a:p>
            <a:pPr algn="just" marL="490552" indent="-245276" lvl="1">
              <a:lnSpc>
                <a:spcPts val="3180"/>
              </a:lnSpc>
              <a:buFont typeface="Arial"/>
              <a:buChar char="•"/>
            </a:pPr>
            <a:r>
              <a:rPr lang="en-US" b="true" sz="2272">
                <a:solidFill>
                  <a:srgbClr val="FFFFFF"/>
                </a:solidFill>
                <a:latin typeface="Canva Sans Bold"/>
                <a:ea typeface="Canva Sans Bold"/>
                <a:cs typeface="Canva Sans Bold"/>
                <a:sym typeface="Canva Sans Bold"/>
              </a:rPr>
              <a:t>Severity 0</a:t>
            </a:r>
            <a:r>
              <a:rPr lang="en-US" sz="2272">
                <a:solidFill>
                  <a:srgbClr val="FFFFFF"/>
                </a:solidFill>
                <a:latin typeface="Canva Sans"/>
                <a:ea typeface="Canva Sans"/>
                <a:cs typeface="Canva Sans"/>
                <a:sym typeface="Canva Sans"/>
              </a:rPr>
              <a:t> shows a median ICU stay of </a:t>
            </a:r>
            <a:r>
              <a:rPr lang="en-US" sz="2272" u="sng">
                <a:solidFill>
                  <a:srgbClr val="FFFFFF"/>
                </a:solidFill>
                <a:latin typeface="Canva Sans"/>
                <a:ea typeface="Canva Sans"/>
                <a:cs typeface="Canva Sans"/>
                <a:sym typeface="Canva Sans"/>
              </a:rPr>
              <a:t>19.05 days</a:t>
            </a:r>
            <a:r>
              <a:rPr lang="en-US" sz="2272">
                <a:solidFill>
                  <a:srgbClr val="FFFFFF"/>
                </a:solidFill>
                <a:latin typeface="Canva Sans"/>
                <a:ea typeface="Canva Sans"/>
                <a:cs typeface="Canva Sans"/>
                <a:sym typeface="Canva Sans"/>
              </a:rPr>
              <a:t> (</a:t>
            </a:r>
            <a:r>
              <a:rPr lang="en-US" sz="2272" i="true">
                <a:solidFill>
                  <a:srgbClr val="FFFFFF"/>
                </a:solidFill>
                <a:latin typeface="Canva Sans Italics"/>
                <a:ea typeface="Canva Sans Italics"/>
                <a:cs typeface="Canva Sans Italics"/>
                <a:sym typeface="Canva Sans Italics"/>
              </a:rPr>
              <a:t>Q1=Q3=19.05</a:t>
            </a:r>
            <a:r>
              <a:rPr lang="en-US" sz="2272">
                <a:solidFill>
                  <a:srgbClr val="FFFFFF"/>
                </a:solidFill>
                <a:latin typeface="Canva Sans"/>
                <a:ea typeface="Canva Sans"/>
                <a:cs typeface="Canva Sans"/>
                <a:sym typeface="Canva Sans"/>
              </a:rPr>
              <a:t>), suggesting an outlier category or misclassification—consider excluding or reclassifying these records.</a:t>
            </a:r>
          </a:p>
          <a:p>
            <a:pPr algn="just">
              <a:lnSpc>
                <a:spcPts val="3180"/>
              </a:lnSpc>
            </a:pPr>
          </a:p>
          <a:p>
            <a:pPr algn="just" marL="490552" indent="-245276" lvl="1">
              <a:lnSpc>
                <a:spcPts val="3180"/>
              </a:lnSpc>
              <a:buFont typeface="Arial"/>
              <a:buChar char="•"/>
            </a:pPr>
            <a:r>
              <a:rPr lang="en-US" b="true" sz="2272">
                <a:solidFill>
                  <a:srgbClr val="FFFFFF"/>
                </a:solidFill>
                <a:latin typeface="Canva Sans Bold"/>
                <a:ea typeface="Canva Sans Bold"/>
                <a:cs typeface="Canva Sans Bold"/>
                <a:sym typeface="Canva Sans Bold"/>
              </a:rPr>
              <a:t>Severity 1</a:t>
            </a:r>
            <a:r>
              <a:rPr lang="en-US" sz="2272">
                <a:solidFill>
                  <a:srgbClr val="FFFFFF"/>
                </a:solidFill>
                <a:latin typeface="Canva Sans"/>
                <a:ea typeface="Canva Sans"/>
                <a:cs typeface="Canva Sans"/>
                <a:sym typeface="Canva Sans"/>
              </a:rPr>
              <a:t> cases have a median ICU LOS of </a:t>
            </a:r>
            <a:r>
              <a:rPr lang="en-US" sz="2272" u="sng">
                <a:solidFill>
                  <a:srgbClr val="FFFFFF"/>
                </a:solidFill>
                <a:latin typeface="Canva Sans"/>
                <a:ea typeface="Canva Sans"/>
                <a:cs typeface="Canva Sans"/>
                <a:sym typeface="Canva Sans"/>
              </a:rPr>
              <a:t>3.52 days</a:t>
            </a:r>
            <a:r>
              <a:rPr lang="en-US" sz="2272">
                <a:solidFill>
                  <a:srgbClr val="FFFFFF"/>
                </a:solidFill>
                <a:latin typeface="Canva Sans"/>
                <a:ea typeface="Canva Sans"/>
                <a:cs typeface="Canva Sans"/>
                <a:sym typeface="Canva Sans"/>
              </a:rPr>
              <a:t> (</a:t>
            </a:r>
            <a:r>
              <a:rPr lang="en-US" sz="2272" i="true">
                <a:solidFill>
                  <a:srgbClr val="FFFFFF"/>
                </a:solidFill>
                <a:latin typeface="Canva Sans Italics"/>
                <a:ea typeface="Canva Sans Italics"/>
                <a:cs typeface="Canva Sans Italics"/>
                <a:sym typeface="Canva Sans Italics"/>
              </a:rPr>
              <a:t>Q1 = 1.85, Q3 = 7.59</a:t>
            </a:r>
            <a:r>
              <a:rPr lang="en-US" sz="2272">
                <a:solidFill>
                  <a:srgbClr val="FFFFFF"/>
                </a:solidFill>
                <a:latin typeface="Canva Sans"/>
                <a:ea typeface="Canva Sans"/>
                <a:cs typeface="Canva Sans"/>
                <a:sym typeface="Canva Sans"/>
              </a:rPr>
              <a:t>), indicating moderate critical‐care needs.</a:t>
            </a:r>
          </a:p>
          <a:p>
            <a:pPr algn="just">
              <a:lnSpc>
                <a:spcPts val="3180"/>
              </a:lnSpc>
            </a:pPr>
          </a:p>
          <a:p>
            <a:pPr algn="just" marL="490552" indent="-245276" lvl="1">
              <a:lnSpc>
                <a:spcPts val="3180"/>
              </a:lnSpc>
              <a:buFont typeface="Arial"/>
              <a:buChar char="•"/>
            </a:pPr>
            <a:r>
              <a:rPr lang="en-US" sz="2272">
                <a:solidFill>
                  <a:srgbClr val="FFFFFF"/>
                </a:solidFill>
                <a:latin typeface="Canva Sans"/>
                <a:ea typeface="Canva Sans"/>
                <a:cs typeface="Canva Sans"/>
                <a:sym typeface="Canva Sans"/>
              </a:rPr>
              <a:t>Surprisingly, higher </a:t>
            </a:r>
            <a:r>
              <a:rPr lang="en-US" b="true" sz="2272">
                <a:solidFill>
                  <a:srgbClr val="FFFFFF"/>
                </a:solidFill>
                <a:latin typeface="Canva Sans Bold"/>
                <a:ea typeface="Canva Sans Bold"/>
                <a:cs typeface="Canva Sans Bold"/>
                <a:sym typeface="Canva Sans Bold"/>
              </a:rPr>
              <a:t>severities (2–4)</a:t>
            </a:r>
            <a:r>
              <a:rPr lang="en-US" sz="2272">
                <a:solidFill>
                  <a:srgbClr val="FFFFFF"/>
                </a:solidFill>
                <a:latin typeface="Canva Sans"/>
                <a:ea typeface="Canva Sans"/>
                <a:cs typeface="Canva Sans"/>
                <a:sym typeface="Canva Sans"/>
              </a:rPr>
              <a:t> show shorter median ICU stays (</a:t>
            </a:r>
            <a:r>
              <a:rPr lang="en-US" sz="2272" i="true" u="sng">
                <a:solidFill>
                  <a:srgbClr val="FFFFFF"/>
                </a:solidFill>
                <a:latin typeface="Canva Sans Italics"/>
                <a:ea typeface="Canva Sans Italics"/>
                <a:cs typeface="Canva Sans Italics"/>
                <a:sym typeface="Canva Sans Italics"/>
              </a:rPr>
              <a:t>1.92 → 1.16 days</a:t>
            </a:r>
            <a:r>
              <a:rPr lang="en-US" sz="2272">
                <a:solidFill>
                  <a:srgbClr val="FFFFFF"/>
                </a:solidFill>
                <a:latin typeface="Canva Sans"/>
                <a:ea typeface="Canva Sans"/>
                <a:cs typeface="Canva Sans"/>
                <a:sym typeface="Canva Sans"/>
              </a:rPr>
              <a:t>), possibly reflecting rapid deterioration or different care pathways.</a:t>
            </a:r>
          </a:p>
          <a:p>
            <a:pPr algn="just">
              <a:lnSpc>
                <a:spcPts val="3180"/>
              </a:lnSpc>
            </a:pPr>
          </a:p>
          <a:p>
            <a:pPr algn="just" marL="490552" indent="-245276" lvl="1">
              <a:lnSpc>
                <a:spcPts val="3180"/>
              </a:lnSpc>
              <a:buFont typeface="Arial"/>
              <a:buChar char="•"/>
            </a:pPr>
            <a:r>
              <a:rPr lang="en-US" sz="2272">
                <a:solidFill>
                  <a:srgbClr val="FFFFFF"/>
                </a:solidFill>
                <a:latin typeface="Canva Sans"/>
                <a:ea typeface="Canva Sans"/>
                <a:cs typeface="Canva Sans"/>
                <a:sym typeface="Canva Sans"/>
              </a:rPr>
              <a:t>The interquartile range narrows at extreme severity levels, pointing to more uniform ICU trajectories among the sickest patients.</a:t>
            </a:r>
          </a:p>
          <a:p>
            <a:pPr algn="just">
              <a:lnSpc>
                <a:spcPts val="3180"/>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3116642" y="6650665"/>
            <a:ext cx="5676351" cy="1766333"/>
          </a:xfrm>
          <a:custGeom>
            <a:avLst/>
            <a:gdLst/>
            <a:ahLst/>
            <a:cxnLst/>
            <a:rect r="r" b="b" t="t" l="l"/>
            <a:pathLst>
              <a:path h="1766333" w="5676351">
                <a:moveTo>
                  <a:pt x="0" y="0"/>
                </a:moveTo>
                <a:lnTo>
                  <a:pt x="5676351" y="0"/>
                </a:lnTo>
                <a:lnTo>
                  <a:pt x="5676351" y="1766333"/>
                </a:lnTo>
                <a:lnTo>
                  <a:pt x="0" y="1766333"/>
                </a:lnTo>
                <a:lnTo>
                  <a:pt x="0" y="0"/>
                </a:lnTo>
                <a:close/>
              </a:path>
            </a:pathLst>
          </a:custGeom>
          <a:blipFill>
            <a:blip r:embed="rId2"/>
            <a:stretch>
              <a:fillRect l="0" t="0" r="0" b="0"/>
            </a:stretch>
          </a:blipFill>
        </p:spPr>
      </p:sp>
      <p:sp>
        <p:nvSpPr>
          <p:cNvPr name="Freeform 10" id="10"/>
          <p:cNvSpPr/>
          <p:nvPr/>
        </p:nvSpPr>
        <p:spPr>
          <a:xfrm flipH="false" flipV="false" rot="0">
            <a:off x="3116642" y="2763545"/>
            <a:ext cx="5676351" cy="3366915"/>
          </a:xfrm>
          <a:custGeom>
            <a:avLst/>
            <a:gdLst/>
            <a:ahLst/>
            <a:cxnLst/>
            <a:rect r="r" b="b" t="t" l="l"/>
            <a:pathLst>
              <a:path h="3366915" w="5676351">
                <a:moveTo>
                  <a:pt x="0" y="0"/>
                </a:moveTo>
                <a:lnTo>
                  <a:pt x="5676351" y="0"/>
                </a:lnTo>
                <a:lnTo>
                  <a:pt x="5676351" y="3366914"/>
                </a:lnTo>
                <a:lnTo>
                  <a:pt x="0" y="3366914"/>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9108174" y="3189055"/>
            <a:ext cx="8151126" cy="4102376"/>
          </a:xfrm>
          <a:prstGeom prst="rect">
            <a:avLst/>
          </a:prstGeom>
        </p:spPr>
      </p:pic>
      <p:sp>
        <p:nvSpPr>
          <p:cNvPr name="TextBox 12" id="12"/>
          <p:cNvSpPr txBox="true"/>
          <p:nvPr/>
        </p:nvSpPr>
        <p:spPr>
          <a:xfrm rot="0">
            <a:off x="5010881" y="914400"/>
            <a:ext cx="9973125" cy="1698409"/>
          </a:xfrm>
          <a:prstGeom prst="rect">
            <a:avLst/>
          </a:prstGeom>
        </p:spPr>
        <p:txBody>
          <a:bodyPr anchor="t" rtlCol="false" tIns="0" lIns="0" bIns="0" rIns="0">
            <a:spAutoFit/>
          </a:bodyPr>
          <a:lstStyle/>
          <a:p>
            <a:pPr algn="ctr">
              <a:lnSpc>
                <a:spcPts val="6716"/>
              </a:lnSpc>
            </a:pPr>
            <a:r>
              <a:rPr lang="en-US" sz="4797" b="true">
                <a:solidFill>
                  <a:srgbClr val="FFFFFF"/>
                </a:solidFill>
                <a:latin typeface="Arimo Bold"/>
                <a:ea typeface="Arimo Bold"/>
                <a:cs typeface="Arimo Bold"/>
                <a:sym typeface="Arimo Bold"/>
              </a:rPr>
              <a:t>Length of Stay by DRUG Severity</a:t>
            </a:r>
          </a:p>
          <a:p>
            <a:pPr algn="ctr">
              <a:lnSpc>
                <a:spcPts val="6716"/>
              </a:lnSpc>
            </a:pPr>
            <a:r>
              <a:rPr lang="en-US" sz="4797" b="true">
                <a:solidFill>
                  <a:srgbClr val="FFFFFF"/>
                </a:solidFill>
                <a:latin typeface="Arimo Bold"/>
                <a:ea typeface="Arimo Bold"/>
                <a:cs typeface="Arimo Bold"/>
                <a:sym typeface="Arimo Bold"/>
              </a:rPr>
              <a:t>Visuals</a:t>
            </a:r>
          </a:p>
        </p:txBody>
      </p:sp>
    </p:spTree>
  </p:cSld>
  <p:clrMapOvr>
    <a:masterClrMapping/>
  </p:clrMapOvr>
  <p:transition spd="fast">
    <p:fade/>
  </p:transition>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17100" y="885825"/>
            <a:ext cx="12569843"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In-Hospital Mortality by Drug Severity</a:t>
            </a:r>
          </a:p>
        </p:txBody>
      </p:sp>
      <p:sp>
        <p:nvSpPr>
          <p:cNvPr name="TextBox 10" id="10"/>
          <p:cNvSpPr txBox="true"/>
          <p:nvPr/>
        </p:nvSpPr>
        <p:spPr>
          <a:xfrm rot="0">
            <a:off x="2747927" y="3468177"/>
            <a:ext cx="13775895" cy="3759972"/>
          </a:xfrm>
          <a:prstGeom prst="rect">
            <a:avLst/>
          </a:prstGeom>
        </p:spPr>
        <p:txBody>
          <a:bodyPr anchor="t" rtlCol="false" tIns="0" lIns="0" bIns="0" rIns="0">
            <a:spAutoFit/>
          </a:bodyPr>
          <a:lstStyle/>
          <a:p>
            <a:pPr algn="just">
              <a:lnSpc>
                <a:spcPts val="2757"/>
              </a:lnSpc>
            </a:pPr>
            <a:r>
              <a:rPr lang="en-US" sz="1969">
                <a:solidFill>
                  <a:srgbClr val="FFFFFF"/>
                </a:solidFill>
                <a:latin typeface="Canva Sans"/>
                <a:ea typeface="Canva Sans"/>
                <a:cs typeface="Canva Sans"/>
                <a:sym typeface="Canva Sans"/>
              </a:rPr>
              <a:t>W</a:t>
            </a:r>
            <a:r>
              <a:rPr lang="en-US" sz="1969">
                <a:solidFill>
                  <a:srgbClr val="FFFFFF"/>
                </a:solidFill>
                <a:latin typeface="Canva Sans"/>
                <a:ea typeface="Canva Sans"/>
                <a:cs typeface="Canva Sans"/>
                <a:sym typeface="Canva Sans"/>
              </a:rPr>
              <a:t>e measure the proportion of patients who die during their hospital stay, stratified by non-null severity levels. This reveals how case complexity correlates with in-hospital risk.</a:t>
            </a:r>
          </a:p>
          <a:p>
            <a:pPr algn="just">
              <a:lnSpc>
                <a:spcPts val="2757"/>
              </a:lnSpc>
            </a:pPr>
          </a:p>
          <a:p>
            <a:pPr algn="just" marL="425236" indent="-212618" lvl="1">
              <a:lnSpc>
                <a:spcPts val="2757"/>
              </a:lnSpc>
              <a:buFont typeface="Arial"/>
              <a:buChar char="•"/>
            </a:pPr>
            <a:r>
              <a:rPr lang="en-US" b="true" sz="1969">
                <a:solidFill>
                  <a:srgbClr val="FFFFFF"/>
                </a:solidFill>
                <a:latin typeface="Canva Sans Bold"/>
                <a:ea typeface="Canva Sans Bold"/>
                <a:cs typeface="Canva Sans Bold"/>
                <a:sym typeface="Canva Sans Bold"/>
              </a:rPr>
              <a:t>Severity 4</a:t>
            </a:r>
            <a:r>
              <a:rPr lang="en-US" sz="1969">
                <a:solidFill>
                  <a:srgbClr val="FFFFFF"/>
                </a:solidFill>
                <a:latin typeface="Canva Sans"/>
                <a:ea typeface="Canva Sans"/>
                <a:cs typeface="Canva Sans"/>
                <a:sym typeface="Canva Sans"/>
              </a:rPr>
              <a:t> patients face the highest in-hospital mortality at </a:t>
            </a:r>
            <a:r>
              <a:rPr lang="en-US" b="true" sz="1969">
                <a:solidFill>
                  <a:srgbClr val="FFFFFF"/>
                </a:solidFill>
                <a:latin typeface="Canva Sans Bold"/>
                <a:ea typeface="Canva Sans Bold"/>
                <a:cs typeface="Canva Sans Bold"/>
                <a:sym typeface="Canva Sans Bold"/>
              </a:rPr>
              <a:t>22.45%</a:t>
            </a:r>
            <a:r>
              <a:rPr lang="en-US" sz="1969">
                <a:solidFill>
                  <a:srgbClr val="FFFFFF"/>
                </a:solidFill>
                <a:latin typeface="Canva Sans"/>
                <a:ea typeface="Canva Sans"/>
                <a:cs typeface="Canva Sans"/>
                <a:sym typeface="Canva Sans"/>
              </a:rPr>
              <a:t>, reflecting extreme clinical complexity.</a:t>
            </a:r>
          </a:p>
          <a:p>
            <a:pPr algn="just">
              <a:lnSpc>
                <a:spcPts val="2757"/>
              </a:lnSpc>
            </a:pPr>
          </a:p>
          <a:p>
            <a:pPr algn="just" marL="425236" indent="-212618" lvl="1">
              <a:lnSpc>
                <a:spcPts val="2757"/>
              </a:lnSpc>
              <a:buFont typeface="Arial"/>
              <a:buChar char="•"/>
            </a:pPr>
            <a:r>
              <a:rPr lang="en-US" b="true" sz="1969">
                <a:solidFill>
                  <a:srgbClr val="FFFFFF"/>
                </a:solidFill>
                <a:latin typeface="Canva Sans Bold"/>
                <a:ea typeface="Canva Sans Bold"/>
                <a:cs typeface="Canva Sans Bold"/>
                <a:sym typeface="Canva Sans Bold"/>
              </a:rPr>
              <a:t>Severity 3</a:t>
            </a:r>
            <a:r>
              <a:rPr lang="en-US" sz="1969">
                <a:solidFill>
                  <a:srgbClr val="FFFFFF"/>
                </a:solidFill>
                <a:latin typeface="Canva Sans"/>
                <a:ea typeface="Canva Sans"/>
                <a:cs typeface="Canva Sans"/>
                <a:sym typeface="Canva Sans"/>
              </a:rPr>
              <a:t> carries a </a:t>
            </a:r>
            <a:r>
              <a:rPr lang="en-US" b="true" sz="1969">
                <a:solidFill>
                  <a:srgbClr val="FFFFFF"/>
                </a:solidFill>
                <a:latin typeface="Canva Sans Bold"/>
                <a:ea typeface="Canva Sans Bold"/>
                <a:cs typeface="Canva Sans Bold"/>
                <a:sym typeface="Canva Sans Bold"/>
              </a:rPr>
              <a:t>5.60%</a:t>
            </a:r>
            <a:r>
              <a:rPr lang="en-US" sz="1969">
                <a:solidFill>
                  <a:srgbClr val="FFFFFF"/>
                </a:solidFill>
                <a:latin typeface="Canva Sans"/>
                <a:ea typeface="Canva Sans"/>
                <a:cs typeface="Canva Sans"/>
                <a:sym typeface="Canva Sans"/>
              </a:rPr>
              <a:t> mortality rate, while </a:t>
            </a:r>
            <a:r>
              <a:rPr lang="en-US" b="true" sz="1969">
                <a:solidFill>
                  <a:srgbClr val="FFFFFF"/>
                </a:solidFill>
                <a:latin typeface="Canva Sans Bold"/>
                <a:ea typeface="Canva Sans Bold"/>
                <a:cs typeface="Canva Sans Bold"/>
                <a:sym typeface="Canva Sans Bold"/>
              </a:rPr>
              <a:t>severity 2 </a:t>
            </a:r>
            <a:r>
              <a:rPr lang="en-US" sz="1969">
                <a:solidFill>
                  <a:srgbClr val="FFFFFF"/>
                </a:solidFill>
                <a:latin typeface="Canva Sans"/>
                <a:ea typeface="Canva Sans"/>
                <a:cs typeface="Canva Sans"/>
                <a:sym typeface="Canva Sans"/>
              </a:rPr>
              <a:t>and</a:t>
            </a:r>
            <a:r>
              <a:rPr lang="en-US" b="true" sz="1969">
                <a:solidFill>
                  <a:srgbClr val="FFFFFF"/>
                </a:solidFill>
                <a:latin typeface="Canva Sans Bold"/>
                <a:ea typeface="Canva Sans Bold"/>
                <a:cs typeface="Canva Sans Bold"/>
                <a:sym typeface="Canva Sans Bold"/>
              </a:rPr>
              <a:t> 1</a:t>
            </a:r>
            <a:r>
              <a:rPr lang="en-US" sz="1969">
                <a:solidFill>
                  <a:srgbClr val="FFFFFF"/>
                </a:solidFill>
                <a:latin typeface="Canva Sans"/>
                <a:ea typeface="Canva Sans"/>
                <a:cs typeface="Canva Sans"/>
                <a:sym typeface="Canva Sans"/>
              </a:rPr>
              <a:t> remain low at </a:t>
            </a:r>
            <a:r>
              <a:rPr lang="en-US" b="true" sz="1969">
                <a:solidFill>
                  <a:srgbClr val="FFFFFF"/>
                </a:solidFill>
                <a:latin typeface="Canva Sans Bold"/>
                <a:ea typeface="Canva Sans Bold"/>
                <a:cs typeface="Canva Sans Bold"/>
                <a:sym typeface="Canva Sans Bold"/>
              </a:rPr>
              <a:t>1.46%</a:t>
            </a:r>
            <a:r>
              <a:rPr lang="en-US" sz="1969">
                <a:solidFill>
                  <a:srgbClr val="FFFFFF"/>
                </a:solidFill>
                <a:latin typeface="Canva Sans"/>
                <a:ea typeface="Canva Sans"/>
                <a:cs typeface="Canva Sans"/>
                <a:sym typeface="Canva Sans"/>
              </a:rPr>
              <a:t> and </a:t>
            </a:r>
            <a:r>
              <a:rPr lang="en-US" b="true" sz="1969">
                <a:solidFill>
                  <a:srgbClr val="FFFFFF"/>
                </a:solidFill>
                <a:latin typeface="Canva Sans Bold"/>
                <a:ea typeface="Canva Sans Bold"/>
                <a:cs typeface="Canva Sans Bold"/>
                <a:sym typeface="Canva Sans Bold"/>
              </a:rPr>
              <a:t>0.30%</a:t>
            </a:r>
            <a:r>
              <a:rPr lang="en-US" sz="1969">
                <a:solidFill>
                  <a:srgbClr val="FFFFFF"/>
                </a:solidFill>
                <a:latin typeface="Canva Sans"/>
                <a:ea typeface="Canva Sans"/>
                <a:cs typeface="Canva Sans"/>
                <a:sym typeface="Canva Sans"/>
              </a:rPr>
              <a:t>, respectively.</a:t>
            </a:r>
          </a:p>
          <a:p>
            <a:pPr algn="just">
              <a:lnSpc>
                <a:spcPts val="2757"/>
              </a:lnSpc>
            </a:pPr>
          </a:p>
          <a:p>
            <a:pPr algn="just" marL="425236" indent="-212618" lvl="1">
              <a:lnSpc>
                <a:spcPts val="2757"/>
              </a:lnSpc>
              <a:buFont typeface="Arial"/>
              <a:buChar char="•"/>
            </a:pPr>
            <a:r>
              <a:rPr lang="en-US" sz="1969">
                <a:solidFill>
                  <a:srgbClr val="FFFFFF"/>
                </a:solidFill>
                <a:latin typeface="Canva Sans"/>
                <a:ea typeface="Canva Sans"/>
                <a:cs typeface="Canva Sans"/>
                <a:sym typeface="Canva Sans"/>
              </a:rPr>
              <a:t> A substantial subset of admissions had </a:t>
            </a:r>
            <a:r>
              <a:rPr lang="en-US" sz="1969" i="true">
                <a:solidFill>
                  <a:srgbClr val="FFFFFF"/>
                </a:solidFill>
                <a:latin typeface="Canva Sans Italics"/>
                <a:ea typeface="Canva Sans Italics"/>
                <a:cs typeface="Canva Sans Italics"/>
                <a:sym typeface="Canva Sans Italics"/>
              </a:rPr>
              <a:t>drg_severity = NULL</a:t>
            </a:r>
            <a:r>
              <a:rPr lang="en-US" sz="1969">
                <a:solidFill>
                  <a:srgbClr val="FFFFFF"/>
                </a:solidFill>
                <a:latin typeface="Canva Sans"/>
                <a:ea typeface="Canva Sans"/>
                <a:cs typeface="Canva Sans"/>
                <a:sym typeface="Canva Sans"/>
              </a:rPr>
              <a:t>  and are excluded from this analysis</a:t>
            </a:r>
          </a:p>
          <a:p>
            <a:pPr algn="just">
              <a:lnSpc>
                <a:spcPts val="2757"/>
              </a:lnSpc>
            </a:pPr>
          </a:p>
          <a:p>
            <a:pPr algn="just" marL="425236" indent="-212618" lvl="1">
              <a:lnSpc>
                <a:spcPts val="2757"/>
              </a:lnSpc>
              <a:buFont typeface="Arial"/>
              <a:buChar char="•"/>
            </a:pPr>
            <a:r>
              <a:rPr lang="en-US" b="true" sz="1969">
                <a:solidFill>
                  <a:srgbClr val="FFFFFF"/>
                </a:solidFill>
                <a:latin typeface="Canva Sans Bold"/>
                <a:ea typeface="Canva Sans Bold"/>
                <a:cs typeface="Canva Sans Bold"/>
                <a:sym typeface="Canva Sans Bold"/>
              </a:rPr>
              <a:t>Zero-severity</a:t>
            </a:r>
            <a:r>
              <a:rPr lang="en-US" sz="1969">
                <a:solidFill>
                  <a:srgbClr val="FFFFFF"/>
                </a:solidFill>
                <a:latin typeface="Canva Sans"/>
                <a:ea typeface="Canva Sans"/>
                <a:cs typeface="Canva Sans"/>
                <a:sym typeface="Canva Sans"/>
              </a:rPr>
              <a:t> admissions are nonexistent in our cohort that were </a:t>
            </a:r>
            <a:r>
              <a:rPr lang="en-US" sz="1969" u="sng">
                <a:solidFill>
                  <a:srgbClr val="FFFFFF"/>
                </a:solidFill>
                <a:latin typeface="Canva Sans"/>
                <a:ea typeface="Canva Sans"/>
                <a:cs typeface="Canva Sans"/>
                <a:sym typeface="Canva Sans"/>
              </a:rPr>
              <a:t>labeled</a:t>
            </a:r>
            <a:r>
              <a:rPr lang="en-US" sz="1969">
                <a:solidFill>
                  <a:srgbClr val="FFFFFF"/>
                </a:solidFill>
                <a:latin typeface="Canva Sans"/>
                <a:ea typeface="Canva Sans"/>
                <a:cs typeface="Canva Sans"/>
                <a:sym typeface="Canva Sans"/>
              </a:rPr>
              <a:t> (where drg_severity has a value); all treated cases met at least the lowest drug severity threshold.</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2848119" y="6212642"/>
            <a:ext cx="5622866" cy="1843699"/>
          </a:xfrm>
          <a:custGeom>
            <a:avLst/>
            <a:gdLst/>
            <a:ahLst/>
            <a:cxnLst/>
            <a:rect r="r" b="b" t="t" l="l"/>
            <a:pathLst>
              <a:path h="1843699" w="5622866">
                <a:moveTo>
                  <a:pt x="0" y="0"/>
                </a:moveTo>
                <a:lnTo>
                  <a:pt x="5622866" y="0"/>
                </a:lnTo>
                <a:lnTo>
                  <a:pt x="5622866" y="1843699"/>
                </a:lnTo>
                <a:lnTo>
                  <a:pt x="0" y="1843699"/>
                </a:lnTo>
                <a:lnTo>
                  <a:pt x="0" y="0"/>
                </a:lnTo>
                <a:close/>
              </a:path>
            </a:pathLst>
          </a:custGeom>
          <a:blipFill>
            <a:blip r:embed="rId2"/>
            <a:stretch>
              <a:fillRect l="0" t="0" r="0" b="0"/>
            </a:stretch>
          </a:blipFill>
        </p:spPr>
      </p:sp>
      <p:sp>
        <p:nvSpPr>
          <p:cNvPr name="Freeform 10" id="10"/>
          <p:cNvSpPr/>
          <p:nvPr/>
        </p:nvSpPr>
        <p:spPr>
          <a:xfrm flipH="false" flipV="false" rot="0">
            <a:off x="2848119" y="3076511"/>
            <a:ext cx="5622866" cy="2915560"/>
          </a:xfrm>
          <a:custGeom>
            <a:avLst/>
            <a:gdLst/>
            <a:ahLst/>
            <a:cxnLst/>
            <a:rect r="r" b="b" t="t" l="l"/>
            <a:pathLst>
              <a:path h="2915560" w="5622866">
                <a:moveTo>
                  <a:pt x="0" y="0"/>
                </a:moveTo>
                <a:lnTo>
                  <a:pt x="5622866" y="0"/>
                </a:lnTo>
                <a:lnTo>
                  <a:pt x="5622866" y="2915560"/>
                </a:lnTo>
                <a:lnTo>
                  <a:pt x="0" y="2915560"/>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961" t="0" r="961" b="0"/>
          <a:stretch>
            <a:fillRect/>
          </a:stretch>
        </p:blipFill>
        <p:spPr>
          <a:xfrm flipH="false" flipV="false" rot="0">
            <a:off x="8773174" y="4245864"/>
            <a:ext cx="8486126" cy="2206393"/>
          </a:xfrm>
          <a:prstGeom prst="rect">
            <a:avLst/>
          </a:prstGeom>
        </p:spPr>
      </p:pic>
      <p:sp>
        <p:nvSpPr>
          <p:cNvPr name="TextBox 12" id="12"/>
          <p:cNvSpPr txBox="true"/>
          <p:nvPr/>
        </p:nvSpPr>
        <p:spPr>
          <a:xfrm rot="0">
            <a:off x="3236480" y="904875"/>
            <a:ext cx="12584149" cy="1789609"/>
          </a:xfrm>
          <a:prstGeom prst="rect">
            <a:avLst/>
          </a:prstGeom>
        </p:spPr>
        <p:txBody>
          <a:bodyPr anchor="t" rtlCol="false" tIns="0" lIns="0" bIns="0" rIns="0">
            <a:spAutoFit/>
          </a:bodyPr>
          <a:lstStyle/>
          <a:p>
            <a:pPr algn="ctr">
              <a:lnSpc>
                <a:spcPts val="7062"/>
              </a:lnSpc>
            </a:pPr>
            <a:r>
              <a:rPr lang="en-US" sz="5044" b="true">
                <a:solidFill>
                  <a:srgbClr val="FFFFFF"/>
                </a:solidFill>
                <a:latin typeface="Arimo Bold"/>
                <a:ea typeface="Arimo Bold"/>
                <a:cs typeface="Arimo Bold"/>
                <a:sym typeface="Arimo Bold"/>
              </a:rPr>
              <a:t>In-Hospital Mortality by DRG Severity Visuals</a:t>
            </a:r>
          </a:p>
        </p:txBody>
      </p:sp>
    </p:spTree>
  </p:cSld>
  <p:clrMapOvr>
    <a:masterClrMapping/>
  </p:clrMapOvr>
  <p:transition spd="fast">
    <p:fade/>
  </p:transition>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5172"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2470380" y="3199844"/>
            <a:ext cx="6309659" cy="4219585"/>
          </a:xfrm>
          <a:custGeom>
            <a:avLst/>
            <a:gdLst/>
            <a:ahLst/>
            <a:cxnLst/>
            <a:rect r="r" b="b" t="t" l="l"/>
            <a:pathLst>
              <a:path h="4219585" w="6309659">
                <a:moveTo>
                  <a:pt x="0" y="0"/>
                </a:moveTo>
                <a:lnTo>
                  <a:pt x="6309660" y="0"/>
                </a:lnTo>
                <a:lnTo>
                  <a:pt x="6309660" y="4219584"/>
                </a:lnTo>
                <a:lnTo>
                  <a:pt x="0" y="4219584"/>
                </a:lnTo>
                <a:lnTo>
                  <a:pt x="0" y="0"/>
                </a:lnTo>
                <a:close/>
              </a:path>
            </a:pathLst>
          </a:custGeom>
          <a:blipFill>
            <a:blip r:embed="rId2"/>
            <a:stretch>
              <a:fillRect l="0" t="0" r="0" b="0"/>
            </a:stretch>
          </a:blipFill>
        </p:spPr>
      </p:sp>
      <p:sp>
        <p:nvSpPr>
          <p:cNvPr name="TextBox 10" id="10"/>
          <p:cNvSpPr txBox="true"/>
          <p:nvPr/>
        </p:nvSpPr>
        <p:spPr>
          <a:xfrm rot="0">
            <a:off x="9026541" y="3016104"/>
            <a:ext cx="8232759" cy="5626100"/>
          </a:xfrm>
          <a:prstGeom prst="rect">
            <a:avLst/>
          </a:prstGeom>
        </p:spPr>
        <p:txBody>
          <a:bodyPr anchor="t" rtlCol="false" tIns="0" lIns="0" bIns="0" rIns="0">
            <a:spAutoFit/>
          </a:bodyPr>
          <a:lstStyle/>
          <a:p>
            <a:pPr algn="just">
              <a:lnSpc>
                <a:spcPts val="2799"/>
              </a:lnSpc>
            </a:pPr>
            <a:r>
              <a:rPr lang="en-US" sz="1999">
                <a:solidFill>
                  <a:srgbClr val="FFFFFF"/>
                </a:solidFill>
                <a:latin typeface="Canva Sans"/>
                <a:ea typeface="Canva Sans"/>
                <a:cs typeface="Canva Sans"/>
                <a:sym typeface="Canva Sans"/>
              </a:rPr>
              <a:t>Th</a:t>
            </a:r>
            <a:r>
              <a:rPr lang="en-US" sz="1999">
                <a:solidFill>
                  <a:srgbClr val="FFFFFF"/>
                </a:solidFill>
                <a:latin typeface="Canva Sans"/>
                <a:ea typeface="Canva Sans"/>
                <a:cs typeface="Canva Sans"/>
                <a:sym typeface="Canva Sans"/>
              </a:rPr>
              <a:t>is query examines the medications prescribed to patients with specific drug severity levels, focusing on the timing and sequence of administration. It reveals how clinicians escalate treatment intensity for high-severity cases, offering a window into the decision-making process during critical care.</a:t>
            </a:r>
          </a:p>
          <a:p>
            <a:pPr algn="ctr">
              <a:lnSpc>
                <a:spcPts val="2799"/>
              </a:lnSpc>
            </a:pPr>
          </a:p>
          <a:p>
            <a:pPr algn="l" marL="431799" indent="-215899" lvl="1">
              <a:lnSpc>
                <a:spcPts val="2799"/>
              </a:lnSpc>
              <a:buFont typeface="Arial"/>
              <a:buChar char="•"/>
            </a:pPr>
            <a:r>
              <a:rPr lang="en-US" sz="1999">
                <a:solidFill>
                  <a:srgbClr val="FFFFFF"/>
                </a:solidFill>
                <a:latin typeface="Canva Sans"/>
                <a:ea typeface="Canva Sans"/>
                <a:cs typeface="Canva Sans"/>
                <a:sym typeface="Canva Sans"/>
              </a:rPr>
              <a:t>Multiple prescriptions over time for same patient, including </a:t>
            </a:r>
            <a:r>
              <a:rPr lang="en-US" sz="1999" i="true">
                <a:solidFill>
                  <a:srgbClr val="FFFFFF"/>
                </a:solidFill>
                <a:latin typeface="Canva Sans Italics"/>
                <a:ea typeface="Canva Sans Italics"/>
                <a:cs typeface="Canva Sans Italics"/>
                <a:sym typeface="Canva Sans Italics"/>
              </a:rPr>
              <a:t>NEPHROVITE, Ampicillin/Sulbactam, Ampicillin Sodium,</a:t>
            </a:r>
            <a:r>
              <a:rPr lang="en-US" sz="1999">
                <a:solidFill>
                  <a:srgbClr val="FFFFFF"/>
                </a:solidFill>
                <a:latin typeface="Canva Sans"/>
                <a:ea typeface="Canva Sans"/>
                <a:cs typeface="Canva Sans"/>
                <a:sym typeface="Canva Sans"/>
              </a:rPr>
              <a:t> and </a:t>
            </a:r>
            <a:r>
              <a:rPr lang="en-US" sz="1999" i="true">
                <a:solidFill>
                  <a:srgbClr val="FFFFFF"/>
                </a:solidFill>
                <a:latin typeface="Canva Sans Italics"/>
                <a:ea typeface="Canva Sans Italics"/>
                <a:cs typeface="Canva Sans Italics"/>
                <a:sym typeface="Canva Sans Italics"/>
              </a:rPr>
              <a:t>Vancomycin HCl</a:t>
            </a:r>
            <a:r>
              <a:rPr lang="en-US" sz="1999">
                <a:solidFill>
                  <a:srgbClr val="FFFFFF"/>
                </a:solidFill>
                <a:latin typeface="Canva Sans"/>
                <a:ea typeface="Canva Sans"/>
                <a:cs typeface="Canva Sans"/>
                <a:sym typeface="Canva Sans"/>
              </a:rPr>
              <a:t>.</a:t>
            </a:r>
          </a:p>
          <a:p>
            <a:pPr algn="l">
              <a:lnSpc>
                <a:spcPts val="2799"/>
              </a:lnSpc>
            </a:pPr>
          </a:p>
          <a:p>
            <a:pPr algn="l" marL="431799" indent="-215899" lvl="1">
              <a:lnSpc>
                <a:spcPts val="2799"/>
              </a:lnSpc>
              <a:buFont typeface="Arial"/>
              <a:buChar char="•"/>
            </a:pPr>
            <a:r>
              <a:rPr lang="en-US" sz="1999">
                <a:solidFill>
                  <a:srgbClr val="FFFFFF"/>
                </a:solidFill>
                <a:latin typeface="Canva Sans"/>
                <a:ea typeface="Canva Sans"/>
                <a:cs typeface="Canva Sans"/>
                <a:sym typeface="Canva Sans"/>
              </a:rPr>
              <a:t>Drug codes and severities are linked to each prescription period and lots of drugs with NULL (none) values for Severity Level.</a:t>
            </a:r>
          </a:p>
          <a:p>
            <a:pPr algn="l">
              <a:lnSpc>
                <a:spcPts val="2799"/>
              </a:lnSpc>
            </a:pPr>
          </a:p>
          <a:p>
            <a:pPr algn="l" marL="431799" indent="-215899" lvl="1">
              <a:lnSpc>
                <a:spcPts val="2799"/>
              </a:lnSpc>
              <a:buFont typeface="Arial"/>
              <a:buChar char="•"/>
            </a:pPr>
            <a:r>
              <a:rPr lang="en-US" sz="1999">
                <a:solidFill>
                  <a:srgbClr val="FFFFFF"/>
                </a:solidFill>
                <a:latin typeface="Canva Sans"/>
                <a:ea typeface="Canva Sans"/>
                <a:cs typeface="Canva Sans"/>
                <a:sym typeface="Canva Sans"/>
              </a:rPr>
              <a:t>Dates indicate treatment progression and possible changes in therapy.</a:t>
            </a:r>
          </a:p>
          <a:p>
            <a:pPr algn="just">
              <a:lnSpc>
                <a:spcPts val="2799"/>
              </a:lnSpc>
            </a:pPr>
          </a:p>
        </p:txBody>
      </p:sp>
      <p:sp>
        <p:nvSpPr>
          <p:cNvPr name="TextBox 11" id="11"/>
          <p:cNvSpPr txBox="true"/>
          <p:nvPr/>
        </p:nvSpPr>
        <p:spPr>
          <a:xfrm rot="0">
            <a:off x="10425590" y="933450"/>
            <a:ext cx="6027516" cy="1458701"/>
          </a:xfrm>
          <a:prstGeom prst="rect">
            <a:avLst/>
          </a:prstGeom>
        </p:spPr>
        <p:txBody>
          <a:bodyPr anchor="t" rtlCol="false" tIns="0" lIns="0" bIns="0" rIns="0">
            <a:spAutoFit/>
          </a:bodyPr>
          <a:lstStyle/>
          <a:p>
            <a:pPr algn="ctr">
              <a:lnSpc>
                <a:spcPts val="5780"/>
              </a:lnSpc>
            </a:pPr>
            <a:r>
              <a:rPr lang="en-US" sz="4129" b="true">
                <a:solidFill>
                  <a:srgbClr val="FFFFFF"/>
                </a:solidFill>
                <a:latin typeface="Arimo Bold"/>
                <a:ea typeface="Arimo Bold"/>
                <a:cs typeface="Arimo Bold"/>
                <a:sym typeface="Arimo Bold"/>
              </a:rPr>
              <a:t>The Treatment Battle Plan </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65172"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pic>
        <p:nvPicPr>
          <p:cNvPr name="Picture 9" id="9">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36" t="0" r="36" b="0"/>
          <a:stretch>
            <a:fillRect/>
          </a:stretch>
        </p:blipFill>
        <p:spPr>
          <a:xfrm flipH="false" flipV="false" rot="0">
            <a:off x="4027928" y="2258839"/>
            <a:ext cx="12425178" cy="6833848"/>
          </a:xfrm>
          <a:prstGeom prst="rect">
            <a:avLst/>
          </a:prstGeom>
        </p:spPr>
      </p:pic>
      <p:sp>
        <p:nvSpPr>
          <p:cNvPr name="TextBox 10" id="10"/>
          <p:cNvSpPr txBox="true"/>
          <p:nvPr/>
        </p:nvSpPr>
        <p:spPr>
          <a:xfrm rot="0">
            <a:off x="7039577" y="942975"/>
            <a:ext cx="7444787" cy="1164024"/>
          </a:xfrm>
          <a:prstGeom prst="rect">
            <a:avLst/>
          </a:prstGeom>
        </p:spPr>
        <p:txBody>
          <a:bodyPr anchor="t" rtlCol="false" tIns="0" lIns="0" bIns="0" rIns="0">
            <a:spAutoFit/>
          </a:bodyPr>
          <a:lstStyle/>
          <a:p>
            <a:pPr algn="ctr">
              <a:lnSpc>
                <a:spcPts val="4571"/>
              </a:lnSpc>
            </a:pPr>
            <a:r>
              <a:rPr lang="en-US" sz="3265" b="true">
                <a:solidFill>
                  <a:srgbClr val="FFFFFF"/>
                </a:solidFill>
                <a:latin typeface="Arimo Bold"/>
                <a:ea typeface="Arimo Bold"/>
                <a:cs typeface="Arimo Bold"/>
                <a:sym typeface="Arimo Bold"/>
              </a:rPr>
              <a:t>The Treatment Battle Plan </a:t>
            </a:r>
          </a:p>
          <a:p>
            <a:pPr algn="ctr">
              <a:lnSpc>
                <a:spcPts val="4571"/>
              </a:lnSpc>
            </a:pPr>
            <a:r>
              <a:rPr lang="en-US" sz="3265" b="true">
                <a:solidFill>
                  <a:srgbClr val="FFFFFF"/>
                </a:solidFill>
                <a:latin typeface="Arimo Bold"/>
                <a:ea typeface="Arimo Bold"/>
                <a:cs typeface="Arimo Bold"/>
                <a:sym typeface="Arimo Bold"/>
              </a:rPr>
              <a:t>Visual</a:t>
            </a:r>
          </a:p>
        </p:txBody>
      </p:sp>
    </p:spTree>
  </p:cSld>
  <p:clrMapOvr>
    <a:masterClrMapping/>
  </p:clrMapOvr>
  <p:transition spd="fast">
    <p:fade/>
  </p:transition>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7035" cy="13716000"/>
              <a:chOff x="0" y="0"/>
              <a:chExt cx="586081" cy="2709333"/>
            </a:xfrm>
          </p:grpSpPr>
          <p:sp>
            <p:nvSpPr>
              <p:cNvPr name="Freeform 4" id="4"/>
              <p:cNvSpPr/>
              <p:nvPr/>
            </p:nvSpPr>
            <p:spPr>
              <a:xfrm flipH="false" flipV="false" rot="0">
                <a:off x="0" y="0"/>
                <a:ext cx="586081" cy="2709333"/>
              </a:xfrm>
              <a:custGeom>
                <a:avLst/>
                <a:gdLst/>
                <a:ahLst/>
                <a:cxnLst/>
                <a:rect r="r" b="b" t="t" l="l"/>
                <a:pathLst>
                  <a:path h="2709333" w="586081">
                    <a:moveTo>
                      <a:pt x="0" y="0"/>
                    </a:moveTo>
                    <a:lnTo>
                      <a:pt x="586081" y="0"/>
                    </a:lnTo>
                    <a:lnTo>
                      <a:pt x="586081" y="2709333"/>
                    </a:lnTo>
                    <a:lnTo>
                      <a:pt x="0" y="2709333"/>
                    </a:lnTo>
                    <a:close/>
                  </a:path>
                </a:pathLst>
              </a:custGeom>
              <a:solidFill>
                <a:srgbClr val="0C535C"/>
              </a:solidFill>
            </p:spPr>
          </p:sp>
          <p:sp>
            <p:nvSpPr>
              <p:cNvPr name="TextBox 5" id="5"/>
              <p:cNvSpPr txBox="true"/>
              <p:nvPr/>
            </p:nvSpPr>
            <p:spPr>
              <a:xfrm>
                <a:off x="0" y="-38100"/>
                <a:ext cx="586081"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51719" y="0"/>
              <a:ext cx="21432281" cy="13716000"/>
              <a:chOff x="0" y="0"/>
              <a:chExt cx="4233537" cy="2709333"/>
            </a:xfrm>
          </p:grpSpPr>
          <p:sp>
            <p:nvSpPr>
              <p:cNvPr name="Freeform 7" id="7"/>
              <p:cNvSpPr/>
              <p:nvPr/>
            </p:nvSpPr>
            <p:spPr>
              <a:xfrm flipH="false" flipV="false" rot="0">
                <a:off x="0" y="0"/>
                <a:ext cx="4233537" cy="2709333"/>
              </a:xfrm>
              <a:custGeom>
                <a:avLst/>
                <a:gdLst/>
                <a:ahLst/>
                <a:cxnLst/>
                <a:rect r="r" b="b" t="t" l="l"/>
                <a:pathLst>
                  <a:path h="2709333" w="4233537">
                    <a:moveTo>
                      <a:pt x="0" y="0"/>
                    </a:moveTo>
                    <a:lnTo>
                      <a:pt x="4233537" y="0"/>
                    </a:lnTo>
                    <a:lnTo>
                      <a:pt x="4233537" y="2709333"/>
                    </a:lnTo>
                    <a:lnTo>
                      <a:pt x="0" y="2709333"/>
                    </a:lnTo>
                    <a:close/>
                  </a:path>
                </a:pathLst>
              </a:custGeom>
              <a:solidFill>
                <a:srgbClr val="000000"/>
              </a:solidFill>
            </p:spPr>
          </p:sp>
          <p:sp>
            <p:nvSpPr>
              <p:cNvPr name="TextBox 8" id="8"/>
              <p:cNvSpPr txBox="true"/>
              <p:nvPr/>
            </p:nvSpPr>
            <p:spPr>
              <a:xfrm>
                <a:off x="0" y="-38100"/>
                <a:ext cx="4233537"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49347" y="605079"/>
            <a:ext cx="12489224"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ICU Admission Rate by Drug Severity</a:t>
            </a:r>
          </a:p>
        </p:txBody>
      </p:sp>
      <p:sp>
        <p:nvSpPr>
          <p:cNvPr name="TextBox 10" id="10"/>
          <p:cNvSpPr txBox="true"/>
          <p:nvPr/>
        </p:nvSpPr>
        <p:spPr>
          <a:xfrm rot="0">
            <a:off x="3154878" y="3371587"/>
            <a:ext cx="13561572" cy="5010847"/>
          </a:xfrm>
          <a:prstGeom prst="rect">
            <a:avLst/>
          </a:prstGeom>
        </p:spPr>
        <p:txBody>
          <a:bodyPr anchor="t" rtlCol="false" tIns="0" lIns="0" bIns="0" rIns="0">
            <a:spAutoFit/>
          </a:bodyPr>
          <a:lstStyle/>
          <a:p>
            <a:pPr algn="just">
              <a:lnSpc>
                <a:spcPts val="3697"/>
              </a:lnSpc>
            </a:pPr>
            <a:r>
              <a:rPr lang="en-US" sz="2640">
                <a:solidFill>
                  <a:srgbClr val="FFFFFF"/>
                </a:solidFill>
                <a:latin typeface="Canva Sans"/>
                <a:ea typeface="Canva Sans"/>
                <a:cs typeface="Canva Sans"/>
                <a:sym typeface="Canva Sans"/>
              </a:rPr>
              <a:t>W</a:t>
            </a:r>
            <a:r>
              <a:rPr lang="en-US" sz="2640">
                <a:solidFill>
                  <a:srgbClr val="FFFFFF"/>
                </a:solidFill>
                <a:latin typeface="Canva Sans"/>
                <a:ea typeface="Canva Sans"/>
                <a:cs typeface="Canva Sans"/>
                <a:sym typeface="Canva Sans"/>
              </a:rPr>
              <a:t>e quantify how often patients of each drug severity require ICU care, revealing resource needs tied to case complexity. A single admission registers as severity 0, yielding a 100% ICU rate—an outlier that should be interpreted with caution. As before, any admissions with drg_severity = NULL are excluded from this analysis.</a:t>
            </a:r>
          </a:p>
          <a:p>
            <a:pPr algn="just">
              <a:lnSpc>
                <a:spcPts val="3697"/>
              </a:lnSpc>
            </a:pPr>
          </a:p>
          <a:p>
            <a:pPr algn="just" marL="570163" indent="-285082" lvl="1">
              <a:lnSpc>
                <a:spcPts val="3697"/>
              </a:lnSpc>
              <a:buFont typeface="Arial"/>
              <a:buChar char="•"/>
            </a:pPr>
            <a:r>
              <a:rPr lang="en-US" sz="2640">
                <a:solidFill>
                  <a:srgbClr val="FFFFFF"/>
                </a:solidFill>
                <a:latin typeface="Canva Sans"/>
                <a:ea typeface="Canva Sans"/>
                <a:cs typeface="Canva Sans"/>
                <a:sym typeface="Canva Sans"/>
              </a:rPr>
              <a:t>Nearly all high-severity cases end up in the ICU: severity 4 at </a:t>
            </a:r>
            <a:r>
              <a:rPr lang="en-US" b="true" sz="2640">
                <a:solidFill>
                  <a:srgbClr val="FFFFFF"/>
                </a:solidFill>
                <a:latin typeface="Canva Sans Bold"/>
                <a:ea typeface="Canva Sans Bold"/>
                <a:cs typeface="Canva Sans Bold"/>
                <a:sym typeface="Canva Sans Bold"/>
              </a:rPr>
              <a:t>99.77%</a:t>
            </a:r>
            <a:r>
              <a:rPr lang="en-US" sz="2640">
                <a:solidFill>
                  <a:srgbClr val="FFFFFF"/>
                </a:solidFill>
                <a:latin typeface="Canva Sans"/>
                <a:ea typeface="Canva Sans"/>
                <a:cs typeface="Canva Sans"/>
                <a:sym typeface="Canva Sans"/>
              </a:rPr>
              <a:t>, severity 3 at </a:t>
            </a:r>
            <a:r>
              <a:rPr lang="en-US" b="true" sz="2640">
                <a:solidFill>
                  <a:srgbClr val="FFFFFF"/>
                </a:solidFill>
                <a:latin typeface="Canva Sans Bold"/>
                <a:ea typeface="Canva Sans Bold"/>
                <a:cs typeface="Canva Sans Bold"/>
                <a:sym typeface="Canva Sans Bold"/>
              </a:rPr>
              <a:t>98.86%</a:t>
            </a:r>
            <a:r>
              <a:rPr lang="en-US" sz="2640">
                <a:solidFill>
                  <a:srgbClr val="FFFFFF"/>
                </a:solidFill>
                <a:latin typeface="Canva Sans"/>
                <a:ea typeface="Canva Sans"/>
                <a:cs typeface="Canva Sans"/>
                <a:sym typeface="Canva Sans"/>
              </a:rPr>
              <a:t>, and severity 2 at </a:t>
            </a:r>
            <a:r>
              <a:rPr lang="en-US" b="true" sz="2640">
                <a:solidFill>
                  <a:srgbClr val="FFFFFF"/>
                </a:solidFill>
                <a:latin typeface="Canva Sans Bold"/>
                <a:ea typeface="Canva Sans Bold"/>
                <a:cs typeface="Canva Sans Bold"/>
                <a:sym typeface="Canva Sans Bold"/>
              </a:rPr>
              <a:t>97.48%</a:t>
            </a:r>
            <a:r>
              <a:rPr lang="en-US" sz="2640">
                <a:solidFill>
                  <a:srgbClr val="FFFFFF"/>
                </a:solidFill>
                <a:latin typeface="Canva Sans"/>
                <a:ea typeface="Canva Sans"/>
                <a:cs typeface="Canva Sans"/>
                <a:sym typeface="Canva Sans"/>
              </a:rPr>
              <a:t>.</a:t>
            </a:r>
          </a:p>
          <a:p>
            <a:pPr algn="just" marL="570163" indent="-285082" lvl="1">
              <a:lnSpc>
                <a:spcPts val="3697"/>
              </a:lnSpc>
              <a:buFont typeface="Arial"/>
              <a:buChar char="•"/>
            </a:pPr>
            <a:r>
              <a:rPr lang="en-US" sz="2640">
                <a:solidFill>
                  <a:srgbClr val="FFFFFF"/>
                </a:solidFill>
                <a:latin typeface="Canva Sans"/>
                <a:ea typeface="Canva Sans"/>
                <a:cs typeface="Canva Sans"/>
                <a:sym typeface="Canva Sans"/>
              </a:rPr>
              <a:t>Even the lone severity 0 admission went to the ICU, underscoring its exceptional nature rather than general practice.</a:t>
            </a:r>
          </a:p>
          <a:p>
            <a:pPr algn="just" marL="570163" indent="-285082" lvl="1">
              <a:lnSpc>
                <a:spcPts val="3697"/>
              </a:lnSpc>
              <a:buFont typeface="Arial"/>
              <a:buChar char="•"/>
            </a:pPr>
            <a:r>
              <a:rPr lang="en-US" sz="2640">
                <a:solidFill>
                  <a:srgbClr val="FFFFFF"/>
                </a:solidFill>
                <a:latin typeface="Canva Sans"/>
                <a:ea typeface="Canva Sans"/>
                <a:cs typeface="Canva Sans"/>
                <a:sym typeface="Canva Sans"/>
              </a:rPr>
              <a:t>Severity 1 cases show slightly lower ICU utilization at </a:t>
            </a:r>
            <a:r>
              <a:rPr lang="en-US" b="true" sz="2640">
                <a:solidFill>
                  <a:srgbClr val="FFFFFF"/>
                </a:solidFill>
                <a:latin typeface="Canva Sans Bold"/>
                <a:ea typeface="Canva Sans Bold"/>
                <a:cs typeface="Canva Sans Bold"/>
                <a:sym typeface="Canva Sans Bold"/>
              </a:rPr>
              <a:t>93.70%</a:t>
            </a:r>
            <a:r>
              <a:rPr lang="en-US" sz="2640">
                <a:solidFill>
                  <a:srgbClr val="FFFFFF"/>
                </a:solidFill>
                <a:latin typeface="Canva Sans"/>
                <a:ea typeface="Canva Sans"/>
                <a:cs typeface="Canva Sans"/>
                <a:sym typeface="Canva Sans"/>
              </a:rPr>
              <a:t>, but still represent intensive resource use.</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grpSp>
          <p:nvGrpSpPr>
            <p:cNvPr name="Group 3" id="3"/>
            <p:cNvGrpSpPr/>
            <p:nvPr/>
          </p:nvGrpSpPr>
          <p:grpSpPr>
            <a:xfrm rot="0">
              <a:off x="0" y="0"/>
              <a:ext cx="2967035" cy="13716000"/>
              <a:chOff x="0" y="0"/>
              <a:chExt cx="586081" cy="2709333"/>
            </a:xfrm>
          </p:grpSpPr>
          <p:sp>
            <p:nvSpPr>
              <p:cNvPr name="Freeform 4" id="4"/>
              <p:cNvSpPr/>
              <p:nvPr/>
            </p:nvSpPr>
            <p:spPr>
              <a:xfrm flipH="false" flipV="false" rot="0">
                <a:off x="0" y="0"/>
                <a:ext cx="586081" cy="2709333"/>
              </a:xfrm>
              <a:custGeom>
                <a:avLst/>
                <a:gdLst/>
                <a:ahLst/>
                <a:cxnLst/>
                <a:rect r="r" b="b" t="t" l="l"/>
                <a:pathLst>
                  <a:path h="2709333" w="586081">
                    <a:moveTo>
                      <a:pt x="0" y="0"/>
                    </a:moveTo>
                    <a:lnTo>
                      <a:pt x="586081" y="0"/>
                    </a:lnTo>
                    <a:lnTo>
                      <a:pt x="586081" y="2709333"/>
                    </a:lnTo>
                    <a:lnTo>
                      <a:pt x="0" y="2709333"/>
                    </a:lnTo>
                    <a:close/>
                  </a:path>
                </a:pathLst>
              </a:custGeom>
              <a:solidFill>
                <a:srgbClr val="0C535C"/>
              </a:solidFill>
            </p:spPr>
          </p:sp>
          <p:sp>
            <p:nvSpPr>
              <p:cNvPr name="TextBox 5" id="5"/>
              <p:cNvSpPr txBox="true"/>
              <p:nvPr/>
            </p:nvSpPr>
            <p:spPr>
              <a:xfrm>
                <a:off x="0" y="-38100"/>
                <a:ext cx="586081"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51719" y="0"/>
              <a:ext cx="21432281" cy="13716000"/>
              <a:chOff x="0" y="0"/>
              <a:chExt cx="4233537" cy="2709333"/>
            </a:xfrm>
          </p:grpSpPr>
          <p:sp>
            <p:nvSpPr>
              <p:cNvPr name="Freeform 7" id="7"/>
              <p:cNvSpPr/>
              <p:nvPr/>
            </p:nvSpPr>
            <p:spPr>
              <a:xfrm flipH="false" flipV="false" rot="0">
                <a:off x="0" y="0"/>
                <a:ext cx="4233537" cy="2709333"/>
              </a:xfrm>
              <a:custGeom>
                <a:avLst/>
                <a:gdLst/>
                <a:ahLst/>
                <a:cxnLst/>
                <a:rect r="r" b="b" t="t" l="l"/>
                <a:pathLst>
                  <a:path h="2709333" w="4233537">
                    <a:moveTo>
                      <a:pt x="0" y="0"/>
                    </a:moveTo>
                    <a:lnTo>
                      <a:pt x="4233537" y="0"/>
                    </a:lnTo>
                    <a:lnTo>
                      <a:pt x="4233537" y="2709333"/>
                    </a:lnTo>
                    <a:lnTo>
                      <a:pt x="0" y="2709333"/>
                    </a:lnTo>
                    <a:close/>
                  </a:path>
                </a:pathLst>
              </a:custGeom>
              <a:solidFill>
                <a:srgbClr val="000000"/>
              </a:solidFill>
            </p:spPr>
          </p:sp>
          <p:sp>
            <p:nvSpPr>
              <p:cNvPr name="TextBox 8" id="8"/>
              <p:cNvSpPr txBox="true"/>
              <p:nvPr/>
            </p:nvSpPr>
            <p:spPr>
              <a:xfrm>
                <a:off x="0" y="-38100"/>
                <a:ext cx="4233537"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2564693" y="6394349"/>
            <a:ext cx="6034585" cy="2017615"/>
          </a:xfrm>
          <a:custGeom>
            <a:avLst/>
            <a:gdLst/>
            <a:ahLst/>
            <a:cxnLst/>
            <a:rect r="r" b="b" t="t" l="l"/>
            <a:pathLst>
              <a:path h="2017615" w="6034585">
                <a:moveTo>
                  <a:pt x="0" y="0"/>
                </a:moveTo>
                <a:lnTo>
                  <a:pt x="6034585" y="0"/>
                </a:lnTo>
                <a:lnTo>
                  <a:pt x="6034585" y="2017615"/>
                </a:lnTo>
                <a:lnTo>
                  <a:pt x="0" y="2017615"/>
                </a:lnTo>
                <a:lnTo>
                  <a:pt x="0" y="0"/>
                </a:lnTo>
                <a:close/>
              </a:path>
            </a:pathLst>
          </a:custGeom>
          <a:blipFill>
            <a:blip r:embed="rId2"/>
            <a:stretch>
              <a:fillRect l="0" t="0" r="0" b="0"/>
            </a:stretch>
          </a:blipFill>
        </p:spPr>
      </p:sp>
      <p:sp>
        <p:nvSpPr>
          <p:cNvPr name="Freeform 10" id="10"/>
          <p:cNvSpPr/>
          <p:nvPr/>
        </p:nvSpPr>
        <p:spPr>
          <a:xfrm flipH="false" flipV="false" rot="0">
            <a:off x="3072882" y="2813281"/>
            <a:ext cx="5018207" cy="3496939"/>
          </a:xfrm>
          <a:custGeom>
            <a:avLst/>
            <a:gdLst/>
            <a:ahLst/>
            <a:cxnLst/>
            <a:rect r="r" b="b" t="t" l="l"/>
            <a:pathLst>
              <a:path h="3496939" w="5018207">
                <a:moveTo>
                  <a:pt x="0" y="0"/>
                </a:moveTo>
                <a:lnTo>
                  <a:pt x="5018207" y="0"/>
                </a:lnTo>
                <a:lnTo>
                  <a:pt x="5018207" y="3496940"/>
                </a:lnTo>
                <a:lnTo>
                  <a:pt x="0" y="3496940"/>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14" t="0" r="314" b="0"/>
          <a:stretch>
            <a:fillRect/>
          </a:stretch>
        </p:blipFill>
        <p:spPr>
          <a:xfrm flipH="false" flipV="false" rot="0">
            <a:off x="8193253" y="4251804"/>
            <a:ext cx="9066047" cy="1903870"/>
          </a:xfrm>
          <a:prstGeom prst="rect">
            <a:avLst/>
          </a:prstGeom>
        </p:spPr>
      </p:pic>
      <p:sp>
        <p:nvSpPr>
          <p:cNvPr name="TextBox 12" id="12"/>
          <p:cNvSpPr txBox="true"/>
          <p:nvPr/>
        </p:nvSpPr>
        <p:spPr>
          <a:xfrm rot="0">
            <a:off x="3349347" y="605079"/>
            <a:ext cx="12489224"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ICU Admission Rate by DRUG Severity Visuals</a:t>
            </a:r>
          </a:p>
        </p:txBody>
      </p:sp>
    </p:spTree>
  </p:cSld>
  <p:clrMapOvr>
    <a:masterClrMapping/>
  </p:clrMapOvr>
  <p:transition spd="fast">
    <p:fade/>
  </p:transition>
  <p:timing>
    <p:tnLst>
      <p:par>
        <p:cTn dur="indefinite" restart="never" nodeType="tmRoot">
          <p:childTnLst>
            <p:video>
              <p:cMediaNode vol="0">
                <p:cTn fill="hold" display="false">
                  <p:stCondLst>
                    <p:cond delay="indefinite"/>
                  </p:stCondLst>
                </p:cTn>
                <p:tgtEl>
                  <p:spTgt spid="11"/>
                </p:tgtEl>
              </p:cMediaNode>
            </p:video>
          </p:childTnLst>
        </p:cTn>
      </p:par>
    </p:tnLst>
  </p:timing>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49347" y="605079"/>
            <a:ext cx="12344109"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30-Day Readmission Rate by Drug Severity</a:t>
            </a:r>
          </a:p>
        </p:txBody>
      </p:sp>
      <p:sp>
        <p:nvSpPr>
          <p:cNvPr name="TextBox 10" id="10"/>
          <p:cNvSpPr txBox="true"/>
          <p:nvPr/>
        </p:nvSpPr>
        <p:spPr>
          <a:xfrm rot="0">
            <a:off x="2633109" y="2899471"/>
            <a:ext cx="13370685" cy="6374419"/>
          </a:xfrm>
          <a:prstGeom prst="rect">
            <a:avLst/>
          </a:prstGeom>
        </p:spPr>
        <p:txBody>
          <a:bodyPr anchor="t" rtlCol="false" tIns="0" lIns="0" bIns="0" rIns="0">
            <a:spAutoFit/>
          </a:bodyPr>
          <a:lstStyle/>
          <a:p>
            <a:pPr algn="just">
              <a:lnSpc>
                <a:spcPts val="4604"/>
              </a:lnSpc>
            </a:pPr>
            <a:r>
              <a:rPr lang="en-US" sz="3288">
                <a:solidFill>
                  <a:srgbClr val="FFFFFF"/>
                </a:solidFill>
                <a:latin typeface="Canva Sans"/>
                <a:ea typeface="Canva Sans"/>
                <a:cs typeface="Canva Sans"/>
                <a:sym typeface="Canva Sans"/>
              </a:rPr>
              <a:t>W</a:t>
            </a:r>
            <a:r>
              <a:rPr lang="en-US" sz="3288">
                <a:solidFill>
                  <a:srgbClr val="FFFFFF"/>
                </a:solidFill>
                <a:latin typeface="Canva Sans"/>
                <a:ea typeface="Canva Sans"/>
                <a:cs typeface="Canva Sans"/>
                <a:sym typeface="Canva Sans"/>
              </a:rPr>
              <a:t>e examine how often patients return within 30 days of discharge, stratified by DRG severity, to gauge post-discharge risk and care continuity. Only include admissions with a valid hadm_id and discharge dates; additionally, exclude transfers and in-hospital deaths, focusing on live discharges.</a:t>
            </a:r>
          </a:p>
          <a:p>
            <a:pPr algn="just">
              <a:lnSpc>
                <a:spcPts val="4604"/>
              </a:lnSpc>
            </a:pPr>
          </a:p>
          <a:p>
            <a:pPr algn="just" marL="710012" indent="-355006" lvl="1">
              <a:lnSpc>
                <a:spcPts val="4604"/>
              </a:lnSpc>
              <a:buFont typeface="Arial"/>
              <a:buChar char="•"/>
            </a:pPr>
            <a:r>
              <a:rPr lang="en-US" sz="3288">
                <a:solidFill>
                  <a:srgbClr val="FFFFFF"/>
                </a:solidFill>
                <a:latin typeface="Canva Sans"/>
                <a:ea typeface="Canva Sans"/>
                <a:cs typeface="Canva Sans"/>
                <a:sym typeface="Canva Sans"/>
              </a:rPr>
              <a:t>Patients assigned Drug </a:t>
            </a:r>
            <a:r>
              <a:rPr lang="en-US" b="true" sz="3288">
                <a:solidFill>
                  <a:srgbClr val="FFFFFF"/>
                </a:solidFill>
                <a:latin typeface="Canva Sans Bold"/>
                <a:ea typeface="Canva Sans Bold"/>
                <a:cs typeface="Canva Sans Bold"/>
                <a:sym typeface="Canva Sans Bold"/>
              </a:rPr>
              <a:t>severity 3</a:t>
            </a:r>
            <a:r>
              <a:rPr lang="en-US" sz="3288">
                <a:solidFill>
                  <a:srgbClr val="FFFFFF"/>
                </a:solidFill>
                <a:latin typeface="Canva Sans"/>
                <a:ea typeface="Canva Sans"/>
                <a:cs typeface="Canva Sans"/>
                <a:sym typeface="Canva Sans"/>
              </a:rPr>
              <a:t> show the </a:t>
            </a:r>
            <a:r>
              <a:rPr lang="en-US" sz="3288" u="sng">
                <a:solidFill>
                  <a:srgbClr val="FFFFFF"/>
                </a:solidFill>
                <a:latin typeface="Canva Sans"/>
                <a:ea typeface="Canva Sans"/>
                <a:cs typeface="Canva Sans"/>
                <a:sym typeface="Canva Sans"/>
              </a:rPr>
              <a:t>highest 30-day readmission rate</a:t>
            </a:r>
            <a:r>
              <a:rPr lang="en-US" sz="3288">
                <a:solidFill>
                  <a:srgbClr val="FFFFFF"/>
                </a:solidFill>
                <a:latin typeface="Canva Sans"/>
                <a:ea typeface="Canva Sans"/>
                <a:cs typeface="Canva Sans"/>
                <a:sym typeface="Canva Sans"/>
              </a:rPr>
              <a:t> at </a:t>
            </a:r>
            <a:r>
              <a:rPr lang="en-US" b="true" sz="3288">
                <a:solidFill>
                  <a:srgbClr val="FFFFFF"/>
                </a:solidFill>
                <a:latin typeface="Canva Sans Bold"/>
                <a:ea typeface="Canva Sans Bold"/>
                <a:cs typeface="Canva Sans Bold"/>
                <a:sym typeface="Canva Sans Bold"/>
              </a:rPr>
              <a:t>6.39%</a:t>
            </a:r>
            <a:r>
              <a:rPr lang="en-US" sz="3288">
                <a:solidFill>
                  <a:srgbClr val="FFFFFF"/>
                </a:solidFill>
                <a:latin typeface="Canva Sans"/>
                <a:ea typeface="Canva Sans"/>
                <a:cs typeface="Canva Sans"/>
                <a:sym typeface="Canva Sans"/>
              </a:rPr>
              <a:t>, followed by </a:t>
            </a:r>
            <a:r>
              <a:rPr lang="en-US" b="true" sz="3288">
                <a:solidFill>
                  <a:srgbClr val="FFFFFF"/>
                </a:solidFill>
                <a:latin typeface="Canva Sans Bold"/>
                <a:ea typeface="Canva Sans Bold"/>
                <a:cs typeface="Canva Sans Bold"/>
                <a:sym typeface="Canva Sans Bold"/>
              </a:rPr>
              <a:t>severity 4</a:t>
            </a:r>
            <a:r>
              <a:rPr lang="en-US" sz="3288">
                <a:solidFill>
                  <a:srgbClr val="FFFFFF"/>
                </a:solidFill>
                <a:latin typeface="Canva Sans"/>
                <a:ea typeface="Canva Sans"/>
                <a:cs typeface="Canva Sans"/>
                <a:sym typeface="Canva Sans"/>
              </a:rPr>
              <a:t> at </a:t>
            </a:r>
            <a:r>
              <a:rPr lang="en-US" b="true" sz="3288">
                <a:solidFill>
                  <a:srgbClr val="FFFFFF"/>
                </a:solidFill>
                <a:latin typeface="Canva Sans Bold"/>
                <a:ea typeface="Canva Sans Bold"/>
                <a:cs typeface="Canva Sans Bold"/>
                <a:sym typeface="Canva Sans Bold"/>
              </a:rPr>
              <a:t>5.38%</a:t>
            </a:r>
            <a:r>
              <a:rPr lang="en-US" sz="3288">
                <a:solidFill>
                  <a:srgbClr val="FFFFFF"/>
                </a:solidFill>
                <a:latin typeface="Canva Sans"/>
                <a:ea typeface="Canva Sans"/>
                <a:cs typeface="Canva Sans"/>
                <a:sym typeface="Canva Sans"/>
              </a:rPr>
              <a:t>. </a:t>
            </a:r>
            <a:r>
              <a:rPr lang="en-US" b="true" sz="3288">
                <a:solidFill>
                  <a:srgbClr val="FFFFFF"/>
                </a:solidFill>
                <a:latin typeface="Canva Sans Bold"/>
                <a:ea typeface="Canva Sans Bold"/>
                <a:cs typeface="Canva Sans Bold"/>
                <a:sym typeface="Canva Sans Bold"/>
              </a:rPr>
              <a:t>Severities 1</a:t>
            </a:r>
            <a:r>
              <a:rPr lang="en-US" sz="3288">
                <a:solidFill>
                  <a:srgbClr val="FFFFFF"/>
                </a:solidFill>
                <a:latin typeface="Canva Sans"/>
                <a:ea typeface="Canva Sans"/>
                <a:cs typeface="Canva Sans"/>
                <a:sym typeface="Canva Sans"/>
              </a:rPr>
              <a:t> and </a:t>
            </a:r>
            <a:r>
              <a:rPr lang="en-US" b="true" sz="3288">
                <a:solidFill>
                  <a:srgbClr val="FFFFFF"/>
                </a:solidFill>
                <a:latin typeface="Canva Sans Bold"/>
                <a:ea typeface="Canva Sans Bold"/>
                <a:cs typeface="Canva Sans Bold"/>
                <a:sym typeface="Canva Sans Bold"/>
              </a:rPr>
              <a:t>2</a:t>
            </a:r>
            <a:r>
              <a:rPr lang="en-US" sz="3288">
                <a:solidFill>
                  <a:srgbClr val="FFFFFF"/>
                </a:solidFill>
                <a:latin typeface="Canva Sans"/>
                <a:ea typeface="Canva Sans"/>
                <a:cs typeface="Canva Sans"/>
                <a:sym typeface="Canva Sans"/>
              </a:rPr>
              <a:t> tie at </a:t>
            </a:r>
            <a:r>
              <a:rPr lang="en-US" b="true" sz="3288">
                <a:solidFill>
                  <a:srgbClr val="FFFFFF"/>
                </a:solidFill>
                <a:latin typeface="Canva Sans Bold"/>
                <a:ea typeface="Canva Sans Bold"/>
                <a:cs typeface="Canva Sans Bold"/>
                <a:sym typeface="Canva Sans Bold"/>
              </a:rPr>
              <a:t>2.07%</a:t>
            </a:r>
            <a:r>
              <a:rPr lang="en-US" sz="3288">
                <a:solidFill>
                  <a:srgbClr val="FFFFFF"/>
                </a:solidFill>
                <a:latin typeface="Canva Sans"/>
                <a:ea typeface="Canva Sans"/>
                <a:cs typeface="Canva Sans"/>
                <a:sym typeface="Canva Sans"/>
              </a:rPr>
              <a:t>. This suggests that mid-level-severity cases may face transitional-care gaps greater than even the most complex cases.</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8852162" y="4904308"/>
            <a:ext cx="8061150" cy="2446142"/>
          </a:xfrm>
          <a:custGeom>
            <a:avLst/>
            <a:gdLst/>
            <a:ahLst/>
            <a:cxnLst/>
            <a:rect r="r" b="b" t="t" l="l"/>
            <a:pathLst>
              <a:path h="2446142" w="8061150">
                <a:moveTo>
                  <a:pt x="0" y="0"/>
                </a:moveTo>
                <a:lnTo>
                  <a:pt x="8061150" y="0"/>
                </a:lnTo>
                <a:lnTo>
                  <a:pt x="8061150" y="2446142"/>
                </a:lnTo>
                <a:lnTo>
                  <a:pt x="0" y="2446142"/>
                </a:lnTo>
                <a:lnTo>
                  <a:pt x="0" y="0"/>
                </a:lnTo>
                <a:close/>
              </a:path>
            </a:pathLst>
          </a:custGeom>
          <a:blipFill>
            <a:blip r:embed="rId2"/>
            <a:stretch>
              <a:fillRect l="0" t="0" r="0" b="0"/>
            </a:stretch>
          </a:blipFill>
        </p:spPr>
      </p:sp>
      <p:sp>
        <p:nvSpPr>
          <p:cNvPr name="Freeform 10" id="10"/>
          <p:cNvSpPr/>
          <p:nvPr/>
        </p:nvSpPr>
        <p:spPr>
          <a:xfrm flipH="false" flipV="false" rot="0">
            <a:off x="2852377" y="3148374"/>
            <a:ext cx="5456493" cy="5958009"/>
          </a:xfrm>
          <a:custGeom>
            <a:avLst/>
            <a:gdLst/>
            <a:ahLst/>
            <a:cxnLst/>
            <a:rect r="r" b="b" t="t" l="l"/>
            <a:pathLst>
              <a:path h="5958009" w="5456493">
                <a:moveTo>
                  <a:pt x="0" y="0"/>
                </a:moveTo>
                <a:lnTo>
                  <a:pt x="5456494" y="0"/>
                </a:lnTo>
                <a:lnTo>
                  <a:pt x="5456494" y="5958010"/>
                </a:lnTo>
                <a:lnTo>
                  <a:pt x="0" y="5958010"/>
                </a:lnTo>
                <a:lnTo>
                  <a:pt x="0" y="0"/>
                </a:lnTo>
                <a:close/>
              </a:path>
            </a:pathLst>
          </a:custGeom>
          <a:blipFill>
            <a:blip r:embed="rId3"/>
            <a:stretch>
              <a:fillRect l="0" t="0" r="0" b="0"/>
            </a:stretch>
          </a:blipFill>
        </p:spPr>
      </p:sp>
      <p:sp>
        <p:nvSpPr>
          <p:cNvPr name="TextBox 11" id="11"/>
          <p:cNvSpPr txBox="true"/>
          <p:nvPr/>
        </p:nvSpPr>
        <p:spPr>
          <a:xfrm rot="0">
            <a:off x="3349347" y="605079"/>
            <a:ext cx="12344109"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30-Day Readmission Rate by Drug Severity Visuals</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49347" y="605079"/>
            <a:ext cx="10667226"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Medication Utilization by Drug Severity</a:t>
            </a:r>
          </a:p>
        </p:txBody>
      </p:sp>
      <p:sp>
        <p:nvSpPr>
          <p:cNvPr name="TextBox 10" id="10"/>
          <p:cNvSpPr txBox="true"/>
          <p:nvPr/>
        </p:nvSpPr>
        <p:spPr>
          <a:xfrm rot="0">
            <a:off x="2649233" y="3209603"/>
            <a:ext cx="14242305" cy="5477238"/>
          </a:xfrm>
          <a:prstGeom prst="rect">
            <a:avLst/>
          </a:prstGeom>
        </p:spPr>
        <p:txBody>
          <a:bodyPr anchor="t" rtlCol="false" tIns="0" lIns="0" bIns="0" rIns="0">
            <a:spAutoFit/>
          </a:bodyPr>
          <a:lstStyle/>
          <a:p>
            <a:pPr algn="just">
              <a:lnSpc>
                <a:spcPts val="3654"/>
              </a:lnSpc>
            </a:pPr>
            <a:r>
              <a:rPr lang="en-US" sz="2610">
                <a:solidFill>
                  <a:srgbClr val="FFFFFF"/>
                </a:solidFill>
                <a:latin typeface="Canva Sans"/>
                <a:ea typeface="Canva Sans"/>
                <a:cs typeface="Canva Sans"/>
                <a:sym typeface="Canva Sans"/>
              </a:rPr>
              <a:t>T</a:t>
            </a:r>
            <a:r>
              <a:rPr lang="en-US" sz="2610">
                <a:solidFill>
                  <a:srgbClr val="FFFFFF"/>
                </a:solidFill>
                <a:latin typeface="Canva Sans"/>
                <a:ea typeface="Canva Sans"/>
                <a:cs typeface="Canva Sans"/>
                <a:sym typeface="Canva Sans"/>
              </a:rPr>
              <a:t>o quantify pharmacologic complexity across drug severities, we’ll pull for each severity: total admissions, admissions with at least one medication, percentage of those admissions, and average distinct drug count per admission</a:t>
            </a:r>
          </a:p>
          <a:p>
            <a:pPr algn="just">
              <a:lnSpc>
                <a:spcPts val="3654"/>
              </a:lnSpc>
            </a:pPr>
          </a:p>
          <a:p>
            <a:pPr algn="just" marL="563650" indent="-281825" lvl="1">
              <a:lnSpc>
                <a:spcPts val="3654"/>
              </a:lnSpc>
              <a:buFont typeface="Arial"/>
              <a:buChar char="•"/>
            </a:pPr>
            <a:r>
              <a:rPr lang="en-US" sz="2610">
                <a:solidFill>
                  <a:srgbClr val="FFFFFF"/>
                </a:solidFill>
                <a:latin typeface="Canva Sans"/>
                <a:ea typeface="Canva Sans"/>
                <a:cs typeface="Canva Sans"/>
                <a:sym typeface="Canva Sans"/>
              </a:rPr>
              <a:t>Higher‐severity groups (</a:t>
            </a:r>
            <a:r>
              <a:rPr lang="en-US" b="true" sz="2610" i="true">
                <a:solidFill>
                  <a:srgbClr val="FFFFFF"/>
                </a:solidFill>
                <a:latin typeface="Canva Sans Bold Italics"/>
                <a:ea typeface="Canva Sans Bold Italics"/>
                <a:cs typeface="Canva Sans Bold Italics"/>
                <a:sym typeface="Canva Sans Bold Italics"/>
              </a:rPr>
              <a:t>3–4</a:t>
            </a:r>
            <a:r>
              <a:rPr lang="en-US" sz="2610">
                <a:solidFill>
                  <a:srgbClr val="FFFFFF"/>
                </a:solidFill>
                <a:latin typeface="Canva Sans"/>
                <a:ea typeface="Canva Sans"/>
                <a:cs typeface="Canva Sans"/>
                <a:sym typeface="Canva Sans"/>
              </a:rPr>
              <a:t>) have near-universal medication use and the highest average drug counts, reflecting intensive pharmacologic management.</a:t>
            </a:r>
          </a:p>
          <a:p>
            <a:pPr algn="just">
              <a:lnSpc>
                <a:spcPts val="3654"/>
              </a:lnSpc>
            </a:pPr>
          </a:p>
          <a:p>
            <a:pPr algn="just" marL="563650" indent="-281825" lvl="1">
              <a:lnSpc>
                <a:spcPts val="3654"/>
              </a:lnSpc>
              <a:buFont typeface="Arial"/>
              <a:buChar char="•"/>
            </a:pPr>
            <a:r>
              <a:rPr lang="en-US" sz="2610">
                <a:solidFill>
                  <a:srgbClr val="FFFFFF"/>
                </a:solidFill>
                <a:latin typeface="Canva Sans"/>
                <a:ea typeface="Canva Sans"/>
                <a:cs typeface="Canva Sans"/>
                <a:sym typeface="Canva Sans"/>
              </a:rPr>
              <a:t>Mid‐level severity (</a:t>
            </a:r>
            <a:r>
              <a:rPr lang="en-US" b="true" sz="2610" i="true">
                <a:solidFill>
                  <a:srgbClr val="FFFFFF"/>
                </a:solidFill>
                <a:latin typeface="Canva Sans Bold Italics"/>
                <a:ea typeface="Canva Sans Bold Italics"/>
                <a:cs typeface="Canva Sans Bold Italics"/>
                <a:sym typeface="Canva Sans Bold Italics"/>
              </a:rPr>
              <a:t>2</a:t>
            </a:r>
            <a:r>
              <a:rPr lang="en-US" sz="2610">
                <a:solidFill>
                  <a:srgbClr val="FFFFFF"/>
                </a:solidFill>
                <a:latin typeface="Canva Sans"/>
                <a:ea typeface="Canva Sans"/>
                <a:cs typeface="Canva Sans"/>
                <a:sym typeface="Canva Sans"/>
              </a:rPr>
              <a:t>) still shows very high medication penetration but fewer distinct drugs on average.</a:t>
            </a:r>
          </a:p>
          <a:p>
            <a:pPr algn="just">
              <a:lnSpc>
                <a:spcPts val="3654"/>
              </a:lnSpc>
            </a:pPr>
          </a:p>
          <a:p>
            <a:pPr algn="just" marL="563650" indent="-281825" lvl="1">
              <a:lnSpc>
                <a:spcPts val="3654"/>
              </a:lnSpc>
              <a:buFont typeface="Arial"/>
              <a:buChar char="•"/>
            </a:pPr>
            <a:r>
              <a:rPr lang="en-US" sz="2610">
                <a:solidFill>
                  <a:srgbClr val="FFFFFF"/>
                </a:solidFill>
                <a:latin typeface="Canva Sans"/>
                <a:ea typeface="Canva Sans"/>
                <a:cs typeface="Canva Sans"/>
                <a:sym typeface="Canva Sans"/>
              </a:rPr>
              <a:t> Low severity (</a:t>
            </a:r>
            <a:r>
              <a:rPr lang="en-US" b="true" sz="2610" i="true">
                <a:solidFill>
                  <a:srgbClr val="FFFFFF"/>
                </a:solidFill>
                <a:latin typeface="Canva Sans Bold Italics"/>
                <a:ea typeface="Canva Sans Bold Italics"/>
                <a:cs typeface="Canva Sans Bold Italics"/>
                <a:sym typeface="Canva Sans Bold Italics"/>
              </a:rPr>
              <a:t>1</a:t>
            </a:r>
            <a:r>
              <a:rPr lang="en-US" sz="2610">
                <a:solidFill>
                  <a:srgbClr val="FFFFFF"/>
                </a:solidFill>
                <a:latin typeface="Canva Sans"/>
                <a:ea typeface="Canva Sans"/>
                <a:cs typeface="Canva Sans"/>
                <a:sym typeface="Canva Sans"/>
              </a:rPr>
              <a:t>) admits occasionally for observation or procedures without meds, and average drug count remains low.</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80" y="0"/>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9144000" y="4544624"/>
            <a:ext cx="7723656" cy="1930914"/>
          </a:xfrm>
          <a:custGeom>
            <a:avLst/>
            <a:gdLst/>
            <a:ahLst/>
            <a:cxnLst/>
            <a:rect r="r" b="b" t="t" l="l"/>
            <a:pathLst>
              <a:path h="1930914" w="7723656">
                <a:moveTo>
                  <a:pt x="0" y="0"/>
                </a:moveTo>
                <a:lnTo>
                  <a:pt x="7723656" y="0"/>
                </a:lnTo>
                <a:lnTo>
                  <a:pt x="7723656" y="1930914"/>
                </a:lnTo>
                <a:lnTo>
                  <a:pt x="0" y="1930914"/>
                </a:lnTo>
                <a:lnTo>
                  <a:pt x="0" y="0"/>
                </a:lnTo>
                <a:close/>
              </a:path>
            </a:pathLst>
          </a:custGeom>
          <a:blipFill>
            <a:blip r:embed="rId2"/>
            <a:stretch>
              <a:fillRect l="0" t="0" r="0" b="0"/>
            </a:stretch>
          </a:blipFill>
        </p:spPr>
      </p:sp>
      <p:sp>
        <p:nvSpPr>
          <p:cNvPr name="Freeform 10" id="10"/>
          <p:cNvSpPr/>
          <p:nvPr/>
        </p:nvSpPr>
        <p:spPr>
          <a:xfrm flipH="false" flipV="false" rot="0">
            <a:off x="2664981" y="3090680"/>
            <a:ext cx="6017980" cy="6008258"/>
          </a:xfrm>
          <a:custGeom>
            <a:avLst/>
            <a:gdLst/>
            <a:ahLst/>
            <a:cxnLst/>
            <a:rect r="r" b="b" t="t" l="l"/>
            <a:pathLst>
              <a:path h="6008258" w="6017980">
                <a:moveTo>
                  <a:pt x="0" y="0"/>
                </a:moveTo>
                <a:lnTo>
                  <a:pt x="6017979" y="0"/>
                </a:lnTo>
                <a:lnTo>
                  <a:pt x="6017979" y="6008257"/>
                </a:lnTo>
                <a:lnTo>
                  <a:pt x="0" y="6008257"/>
                </a:lnTo>
                <a:lnTo>
                  <a:pt x="0" y="0"/>
                </a:lnTo>
                <a:close/>
              </a:path>
            </a:pathLst>
          </a:custGeom>
          <a:blipFill>
            <a:blip r:embed="rId3"/>
            <a:stretch>
              <a:fillRect l="0" t="0" r="0" b="0"/>
            </a:stretch>
          </a:blipFill>
        </p:spPr>
      </p:sp>
      <p:sp>
        <p:nvSpPr>
          <p:cNvPr name="TextBox 11" id="11"/>
          <p:cNvSpPr txBox="true"/>
          <p:nvPr/>
        </p:nvSpPr>
        <p:spPr>
          <a:xfrm rot="0">
            <a:off x="3349347" y="605079"/>
            <a:ext cx="10667226" cy="21240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Medication Utilization by Drug Severity Visuals</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225734"/>
            <a:ext cx="18276520" cy="10287000"/>
            <a:chOff x="0" y="0"/>
            <a:chExt cx="24368693" cy="13716000"/>
          </a:xfrm>
        </p:grpSpPr>
        <p:grpSp>
          <p:nvGrpSpPr>
            <p:cNvPr name="Group 3" id="3"/>
            <p:cNvGrpSpPr/>
            <p:nvPr/>
          </p:nvGrpSpPr>
          <p:grpSpPr>
            <a:xfrm rot="0">
              <a:off x="0" y="0"/>
              <a:ext cx="2965172" cy="13716000"/>
              <a:chOff x="0" y="0"/>
              <a:chExt cx="585713" cy="2709333"/>
            </a:xfrm>
          </p:grpSpPr>
          <p:sp>
            <p:nvSpPr>
              <p:cNvPr name="Freeform 4" id="4"/>
              <p:cNvSpPr/>
              <p:nvPr/>
            </p:nvSpPr>
            <p:spPr>
              <a:xfrm flipH="false" flipV="false" rot="0">
                <a:off x="0" y="0"/>
                <a:ext cx="585713" cy="2709333"/>
              </a:xfrm>
              <a:custGeom>
                <a:avLst/>
                <a:gdLst/>
                <a:ahLst/>
                <a:cxnLst/>
                <a:rect r="r" b="b" t="t" l="l"/>
                <a:pathLst>
                  <a:path h="2709333" w="585713">
                    <a:moveTo>
                      <a:pt x="0" y="0"/>
                    </a:moveTo>
                    <a:lnTo>
                      <a:pt x="585713" y="0"/>
                    </a:lnTo>
                    <a:lnTo>
                      <a:pt x="585713" y="2709333"/>
                    </a:lnTo>
                    <a:lnTo>
                      <a:pt x="0" y="2709333"/>
                    </a:lnTo>
                    <a:close/>
                  </a:path>
                </a:pathLst>
              </a:custGeom>
              <a:solidFill>
                <a:srgbClr val="0C535C"/>
              </a:solidFill>
            </p:spPr>
          </p:sp>
          <p:sp>
            <p:nvSpPr>
              <p:cNvPr name="TextBox 5" id="5"/>
              <p:cNvSpPr txBox="true"/>
              <p:nvPr/>
            </p:nvSpPr>
            <p:spPr>
              <a:xfrm>
                <a:off x="0" y="-38100"/>
                <a:ext cx="585713"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49866" y="0"/>
              <a:ext cx="21418828" cy="13716000"/>
              <a:chOff x="0" y="0"/>
              <a:chExt cx="4230880" cy="2709333"/>
            </a:xfrm>
          </p:grpSpPr>
          <p:sp>
            <p:nvSpPr>
              <p:cNvPr name="Freeform 7" id="7"/>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8" id="8"/>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349347" y="605079"/>
            <a:ext cx="10667226" cy="1057275"/>
          </a:xfrm>
          <a:prstGeom prst="rect">
            <a:avLst/>
          </a:prstGeom>
        </p:spPr>
        <p:txBody>
          <a:bodyPr anchor="t" rtlCol="false" tIns="0" lIns="0" bIns="0" rIns="0">
            <a:spAutoFit/>
          </a:bodyPr>
          <a:lstStyle/>
          <a:p>
            <a:pPr algn="ctr">
              <a:lnSpc>
                <a:spcPts val="8400"/>
              </a:lnSpc>
            </a:pPr>
            <a:r>
              <a:rPr lang="en-US" sz="6000" b="true">
                <a:solidFill>
                  <a:srgbClr val="FFFFFF"/>
                </a:solidFill>
                <a:latin typeface="Arimo Bold"/>
                <a:ea typeface="Arimo Bold"/>
                <a:cs typeface="Arimo Bold"/>
                <a:sym typeface="Arimo Bold"/>
              </a:rPr>
              <a:t>Key Findings</a:t>
            </a:r>
          </a:p>
        </p:txBody>
      </p:sp>
      <p:sp>
        <p:nvSpPr>
          <p:cNvPr name="TextBox 10" id="10"/>
          <p:cNvSpPr txBox="true"/>
          <p:nvPr/>
        </p:nvSpPr>
        <p:spPr>
          <a:xfrm rot="0">
            <a:off x="2704686" y="1995160"/>
            <a:ext cx="13576418" cy="5839919"/>
          </a:xfrm>
          <a:prstGeom prst="rect">
            <a:avLst/>
          </a:prstGeom>
        </p:spPr>
        <p:txBody>
          <a:bodyPr anchor="t" rtlCol="false" tIns="0" lIns="0" bIns="0" rIns="0">
            <a:spAutoFit/>
          </a:bodyPr>
          <a:lstStyle/>
          <a:p>
            <a:pPr algn="l" marL="476472" indent="-238236" lvl="1">
              <a:lnSpc>
                <a:spcPts val="3089"/>
              </a:lnSpc>
              <a:buFont typeface="Arial"/>
              <a:buChar char="•"/>
            </a:pPr>
            <a:r>
              <a:rPr lang="en-US" sz="2206">
                <a:solidFill>
                  <a:srgbClr val="FFFFFF"/>
                </a:solidFill>
                <a:latin typeface="Canva Sans"/>
                <a:ea typeface="Canva Sans"/>
                <a:cs typeface="Canva Sans"/>
                <a:sym typeface="Canva Sans"/>
              </a:rPr>
              <a:t>    In examining 30-day readmissions across DRG severity levels, we found that patients assigned to severity 3 experienced the highest readmission rate at </a:t>
            </a:r>
            <a:r>
              <a:rPr lang="en-US" b="true" sz="2206">
                <a:solidFill>
                  <a:srgbClr val="FFFFFF"/>
                </a:solidFill>
                <a:latin typeface="Canva Sans Bold"/>
                <a:ea typeface="Canva Sans Bold"/>
                <a:cs typeface="Canva Sans Bold"/>
                <a:sym typeface="Canva Sans Bold"/>
              </a:rPr>
              <a:t>6.39%</a:t>
            </a:r>
            <a:r>
              <a:rPr lang="en-US" sz="2206">
                <a:solidFill>
                  <a:srgbClr val="FFFFFF"/>
                </a:solidFill>
                <a:latin typeface="Canva Sans"/>
                <a:ea typeface="Canva Sans"/>
                <a:cs typeface="Canva Sans"/>
                <a:sym typeface="Canva Sans"/>
              </a:rPr>
              <a:t>, even exceeding the most complex group (severity 4 at </a:t>
            </a:r>
            <a:r>
              <a:rPr lang="en-US" b="true" sz="2206">
                <a:solidFill>
                  <a:srgbClr val="FFFFFF"/>
                </a:solidFill>
                <a:latin typeface="Canva Sans Bold"/>
                <a:ea typeface="Canva Sans Bold"/>
                <a:cs typeface="Canva Sans Bold"/>
                <a:sym typeface="Canva Sans Bold"/>
              </a:rPr>
              <a:t>5.38%</a:t>
            </a:r>
            <a:r>
              <a:rPr lang="en-US" sz="2206">
                <a:solidFill>
                  <a:srgbClr val="FFFFFF"/>
                </a:solidFill>
                <a:latin typeface="Canva Sans"/>
                <a:ea typeface="Canva Sans"/>
                <a:cs typeface="Canva Sans"/>
                <a:sym typeface="Canva Sans"/>
              </a:rPr>
              <a:t>). The lowest-severity cohorts (levels 1 and 2) both showed a modest readmission rate of </a:t>
            </a:r>
            <a:r>
              <a:rPr lang="en-US" b="true" sz="2206">
                <a:solidFill>
                  <a:srgbClr val="FFFFFF"/>
                </a:solidFill>
                <a:latin typeface="Canva Sans Bold"/>
                <a:ea typeface="Canva Sans Bold"/>
                <a:cs typeface="Canva Sans Bold"/>
                <a:sym typeface="Canva Sans Bold"/>
              </a:rPr>
              <a:t>2.07%</a:t>
            </a:r>
            <a:r>
              <a:rPr lang="en-US" sz="2206">
                <a:solidFill>
                  <a:srgbClr val="FFFFFF"/>
                </a:solidFill>
                <a:latin typeface="Canva Sans"/>
                <a:ea typeface="Canva Sans"/>
                <a:cs typeface="Canva Sans"/>
                <a:sym typeface="Canva Sans"/>
              </a:rPr>
              <a:t>, indicating relatively stable recoveries for less severe cases.</a:t>
            </a:r>
          </a:p>
          <a:p>
            <a:pPr algn="l">
              <a:lnSpc>
                <a:spcPts val="3089"/>
              </a:lnSpc>
            </a:pPr>
          </a:p>
          <a:p>
            <a:pPr algn="l" marL="476472" indent="-238236" lvl="1">
              <a:lnSpc>
                <a:spcPts val="3089"/>
              </a:lnSpc>
              <a:buFont typeface="Arial"/>
              <a:buChar char="•"/>
            </a:pPr>
            <a:r>
              <a:rPr lang="en-US" sz="2206">
                <a:solidFill>
                  <a:srgbClr val="FFFFFF"/>
                </a:solidFill>
                <a:latin typeface="Canva Sans"/>
                <a:ea typeface="Canva Sans"/>
                <a:cs typeface="Canva Sans"/>
                <a:sym typeface="Canva Sans"/>
              </a:rPr>
              <a:t>    </a:t>
            </a:r>
            <a:r>
              <a:rPr lang="en-US" sz="2206">
                <a:solidFill>
                  <a:srgbClr val="FFFFFF"/>
                </a:solidFill>
                <a:latin typeface="Canva Sans"/>
                <a:ea typeface="Canva Sans"/>
                <a:cs typeface="Canva Sans"/>
                <a:sym typeface="Canva Sans"/>
              </a:rPr>
              <a:t>Medication utilization clearly scales with clinical complexity. Severity 4 and 3 admissions exhibit near-universal exposure to at least one medication (</a:t>
            </a:r>
            <a:r>
              <a:rPr lang="en-US" b="true" sz="2206">
                <a:solidFill>
                  <a:srgbClr val="FFFFFF"/>
                </a:solidFill>
                <a:latin typeface="Canva Sans Bold"/>
                <a:ea typeface="Canva Sans Bold"/>
                <a:cs typeface="Canva Sans Bold"/>
                <a:sym typeface="Canva Sans Bold"/>
              </a:rPr>
              <a:t>99.3%</a:t>
            </a:r>
            <a:r>
              <a:rPr lang="en-US" sz="2206">
                <a:solidFill>
                  <a:srgbClr val="FFFFFF"/>
                </a:solidFill>
                <a:latin typeface="Canva Sans"/>
                <a:ea typeface="Canva Sans"/>
                <a:cs typeface="Canva Sans"/>
                <a:sym typeface="Canva Sans"/>
              </a:rPr>
              <a:t> and </a:t>
            </a:r>
            <a:r>
              <a:rPr lang="en-US" b="true" sz="2206">
                <a:solidFill>
                  <a:srgbClr val="FFFFFF"/>
                </a:solidFill>
                <a:latin typeface="Canva Sans Bold"/>
                <a:ea typeface="Canva Sans Bold"/>
                <a:cs typeface="Canva Sans Bold"/>
                <a:sym typeface="Canva Sans Bold"/>
              </a:rPr>
              <a:t>98.1%</a:t>
            </a:r>
            <a:r>
              <a:rPr lang="en-US" sz="2206">
                <a:solidFill>
                  <a:srgbClr val="FFFFFF"/>
                </a:solidFill>
                <a:latin typeface="Canva Sans"/>
                <a:ea typeface="Canva Sans"/>
                <a:cs typeface="Canva Sans"/>
                <a:sym typeface="Canva Sans"/>
              </a:rPr>
              <a:t>, respectively), with average distinct drug counts of </a:t>
            </a:r>
            <a:r>
              <a:rPr lang="en-US" sz="2206" i="true" u="sng">
                <a:solidFill>
                  <a:srgbClr val="FFFFFF"/>
                </a:solidFill>
                <a:latin typeface="Canva Sans Italics"/>
                <a:ea typeface="Canva Sans Italics"/>
                <a:cs typeface="Canva Sans Italics"/>
                <a:sym typeface="Canva Sans Italics"/>
              </a:rPr>
              <a:t>8.4</a:t>
            </a:r>
            <a:r>
              <a:rPr lang="en-US" sz="2206">
                <a:solidFill>
                  <a:srgbClr val="FFFFFF"/>
                </a:solidFill>
                <a:latin typeface="Canva Sans"/>
                <a:ea typeface="Canva Sans"/>
                <a:cs typeface="Canva Sans"/>
                <a:sym typeface="Canva Sans"/>
              </a:rPr>
              <a:t> and </a:t>
            </a:r>
            <a:r>
              <a:rPr lang="en-US" sz="2206" i="true" u="sng">
                <a:solidFill>
                  <a:srgbClr val="FFFFFF"/>
                </a:solidFill>
                <a:latin typeface="Canva Sans Italics"/>
                <a:ea typeface="Canva Sans Italics"/>
                <a:cs typeface="Canva Sans Italics"/>
                <a:sym typeface="Canva Sans Italics"/>
              </a:rPr>
              <a:t>6.7</a:t>
            </a:r>
            <a:r>
              <a:rPr lang="en-US" sz="2206">
                <a:solidFill>
                  <a:srgbClr val="FFFFFF"/>
                </a:solidFill>
                <a:latin typeface="Canva Sans"/>
                <a:ea typeface="Canva Sans"/>
                <a:cs typeface="Canva Sans"/>
                <a:sym typeface="Canva Sans"/>
              </a:rPr>
              <a:t>. By contrast, severity 2 and 1 admissions, while still highly medicated (</a:t>
            </a:r>
            <a:r>
              <a:rPr lang="en-US" b="true" sz="2206">
                <a:solidFill>
                  <a:srgbClr val="FFFFFF"/>
                </a:solidFill>
                <a:latin typeface="Canva Sans Bold"/>
                <a:ea typeface="Canva Sans Bold"/>
                <a:cs typeface="Canva Sans Bold"/>
                <a:sym typeface="Canva Sans Bold"/>
              </a:rPr>
              <a:t>98.4%</a:t>
            </a:r>
            <a:r>
              <a:rPr lang="en-US" sz="2206">
                <a:solidFill>
                  <a:srgbClr val="FFFFFF"/>
                </a:solidFill>
                <a:latin typeface="Canva Sans"/>
                <a:ea typeface="Canva Sans"/>
                <a:cs typeface="Canva Sans"/>
                <a:sym typeface="Canva Sans"/>
              </a:rPr>
              <a:t> and </a:t>
            </a:r>
            <a:r>
              <a:rPr lang="en-US" b="true" sz="2206">
                <a:solidFill>
                  <a:srgbClr val="FFFFFF"/>
                </a:solidFill>
                <a:latin typeface="Canva Sans Bold"/>
                <a:ea typeface="Canva Sans Bold"/>
                <a:cs typeface="Canva Sans Bold"/>
                <a:sym typeface="Canva Sans Bold"/>
              </a:rPr>
              <a:t>96.9%</a:t>
            </a:r>
            <a:r>
              <a:rPr lang="en-US" sz="2206">
                <a:solidFill>
                  <a:srgbClr val="FFFFFF"/>
                </a:solidFill>
                <a:latin typeface="Canva Sans"/>
                <a:ea typeface="Canva Sans"/>
                <a:cs typeface="Canva Sans"/>
                <a:sym typeface="Canva Sans"/>
              </a:rPr>
              <a:t>), average only </a:t>
            </a:r>
            <a:r>
              <a:rPr lang="en-US" sz="2206" i="true" u="sng">
                <a:solidFill>
                  <a:srgbClr val="FFFFFF"/>
                </a:solidFill>
                <a:latin typeface="Canva Sans Italics"/>
                <a:ea typeface="Canva Sans Italics"/>
                <a:cs typeface="Canva Sans Italics"/>
                <a:sym typeface="Canva Sans Italics"/>
              </a:rPr>
              <a:t>4.2</a:t>
            </a:r>
            <a:r>
              <a:rPr lang="en-US" sz="2206">
                <a:solidFill>
                  <a:srgbClr val="FFFFFF"/>
                </a:solidFill>
                <a:latin typeface="Canva Sans"/>
                <a:ea typeface="Canva Sans"/>
                <a:cs typeface="Canva Sans"/>
                <a:sym typeface="Canva Sans"/>
              </a:rPr>
              <a:t> and </a:t>
            </a:r>
            <a:r>
              <a:rPr lang="en-US" sz="2206" i="true" u="sng">
                <a:solidFill>
                  <a:srgbClr val="FFFFFF"/>
                </a:solidFill>
                <a:latin typeface="Canva Sans Italics"/>
                <a:ea typeface="Canva Sans Italics"/>
                <a:cs typeface="Canva Sans Italics"/>
                <a:sym typeface="Canva Sans Italics"/>
              </a:rPr>
              <a:t>2.1</a:t>
            </a:r>
            <a:r>
              <a:rPr lang="en-US" sz="2206">
                <a:solidFill>
                  <a:srgbClr val="FFFFFF"/>
                </a:solidFill>
                <a:latin typeface="Canva Sans"/>
                <a:ea typeface="Canva Sans"/>
                <a:cs typeface="Canva Sans"/>
                <a:sym typeface="Canva Sans"/>
              </a:rPr>
              <a:t> unique drugs during their stay.</a:t>
            </a:r>
          </a:p>
          <a:p>
            <a:pPr algn="l">
              <a:lnSpc>
                <a:spcPts val="3089"/>
              </a:lnSpc>
            </a:pPr>
          </a:p>
          <a:p>
            <a:pPr algn="l" marL="476472" indent="-238236" lvl="1">
              <a:lnSpc>
                <a:spcPts val="3089"/>
              </a:lnSpc>
              <a:buFont typeface="Arial"/>
              <a:buChar char="•"/>
            </a:pPr>
            <a:r>
              <a:rPr lang="en-US" sz="2206">
                <a:solidFill>
                  <a:srgbClr val="FFFFFF"/>
                </a:solidFill>
                <a:latin typeface="Canva Sans"/>
                <a:ea typeface="Canva Sans"/>
                <a:cs typeface="Canva Sans"/>
                <a:sym typeface="Canva Sans"/>
              </a:rPr>
              <a:t>    </a:t>
            </a:r>
            <a:r>
              <a:rPr lang="en-US" sz="2206">
                <a:solidFill>
                  <a:srgbClr val="FFFFFF"/>
                </a:solidFill>
                <a:latin typeface="Canva Sans"/>
                <a:ea typeface="Canva Sans"/>
                <a:cs typeface="Canva Sans"/>
                <a:sym typeface="Canva Sans"/>
              </a:rPr>
              <a:t>When we integrate these patterns, a notable discrepancy emerges: the peak readmissi</a:t>
            </a:r>
            <a:r>
              <a:rPr lang="en-US" sz="2206">
                <a:solidFill>
                  <a:srgbClr val="FFFFFF"/>
                </a:solidFill>
                <a:latin typeface="Canva Sans"/>
                <a:ea typeface="Canva Sans"/>
                <a:cs typeface="Canva Sans"/>
                <a:sym typeface="Canva Sans"/>
              </a:rPr>
              <a:t>on risk occurs at mid-level severity rather than at the highest severity. This suggests that, although pharmacologic complexity rises steadily, transitional-care processes such as medication reconciliation and early outpatient support may be less robust for severity 3 patients—leading to elevated bounce-back rates.</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223879" cy="11351526"/>
            <a:chOff x="0" y="0"/>
            <a:chExt cx="585713" cy="2989702"/>
          </a:xfrm>
        </p:grpSpPr>
        <p:sp>
          <p:nvSpPr>
            <p:cNvPr name="Freeform 3" id="3"/>
            <p:cNvSpPr/>
            <p:nvPr/>
          </p:nvSpPr>
          <p:spPr>
            <a:xfrm flipH="false" flipV="false" rot="0">
              <a:off x="0" y="0"/>
              <a:ext cx="585713" cy="2989702"/>
            </a:xfrm>
            <a:custGeom>
              <a:avLst/>
              <a:gdLst/>
              <a:ahLst/>
              <a:cxnLst/>
              <a:rect r="r" b="b" t="t" l="l"/>
              <a:pathLst>
                <a:path h="2989702" w="585713">
                  <a:moveTo>
                    <a:pt x="0" y="0"/>
                  </a:moveTo>
                  <a:lnTo>
                    <a:pt x="585713" y="0"/>
                  </a:lnTo>
                  <a:lnTo>
                    <a:pt x="585713" y="2989702"/>
                  </a:lnTo>
                  <a:lnTo>
                    <a:pt x="0" y="2989702"/>
                  </a:lnTo>
                  <a:close/>
                </a:path>
              </a:pathLst>
            </a:custGeom>
            <a:solidFill>
              <a:srgbClr val="0C535C"/>
            </a:solidFill>
          </p:spPr>
        </p:sp>
        <p:sp>
          <p:nvSpPr>
            <p:cNvPr name="TextBox 4" id="4"/>
            <p:cNvSpPr txBox="true"/>
            <p:nvPr/>
          </p:nvSpPr>
          <p:spPr>
            <a:xfrm>
              <a:off x="0" y="-38100"/>
              <a:ext cx="585713" cy="302780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223879" y="0"/>
            <a:ext cx="16064121" cy="10287000"/>
            <a:chOff x="0" y="0"/>
            <a:chExt cx="4230880" cy="2709333"/>
          </a:xfrm>
        </p:grpSpPr>
        <p:sp>
          <p:nvSpPr>
            <p:cNvPr name="Freeform 6" id="6"/>
            <p:cNvSpPr/>
            <p:nvPr/>
          </p:nvSpPr>
          <p:spPr>
            <a:xfrm flipH="false" flipV="false" rot="0">
              <a:off x="0" y="0"/>
              <a:ext cx="4230879" cy="2709333"/>
            </a:xfrm>
            <a:custGeom>
              <a:avLst/>
              <a:gdLst/>
              <a:ahLst/>
              <a:cxnLst/>
              <a:rect r="r" b="b" t="t" l="l"/>
              <a:pathLst>
                <a:path h="2709333" w="4230879">
                  <a:moveTo>
                    <a:pt x="0" y="0"/>
                  </a:moveTo>
                  <a:lnTo>
                    <a:pt x="4230879" y="0"/>
                  </a:lnTo>
                  <a:lnTo>
                    <a:pt x="4230879" y="2709333"/>
                  </a:lnTo>
                  <a:lnTo>
                    <a:pt x="0" y="2709333"/>
                  </a:lnTo>
                  <a:close/>
                </a:path>
              </a:pathLst>
            </a:custGeom>
            <a:solidFill>
              <a:srgbClr val="000000"/>
            </a:solidFill>
          </p:spPr>
        </p:sp>
        <p:sp>
          <p:nvSpPr>
            <p:cNvPr name="TextBox 7" id="7"/>
            <p:cNvSpPr txBox="true"/>
            <p:nvPr/>
          </p:nvSpPr>
          <p:spPr>
            <a:xfrm>
              <a:off x="0" y="-38100"/>
              <a:ext cx="4230880" cy="274743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911803" y="5427396"/>
            <a:ext cx="3629782" cy="3830904"/>
          </a:xfrm>
          <a:custGeom>
            <a:avLst/>
            <a:gdLst/>
            <a:ahLst/>
            <a:cxnLst/>
            <a:rect r="r" b="b" t="t" l="l"/>
            <a:pathLst>
              <a:path h="3830904" w="3629782">
                <a:moveTo>
                  <a:pt x="0" y="0"/>
                </a:moveTo>
                <a:lnTo>
                  <a:pt x="3629782" y="0"/>
                </a:lnTo>
                <a:lnTo>
                  <a:pt x="3629782" y="3830904"/>
                </a:lnTo>
                <a:lnTo>
                  <a:pt x="0" y="3830904"/>
                </a:lnTo>
                <a:lnTo>
                  <a:pt x="0" y="0"/>
                </a:lnTo>
                <a:close/>
              </a:path>
            </a:pathLst>
          </a:custGeom>
          <a:blipFill>
            <a:blip r:embed="rId2"/>
            <a:stretch>
              <a:fillRect l="0" t="0" r="0" b="0"/>
            </a:stretch>
          </a:blipFill>
        </p:spPr>
      </p:sp>
      <p:sp>
        <p:nvSpPr>
          <p:cNvPr name="Freeform 9" id="9"/>
          <p:cNvSpPr/>
          <p:nvPr/>
        </p:nvSpPr>
        <p:spPr>
          <a:xfrm flipH="false" flipV="false" rot="0">
            <a:off x="8248415" y="5870010"/>
            <a:ext cx="4726734" cy="3237813"/>
          </a:xfrm>
          <a:custGeom>
            <a:avLst/>
            <a:gdLst/>
            <a:ahLst/>
            <a:cxnLst/>
            <a:rect r="r" b="b" t="t" l="l"/>
            <a:pathLst>
              <a:path h="3237813" w="4726734">
                <a:moveTo>
                  <a:pt x="0" y="0"/>
                </a:moveTo>
                <a:lnTo>
                  <a:pt x="4726734" y="0"/>
                </a:lnTo>
                <a:lnTo>
                  <a:pt x="4726734" y="3237813"/>
                </a:lnTo>
                <a:lnTo>
                  <a:pt x="0" y="3237813"/>
                </a:lnTo>
                <a:lnTo>
                  <a:pt x="0" y="0"/>
                </a:lnTo>
                <a:close/>
              </a:path>
            </a:pathLst>
          </a:custGeom>
          <a:blipFill>
            <a:blip r:embed="rId3"/>
            <a:stretch>
              <a:fillRect l="0" t="0" r="0" b="0"/>
            </a:stretch>
          </a:blipFill>
        </p:spPr>
      </p:sp>
      <p:sp>
        <p:nvSpPr>
          <p:cNvPr name="Freeform 10" id="10"/>
          <p:cNvSpPr/>
          <p:nvPr/>
        </p:nvSpPr>
        <p:spPr>
          <a:xfrm flipH="false" flipV="false" rot="0">
            <a:off x="13383135" y="5542027"/>
            <a:ext cx="3876165" cy="3716273"/>
          </a:xfrm>
          <a:custGeom>
            <a:avLst/>
            <a:gdLst/>
            <a:ahLst/>
            <a:cxnLst/>
            <a:rect r="r" b="b" t="t" l="l"/>
            <a:pathLst>
              <a:path h="3716273" w="3876165">
                <a:moveTo>
                  <a:pt x="0" y="0"/>
                </a:moveTo>
                <a:lnTo>
                  <a:pt x="3876165" y="0"/>
                </a:lnTo>
                <a:lnTo>
                  <a:pt x="3876165" y="3716273"/>
                </a:lnTo>
                <a:lnTo>
                  <a:pt x="0" y="3716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004468" y="1927769"/>
            <a:ext cx="12783813" cy="3942241"/>
          </a:xfrm>
          <a:prstGeom prst="rect">
            <a:avLst/>
          </a:prstGeom>
        </p:spPr>
        <p:txBody>
          <a:bodyPr anchor="t" rtlCol="false" tIns="0" lIns="0" bIns="0" rIns="0">
            <a:spAutoFit/>
          </a:bodyPr>
          <a:lstStyle/>
          <a:p>
            <a:pPr algn="ctr">
              <a:lnSpc>
                <a:spcPts val="14956"/>
              </a:lnSpc>
            </a:pPr>
            <a:r>
              <a:rPr lang="en-US" sz="14956" b="true">
                <a:solidFill>
                  <a:srgbClr val="FFFFFF"/>
                </a:solidFill>
                <a:latin typeface="Arimo Bold"/>
                <a:ea typeface="Arimo Bold"/>
                <a:cs typeface="Arimo Bold"/>
                <a:sym typeface="Arimo Bold"/>
              </a:rPr>
              <a:t>THANK</a:t>
            </a:r>
          </a:p>
          <a:p>
            <a:pPr algn="ctr">
              <a:lnSpc>
                <a:spcPts val="14956"/>
              </a:lnSpc>
            </a:pPr>
            <a:r>
              <a:rPr lang="en-US" sz="14956" b="true">
                <a:solidFill>
                  <a:srgbClr val="FFFFFF"/>
                </a:solidFill>
                <a:latin typeface="Arimo Bold"/>
                <a:ea typeface="Arimo Bold"/>
                <a:cs typeface="Arimo Bold"/>
                <a:sym typeface="Arimo Bold"/>
              </a:rPr>
              <a:t>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DAGx-GWEUqM</dc:identifier>
  <dcterms:modified xsi:type="dcterms:W3CDTF">2011-08-01T06:04:30Z</dcterms:modified>
  <cp:revision>1</cp:revision>
  <dc:title>MIMIC SQL - Joshua Ludolf</dc:title>
</cp:coreProperties>
</file>