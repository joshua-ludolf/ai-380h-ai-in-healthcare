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Jimmy Script Bold" panose="020B0604020202020204" charset="0"/>
      <p:regular r:id="rId12"/>
    </p:embeddedFont>
    <p:embeddedFont>
      <p:font typeface="Poppins" panose="00000500000000000000" pitchFamily="2" charset="0"/>
      <p:regular r:id="rId13"/>
    </p:embeddedFont>
    <p:embeddedFont>
      <p:font typeface="Poppins Bold" panose="00000800000000000000" charset="0"/>
      <p:regular r:id="rId14"/>
    </p:embeddedFont>
    <p:embeddedFont>
      <p:font typeface="Poppins Italics"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78692" autoAdjust="0"/>
  </p:normalViewPr>
  <p:slideViewPr>
    <p:cSldViewPr>
      <p:cViewPr varScale="1">
        <p:scale>
          <a:sx n="58" d="100"/>
          <a:sy n="58" d="100"/>
        </p:scale>
        <p:origin x="1494" y="1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02.11.2025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Welcome, everyone! I'm Joshua Ludolf, and it's a pleasure to have you here for our EBM-NLP LLM Tutorial, part of AI 380H at the University of Texas at Austin. </a:t>
            </a:r>
          </a:p>
          <a:p>
            <a:endParaRPr lang="en-US" dirty="0"/>
          </a:p>
          <a:p>
            <a:r>
              <a:rPr lang="en-US" dirty="0"/>
              <a:t>Today, we're diving into the exciting intersection of AI and healthcare. We'll explore how large language models can be applied to the EBM-NLP dataset. This tutorial is designed to be valuable for both beginners and seasoned users. It's all about making complex data analysis accessible to everyone. </a:t>
            </a:r>
          </a:p>
          <a:p>
            <a:endParaRPr lang="en-US" dirty="0"/>
          </a:p>
          <a:p>
            <a:r>
              <a:rPr lang="en-US" dirty="0"/>
              <a:t>We'll cover a variety of topics, so whether you're here to refine your skills or start a new analytical journey, there's something in it for you. </a:t>
            </a:r>
          </a:p>
          <a:p>
            <a:endParaRPr lang="en-US" dirty="0"/>
          </a:p>
          <a:p>
            <a:r>
              <a:rPr lang="en-US" dirty="0"/>
              <a:t>Let's get started with a brief overview of what we'll cover in the upcoming slides. </a:t>
            </a:r>
          </a:p>
          <a:p>
            <a:endParaRPr lang="en-US" dirty="0"/>
          </a:p>
          <a:p>
            <a:r>
              <a:rPr lang="en-US" dirty="0"/>
              <a:t>Link to google </a:t>
            </a:r>
            <a:r>
              <a:rPr lang="en-US" dirty="0" err="1"/>
              <a:t>colab</a:t>
            </a:r>
            <a:r>
              <a:rPr lang="en-US" dirty="0"/>
              <a:t> notebook: https://colab.research.google.com/drive/1drL2K-hdKhxq3ZciHfqBEzgbbr1RdZtL?usp=sharing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Starting with the overview to set the stage for what’s to come. Let's walk through the main components that we'll be exploring together. </a:t>
            </a:r>
          </a:p>
          <a:p>
            <a:endParaRPr lang="en-US"/>
          </a:p>
          <a:p>
            <a:r>
              <a:rPr lang="en-US"/>
              <a:t>First, we'll begin with an Introduction to the key concepts and objectives of our session. This will lay the groundwork for those new to the topic while also providing context for our more experienced attendees. </a:t>
            </a:r>
          </a:p>
          <a:p>
            <a:endParaRPr lang="en-US"/>
          </a:p>
          <a:p>
            <a:r>
              <a:rPr lang="en-US"/>
              <a:t>Next, we'll dive into Data Preparation. Here, we'll discuss how to clean and organize our data, ensuring it's ready for analysis. This step is crucial for accurate results and reliable conclusions. </a:t>
            </a:r>
          </a:p>
          <a:p>
            <a:endParaRPr lang="en-US"/>
          </a:p>
          <a:p>
            <a:r>
              <a:rPr lang="en-US"/>
              <a:t>Following that, we'll cover LLM Installation, guiding you through setting up the necessary tools and libraries to work with large language models effectively. </a:t>
            </a:r>
          </a:p>
          <a:p>
            <a:endParaRPr lang="en-US"/>
          </a:p>
          <a:p>
            <a:r>
              <a:rPr lang="en-US"/>
              <a:t>Then, we’ll explore two powerful techniques: Chain of Thought and Tree of Thought. These methods will enhance your ability to build prompts and process information creatively.</a:t>
            </a:r>
          </a:p>
          <a:p>
            <a:endParaRPr lang="en-US"/>
          </a:p>
          <a:p>
            <a:r>
              <a:rPr lang="en-US"/>
              <a:t>Finally, we'll discuss Evaluation techniques to measure the effectiveness of our models and ensure they meet our needs. </a:t>
            </a:r>
          </a:p>
          <a:p>
            <a:endParaRPr lang="en-US"/>
          </a:p>
          <a:p>
            <a:r>
              <a:rPr lang="en-US"/>
              <a:t>So, let's get started and enjoy the process of learning and discovery together!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Welcome, everyone, to this tutorial on data analysis and machine learning using the EBM-NLP dataset. </a:t>
            </a:r>
          </a:p>
          <a:p>
            <a:endParaRPr lang="en-US"/>
          </a:p>
          <a:p>
            <a:r>
              <a:rPr lang="en-US"/>
              <a:t>This session is designed for both beginners and those with some experience, so there's something here for everyone. We'll guide you through the process of harnessing powerful Python libraries, like Ollama, to manipulate text-based data specifically for Large Language Models. </a:t>
            </a:r>
          </a:p>
          <a:p>
            <a:endParaRPr lang="en-US"/>
          </a:p>
          <a:p>
            <a:r>
              <a:rPr lang="en-US"/>
              <a:t>We'll explore step-by-step examples and practical exercises. You'll see how to build prompts using techniques like the "chain of thought" and "tree of thought." By the end of this tutorial, you'll have hands-on experience in drawing meaningful insights from data. </a:t>
            </a:r>
          </a:p>
          <a:p>
            <a:endParaRPr lang="en-US"/>
          </a:p>
          <a:p>
            <a:r>
              <a:rPr lang="en-US"/>
              <a:t>Whether you're looking to refine your current skills or start an exciting new analytical journey, this tutorial is a vital resource for mastering data-driven decision-making. </a:t>
            </a:r>
          </a:p>
          <a:p>
            <a:endParaRPr lang="en-US"/>
          </a:p>
          <a:p>
            <a:r>
              <a:rPr lang="en-US"/>
              <a:t>The dataset can be accessed at the following link: [EBM-NLP GitHub Repository](https://github.com/bepnye/EBM-NLP/tree/master). </a:t>
            </a:r>
          </a:p>
          <a:p>
            <a:endParaRPr lang="en-US"/>
          </a:p>
          <a:p>
            <a:r>
              <a:rPr lang="en-US"/>
              <a:t>Furthermore, the README.md file within the repository contains comprehensive information regarding the data's structure and labeling.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delve into the essential steps we took to prepare our data for analysis. First, we ensured the data was clean by removing any duplicates and empty rows. This helps in maintaining data integrity. </a:t>
            </a:r>
          </a:p>
          <a:p>
            <a:endParaRPr lang="en-US"/>
          </a:p>
          <a:p>
            <a:r>
              <a:rPr lang="en-US"/>
              <a:t>Next, we normalized the text. This included converting all text to lowercase, trimming unnecessary spaces, and removing links, emojis, and punctuation. These steps are crucial for ensuring consistency, especially when processing text data.</a:t>
            </a:r>
          </a:p>
          <a:p>
            <a:endParaRPr lang="en-US"/>
          </a:p>
          <a:p>
            <a:r>
              <a:rPr lang="en-US"/>
              <a:t>Following that, we tokenized the text and removed stop words. This process breaks down the text into individual words or tokens, with stop words being common words that don't add much meaning like “and” or “the.” </a:t>
            </a:r>
          </a:p>
          <a:p>
            <a:endParaRPr lang="en-US"/>
          </a:p>
          <a:p>
            <a:r>
              <a:rPr lang="en-US"/>
              <a:t>Finally, we lemmatized the text, which involves reducing words to their base or root form. This allows for more accurate analysis, as it groups different forms of a word together.</a:t>
            </a:r>
          </a:p>
          <a:p>
            <a:endParaRPr lang="en-US"/>
          </a:p>
          <a:p>
            <a:r>
              <a:rPr lang="en-US"/>
              <a:t>Throughout this process, we maintained a tidy table that kept both the original and processed text, providing a clear view of the transformation. This meticulous preparation sets a solid foundation for meaningful analysis. </a:t>
            </a:r>
          </a:p>
          <a:p>
            <a:endParaRPr lang="en-US"/>
          </a:p>
          <a:p>
            <a:r>
              <a:rPr lang="en-US"/>
              <a:t>We ended up with a total of 703,218 words, and the average text length is approximately 140.84. This gives us a substantial dataset to work with, enabling us to draw reliable insights.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Meta Llama 3 stands out as a state-of-the-art model series, offering choices of 8 billion or 70 billion parameters. It is available in both pre-trained and instruction-tuned versions, making it adaptable for a variety of uses, especially in dialogue and chat.</a:t>
            </a:r>
          </a:p>
          <a:p>
            <a:endParaRPr lang="en-US"/>
          </a:p>
          <a:p>
            <a:r>
              <a:rPr lang="en-US"/>
              <a:t>The instruction-tuned versions are specifically optimized for chat applications, outperforming numerous open-source models when assessed against standard benchmarks. As a result, users can look forward to more natural and effective interactions.</a:t>
            </a:r>
          </a:p>
          <a:p>
            <a:endParaRPr lang="en-US"/>
          </a:p>
          <a:p>
            <a:endParaRPr lang="en-US"/>
          </a:p>
          <a:p>
            <a:r>
              <a:rPr lang="en-US"/>
              <a:t>Now, let’s take a moment to mention Ollama, another Python library that we will delve into further during our practical exercises as it will allow us to use llama3 model that will run locally in the google colab notebook (see code snippets).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process is crucial for enhancing the model's reasoning capabilities and involves a four-step approach. </a:t>
            </a:r>
          </a:p>
          <a:p>
            <a:endParaRPr lang="en-US"/>
          </a:p>
          <a:p>
            <a:r>
              <a:rPr lang="en-US"/>
              <a:t>Firstly, we guide the model to read the abstract thoroughly. This step ensures a comprehensive understanding of the context. </a:t>
            </a:r>
          </a:p>
          <a:p>
            <a:endParaRPr lang="en-US"/>
          </a:p>
          <a:p>
            <a:r>
              <a:rPr lang="en-US"/>
              <a:t>Next, the model identifies interventions. This step is essential as it pinpoints the key actions or variables under consideration. </a:t>
            </a:r>
          </a:p>
          <a:p>
            <a:endParaRPr lang="en-US"/>
          </a:p>
          <a:p>
            <a:r>
              <a:rPr lang="en-US"/>
              <a:t>Moving on, the focus shifts to identifying outcomes, giving us a clear picture of the results or effects of those interventions. </a:t>
            </a:r>
          </a:p>
          <a:p>
            <a:endParaRPr lang="en-US"/>
          </a:p>
          <a:p>
            <a:r>
              <a:rPr lang="en-US"/>
              <a:t>Finally, the model presents the results, synthesizing all the information gathered in the previous steps into a coherent conclusion. </a:t>
            </a:r>
          </a:p>
          <a:p>
            <a:endParaRPr lang="en-US"/>
          </a:p>
          <a:p>
            <a:r>
              <a:rPr lang="en-US"/>
              <a:t>By following this structured process, we enhance the model's ability to perform complex reasoning tasks, making it an invaluable tool in dialogue and chat applications. </a:t>
            </a:r>
          </a:p>
          <a:p>
            <a:endParaRPr lang="en-US"/>
          </a:p>
          <a:p>
            <a:r>
              <a:rPr lang="en-US"/>
              <a:t>Additionally, in the google colab notebook we further refine our method to specifically extract interventions and outcomes. We had better luck after refinement as we get two key interventions and six out of seven outcomes, showing good agreement with the ground truth on this sample.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let's delve into the Tree of Thought, or ToT, process. This method involves a fascinating approach to problem-solving.</a:t>
            </a:r>
          </a:p>
          <a:p>
            <a:endParaRPr lang="en-US"/>
          </a:p>
          <a:p>
            <a:r>
              <a:rPr lang="en-US"/>
              <a:t>The Tree of Thought process is about generating multiple initial thoughts. Think of it as planting seeds of ideas. From there, we evaluate these intermediate thoughts to see which ones have the most potential. It's like nurturing those seedlings to see which grow the strongest.</a:t>
            </a:r>
          </a:p>
          <a:p>
            <a:endParaRPr lang="en-US"/>
          </a:p>
          <a:p>
            <a:endParaRPr lang="en-US"/>
          </a:p>
          <a:p>
            <a:r>
              <a:rPr lang="en-US"/>
              <a:t>Although a full implementation of this iterative process wasn't done due to its complexity, the concept itself is quite powerful. It encourages exploring various paths before selecting the most promising one.</a:t>
            </a:r>
          </a:p>
          <a:p>
            <a:endParaRPr lang="en-US"/>
          </a:p>
          <a:p>
            <a:r>
              <a:rPr lang="en-US"/>
              <a:t>This approach can lead to more creative and effective solutions, as it doesn't limit us to a single line of thinking. Instead, it opens up a whole tree of possibilities.</a:t>
            </a:r>
          </a:p>
          <a:p>
            <a:endParaRPr lang="en-US"/>
          </a:p>
          <a:p>
            <a:r>
              <a:rPr lang="en-US"/>
              <a:t>As we will see in this next part that this will be the best prompting we will use in this tutorial.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dive into our evaluation findings. </a:t>
            </a:r>
          </a:p>
          <a:p>
            <a:endParaRPr lang="en-US"/>
          </a:p>
          <a:p>
            <a:r>
              <a:rPr lang="en-US"/>
              <a:t>Firstly, on the single sample analyzed after refining our Chain of Thought parsing: the Standard prompt did a decent job, it correctly identified the number of interventions. However, it fell short by over-extracting outcomes. This means it included some extraneous details that weren't necessary. </a:t>
            </a:r>
          </a:p>
          <a:p>
            <a:endParaRPr lang="en-US"/>
          </a:p>
          <a:p>
            <a:r>
              <a:rPr lang="en-US"/>
              <a:t>In contrast, the refined Chain of Thought parsing was more precise. It successfully extracted the two key interventions and identified six out of the seven outcomes. This shows a strong agreement with the ground truth, which is quite promising. </a:t>
            </a:r>
          </a:p>
          <a:p>
            <a:endParaRPr lang="en-US"/>
          </a:p>
          <a:p>
            <a:r>
              <a:rPr lang="en-US"/>
              <a:t>Now, the simulated Tree of Thought output is where things get exciting. It perfectly matched the ground truth in both number and phrasing of interventions and outcomes. This suggests that the Tree of Thought approach holds significant potential for achieving high accuracy.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svg"/><Relationship Id="rId20"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24" Type="http://schemas.openxmlformats.org/officeDocument/2006/relationships/image" Target="../media/image22.sv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s>
</file>

<file path=ppt/slides/_rels/slide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28.svg"/></Relationships>
</file>

<file path=ppt/slides/_rels/slide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0.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44.png"/><Relationship Id="rId18" Type="http://schemas.openxmlformats.org/officeDocument/2006/relationships/image" Target="../media/image16.svg"/><Relationship Id="rId26" Type="http://schemas.openxmlformats.org/officeDocument/2006/relationships/image" Target="../media/image49.sv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5" Type="http://schemas.openxmlformats.org/officeDocument/2006/relationships/image" Target="../media/image48.png"/><Relationship Id="rId2" Type="http://schemas.openxmlformats.org/officeDocument/2006/relationships/notesSlide" Target="../notesSlides/notesSlide9.xml"/><Relationship Id="rId16" Type="http://schemas.openxmlformats.org/officeDocument/2006/relationships/image" Target="../media/image14.svg"/><Relationship Id="rId20"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24" Type="http://schemas.openxmlformats.org/officeDocument/2006/relationships/image" Target="../media/image47.sv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46.png"/><Relationship Id="rId10" Type="http://schemas.openxmlformats.org/officeDocument/2006/relationships/image" Target="../media/image43.svg"/><Relationship Id="rId19" Type="http://schemas.openxmlformats.org/officeDocument/2006/relationships/image" Target="../media/image17.png"/><Relationship Id="rId4" Type="http://schemas.openxmlformats.org/officeDocument/2006/relationships/image" Target="../media/image2.svg"/><Relationship Id="rId9" Type="http://schemas.openxmlformats.org/officeDocument/2006/relationships/image" Target="../media/image42.png"/><Relationship Id="rId14" Type="http://schemas.openxmlformats.org/officeDocument/2006/relationships/image" Target="../media/image45.svg"/><Relationship Id="rId22"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A9CEDF"/>
        </a:solidFill>
        <a:effectLst/>
      </p:bgPr>
    </p:bg>
    <p:spTree>
      <p:nvGrpSpPr>
        <p:cNvPr id="1" name=""/>
        <p:cNvGrpSpPr/>
        <p:nvPr/>
      </p:nvGrpSpPr>
      <p:grpSpPr>
        <a:xfrm>
          <a:off x="0" y="0"/>
          <a:ext cx="0" cy="0"/>
          <a:chOff x="0" y="0"/>
          <a:chExt cx="0" cy="0"/>
        </a:xfrm>
      </p:grpSpPr>
      <p:sp>
        <p:nvSpPr>
          <p:cNvPr id="2" name="Freeform 2"/>
          <p:cNvSpPr/>
          <p:nvPr/>
        </p:nvSpPr>
        <p:spPr>
          <a:xfrm>
            <a:off x="13286935" y="-1596103"/>
            <a:ext cx="3793097" cy="4114800"/>
          </a:xfrm>
          <a:custGeom>
            <a:avLst/>
            <a:gdLst/>
            <a:ahLst/>
            <a:cxnLst/>
            <a:rect l="l" t="t" r="r" b="b"/>
            <a:pathLst>
              <a:path w="3793097" h="4114800">
                <a:moveTo>
                  <a:pt x="0" y="0"/>
                </a:moveTo>
                <a:lnTo>
                  <a:pt x="3793097" y="0"/>
                </a:lnTo>
                <a:lnTo>
                  <a:pt x="3793097"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659222" y="-492153"/>
            <a:ext cx="3018893" cy="3041706"/>
          </a:xfrm>
          <a:custGeom>
            <a:avLst/>
            <a:gdLst/>
            <a:ahLst/>
            <a:cxnLst/>
            <a:rect l="l" t="t" r="r" b="b"/>
            <a:pathLst>
              <a:path w="3018893" h="3041706">
                <a:moveTo>
                  <a:pt x="0" y="0"/>
                </a:moveTo>
                <a:lnTo>
                  <a:pt x="3018893" y="0"/>
                </a:lnTo>
                <a:lnTo>
                  <a:pt x="3018893" y="3041706"/>
                </a:lnTo>
                <a:lnTo>
                  <a:pt x="0" y="30417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p:cNvSpPr/>
          <p:nvPr/>
        </p:nvSpPr>
        <p:spPr>
          <a:xfrm>
            <a:off x="16311894" y="2477399"/>
            <a:ext cx="3419025" cy="4114800"/>
          </a:xfrm>
          <a:custGeom>
            <a:avLst/>
            <a:gdLst/>
            <a:ahLst/>
            <a:cxnLst/>
            <a:rect l="l" t="t" r="r" b="b"/>
            <a:pathLst>
              <a:path w="3419025" h="4114800">
                <a:moveTo>
                  <a:pt x="0" y="0"/>
                </a:moveTo>
                <a:lnTo>
                  <a:pt x="3419025" y="0"/>
                </a:lnTo>
                <a:lnTo>
                  <a:pt x="3419025"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5" name="Freeform 5"/>
          <p:cNvSpPr/>
          <p:nvPr/>
        </p:nvSpPr>
        <p:spPr>
          <a:xfrm rot="-3024726" flipH="1">
            <a:off x="8460327" y="-1081753"/>
            <a:ext cx="3738667" cy="3086100"/>
          </a:xfrm>
          <a:custGeom>
            <a:avLst/>
            <a:gdLst/>
            <a:ahLst/>
            <a:cxnLst/>
            <a:rect l="l" t="t" r="r" b="b"/>
            <a:pathLst>
              <a:path w="3738667" h="3086100">
                <a:moveTo>
                  <a:pt x="3738667" y="0"/>
                </a:moveTo>
                <a:lnTo>
                  <a:pt x="0" y="0"/>
                </a:lnTo>
                <a:lnTo>
                  <a:pt x="0" y="3086100"/>
                </a:lnTo>
                <a:lnTo>
                  <a:pt x="3738667" y="3086100"/>
                </a:lnTo>
                <a:lnTo>
                  <a:pt x="3738667"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6" name="Freeform 6"/>
          <p:cNvSpPr/>
          <p:nvPr/>
        </p:nvSpPr>
        <p:spPr>
          <a:xfrm>
            <a:off x="11645670" y="8247944"/>
            <a:ext cx="3282531" cy="2954278"/>
          </a:xfrm>
          <a:custGeom>
            <a:avLst/>
            <a:gdLst/>
            <a:ahLst/>
            <a:cxnLst/>
            <a:rect l="l" t="t" r="r" b="b"/>
            <a:pathLst>
              <a:path w="3282531" h="2954278">
                <a:moveTo>
                  <a:pt x="0" y="0"/>
                </a:moveTo>
                <a:lnTo>
                  <a:pt x="3282530" y="0"/>
                </a:lnTo>
                <a:lnTo>
                  <a:pt x="3282530" y="2954278"/>
                </a:lnTo>
                <a:lnTo>
                  <a:pt x="0" y="295427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7" name="Freeform 7"/>
          <p:cNvSpPr/>
          <p:nvPr/>
        </p:nvSpPr>
        <p:spPr>
          <a:xfrm rot="875638">
            <a:off x="-374661" y="3105315"/>
            <a:ext cx="2067768" cy="2505005"/>
          </a:xfrm>
          <a:custGeom>
            <a:avLst/>
            <a:gdLst/>
            <a:ahLst/>
            <a:cxnLst/>
            <a:rect l="l" t="t" r="r" b="b"/>
            <a:pathLst>
              <a:path w="2067768" h="2505005">
                <a:moveTo>
                  <a:pt x="0" y="0"/>
                </a:moveTo>
                <a:lnTo>
                  <a:pt x="2067767" y="0"/>
                </a:lnTo>
                <a:lnTo>
                  <a:pt x="2067767" y="2505005"/>
                </a:lnTo>
                <a:lnTo>
                  <a:pt x="0" y="2505005"/>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txBody>
          <a:bodyPr/>
          <a:lstStyle/>
          <a:p>
            <a:endParaRPr lang="en-US"/>
          </a:p>
        </p:txBody>
      </p:sp>
      <p:sp>
        <p:nvSpPr>
          <p:cNvPr id="8" name="Freeform 8"/>
          <p:cNvSpPr/>
          <p:nvPr/>
        </p:nvSpPr>
        <p:spPr>
          <a:xfrm rot="-532262">
            <a:off x="-392514" y="6704894"/>
            <a:ext cx="3456935" cy="3086100"/>
          </a:xfrm>
          <a:custGeom>
            <a:avLst/>
            <a:gdLst/>
            <a:ahLst/>
            <a:cxnLst/>
            <a:rect l="l" t="t" r="r" b="b"/>
            <a:pathLst>
              <a:path w="3456935" h="3086100">
                <a:moveTo>
                  <a:pt x="0" y="0"/>
                </a:moveTo>
                <a:lnTo>
                  <a:pt x="3456935" y="0"/>
                </a:lnTo>
                <a:lnTo>
                  <a:pt x="3456935" y="3086100"/>
                </a:lnTo>
                <a:lnTo>
                  <a:pt x="0" y="3086100"/>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txBody>
          <a:bodyPr/>
          <a:lstStyle/>
          <a:p>
            <a:endParaRPr lang="en-US"/>
          </a:p>
        </p:txBody>
      </p:sp>
      <p:sp>
        <p:nvSpPr>
          <p:cNvPr id="9" name="Freeform 9"/>
          <p:cNvSpPr/>
          <p:nvPr/>
        </p:nvSpPr>
        <p:spPr>
          <a:xfrm>
            <a:off x="16079339" y="7422127"/>
            <a:ext cx="5126498" cy="6729293"/>
          </a:xfrm>
          <a:custGeom>
            <a:avLst/>
            <a:gdLst/>
            <a:ahLst/>
            <a:cxnLst/>
            <a:rect l="l" t="t" r="r" b="b"/>
            <a:pathLst>
              <a:path w="5126498" h="6729293">
                <a:moveTo>
                  <a:pt x="0" y="0"/>
                </a:moveTo>
                <a:lnTo>
                  <a:pt x="5126498" y="0"/>
                </a:lnTo>
                <a:lnTo>
                  <a:pt x="5126498" y="6729293"/>
                </a:lnTo>
                <a:lnTo>
                  <a:pt x="0" y="6729293"/>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txBody>
          <a:bodyPr/>
          <a:lstStyle/>
          <a:p>
            <a:endParaRPr lang="en-US"/>
          </a:p>
        </p:txBody>
      </p:sp>
      <p:sp>
        <p:nvSpPr>
          <p:cNvPr id="10" name="Freeform 10"/>
          <p:cNvSpPr/>
          <p:nvPr/>
        </p:nvSpPr>
        <p:spPr>
          <a:xfrm>
            <a:off x="4260902" y="-2422440"/>
            <a:ext cx="3688357" cy="4114800"/>
          </a:xfrm>
          <a:custGeom>
            <a:avLst/>
            <a:gdLst/>
            <a:ahLst/>
            <a:cxnLst/>
            <a:rect l="l" t="t" r="r" b="b"/>
            <a:pathLst>
              <a:path w="3688357" h="4114800">
                <a:moveTo>
                  <a:pt x="0" y="0"/>
                </a:moveTo>
                <a:lnTo>
                  <a:pt x="3688357" y="0"/>
                </a:lnTo>
                <a:lnTo>
                  <a:pt x="3688357" y="4114800"/>
                </a:lnTo>
                <a:lnTo>
                  <a:pt x="0" y="4114800"/>
                </a:lnTo>
                <a:lnTo>
                  <a:pt x="0" y="0"/>
                </a:lnTo>
                <a:close/>
              </a:path>
            </a:pathLst>
          </a:custGeom>
          <a:blipFill>
            <a:blip r:embed="rId19">
              <a:extLst>
                <a:ext uri="{96DAC541-7B7A-43D3-8B79-37D633B846F1}">
                  <asvg:svgBlip xmlns:asvg="http://schemas.microsoft.com/office/drawing/2016/SVG/main" r:embed="rId20"/>
                </a:ext>
              </a:extLst>
            </a:blip>
            <a:stretch>
              <a:fillRect/>
            </a:stretch>
          </a:blipFill>
          <a:ln cap="sq">
            <a:noFill/>
            <a:prstDash val="solid"/>
            <a:miter/>
          </a:ln>
        </p:spPr>
        <p:txBody>
          <a:bodyPr/>
          <a:lstStyle/>
          <a:p>
            <a:endParaRPr lang="en-US"/>
          </a:p>
        </p:txBody>
      </p:sp>
      <p:sp>
        <p:nvSpPr>
          <p:cNvPr id="11" name="Freeform 11"/>
          <p:cNvSpPr/>
          <p:nvPr/>
        </p:nvSpPr>
        <p:spPr>
          <a:xfrm>
            <a:off x="7949259" y="9258300"/>
            <a:ext cx="3099508" cy="2440158"/>
          </a:xfrm>
          <a:custGeom>
            <a:avLst/>
            <a:gdLst/>
            <a:ahLst/>
            <a:cxnLst/>
            <a:rect l="l" t="t" r="r" b="b"/>
            <a:pathLst>
              <a:path w="3099508" h="2440158">
                <a:moveTo>
                  <a:pt x="0" y="0"/>
                </a:moveTo>
                <a:lnTo>
                  <a:pt x="3099508" y="0"/>
                </a:lnTo>
                <a:lnTo>
                  <a:pt x="3099508" y="2440158"/>
                </a:lnTo>
                <a:lnTo>
                  <a:pt x="0" y="2440158"/>
                </a:lnTo>
                <a:lnTo>
                  <a:pt x="0" y="0"/>
                </a:lnTo>
                <a:close/>
              </a:path>
            </a:pathLst>
          </a:custGeom>
          <a:blipFill>
            <a:blip r:embed="rId21">
              <a:extLst>
                <a:ext uri="{96DAC541-7B7A-43D3-8B79-37D633B846F1}">
                  <asvg:svgBlip xmlns:asvg="http://schemas.microsoft.com/office/drawing/2016/SVG/main" r:embed="rId22"/>
                </a:ext>
              </a:extLst>
            </a:blip>
            <a:stretch>
              <a:fillRect/>
            </a:stretch>
          </a:blipFill>
          <a:ln cap="sq">
            <a:noFill/>
            <a:prstDash val="solid"/>
            <a:miter/>
          </a:ln>
        </p:spPr>
        <p:txBody>
          <a:bodyPr/>
          <a:lstStyle/>
          <a:p>
            <a:endParaRPr lang="en-US"/>
          </a:p>
        </p:txBody>
      </p:sp>
      <p:sp>
        <p:nvSpPr>
          <p:cNvPr id="12" name="Freeform 12"/>
          <p:cNvSpPr/>
          <p:nvPr/>
        </p:nvSpPr>
        <p:spPr>
          <a:xfrm rot="-1897014">
            <a:off x="4816111" y="7801935"/>
            <a:ext cx="1571105" cy="4114800"/>
          </a:xfrm>
          <a:custGeom>
            <a:avLst/>
            <a:gdLst/>
            <a:ahLst/>
            <a:cxnLst/>
            <a:rect l="l" t="t" r="r" b="b"/>
            <a:pathLst>
              <a:path w="1571105" h="4114800">
                <a:moveTo>
                  <a:pt x="0" y="0"/>
                </a:moveTo>
                <a:lnTo>
                  <a:pt x="1571105" y="0"/>
                </a:lnTo>
                <a:lnTo>
                  <a:pt x="1571105" y="4114800"/>
                </a:lnTo>
                <a:lnTo>
                  <a:pt x="0" y="4114800"/>
                </a:lnTo>
                <a:lnTo>
                  <a:pt x="0" y="0"/>
                </a:lnTo>
                <a:close/>
              </a:path>
            </a:pathLst>
          </a:custGeom>
          <a:blipFill>
            <a:blip r:embed="rId23">
              <a:extLst>
                <a:ext uri="{96DAC541-7B7A-43D3-8B79-37D633B846F1}">
                  <asvg:svgBlip xmlns:asvg="http://schemas.microsoft.com/office/drawing/2016/SVG/main" r:embed="rId24"/>
                </a:ext>
              </a:extLst>
            </a:blip>
            <a:stretch>
              <a:fillRect/>
            </a:stretch>
          </a:blipFill>
          <a:ln cap="sq">
            <a:noFill/>
            <a:prstDash val="solid"/>
            <a:miter/>
          </a:ln>
        </p:spPr>
        <p:txBody>
          <a:bodyPr/>
          <a:lstStyle/>
          <a:p>
            <a:endParaRPr lang="en-US"/>
          </a:p>
        </p:txBody>
      </p:sp>
      <p:sp>
        <p:nvSpPr>
          <p:cNvPr id="13" name="TextBox 13"/>
          <p:cNvSpPr txBox="1"/>
          <p:nvPr/>
        </p:nvSpPr>
        <p:spPr>
          <a:xfrm>
            <a:off x="6579706" y="2339416"/>
            <a:ext cx="4956679" cy="2965538"/>
          </a:xfrm>
          <a:prstGeom prst="rect">
            <a:avLst/>
          </a:prstGeom>
        </p:spPr>
        <p:txBody>
          <a:bodyPr lIns="0" tIns="0" rIns="0" bIns="0" rtlCol="0" anchor="t">
            <a:spAutoFit/>
          </a:bodyPr>
          <a:lstStyle/>
          <a:p>
            <a:pPr algn="ctr">
              <a:lnSpc>
                <a:spcPts val="7586"/>
              </a:lnSpc>
            </a:pPr>
            <a:r>
              <a:rPr lang="en-US" sz="6773" b="1" dirty="0">
                <a:solidFill>
                  <a:srgbClr val="30547D"/>
                </a:solidFill>
                <a:latin typeface="Poppins Bold"/>
                <a:ea typeface="Poppins Bold"/>
                <a:cs typeface="Poppins Bold"/>
                <a:sym typeface="Poppins Bold"/>
              </a:rPr>
              <a:t>EBM-NLP LLM TUTORIAL</a:t>
            </a:r>
          </a:p>
        </p:txBody>
      </p:sp>
      <p:sp>
        <p:nvSpPr>
          <p:cNvPr id="14" name="TextBox 14"/>
          <p:cNvSpPr txBox="1"/>
          <p:nvPr/>
        </p:nvSpPr>
        <p:spPr>
          <a:xfrm>
            <a:off x="3931765" y="5769657"/>
            <a:ext cx="10424470" cy="2566035"/>
          </a:xfrm>
          <a:prstGeom prst="rect">
            <a:avLst/>
          </a:prstGeom>
        </p:spPr>
        <p:txBody>
          <a:bodyPr lIns="0" tIns="0" rIns="0" bIns="0" rtlCol="0" anchor="t">
            <a:spAutoFit/>
          </a:bodyPr>
          <a:lstStyle/>
          <a:p>
            <a:pPr algn="ctr">
              <a:lnSpc>
                <a:spcPts val="5039"/>
              </a:lnSpc>
            </a:pPr>
            <a:r>
              <a:rPr lang="en-US" sz="3599" i="1" spc="-71" dirty="0">
                <a:solidFill>
                  <a:srgbClr val="30547D"/>
                </a:solidFill>
                <a:latin typeface="Poppins Italics"/>
                <a:ea typeface="Poppins Italics"/>
                <a:cs typeface="Poppins Italics"/>
                <a:sym typeface="Poppins Italics"/>
              </a:rPr>
              <a:t>Joshua Ludolf</a:t>
            </a:r>
          </a:p>
          <a:p>
            <a:pPr algn="ctr">
              <a:lnSpc>
                <a:spcPts val="5039"/>
              </a:lnSpc>
            </a:pPr>
            <a:r>
              <a:rPr lang="en-US" sz="3599" i="1" spc="-71" dirty="0">
                <a:solidFill>
                  <a:srgbClr val="30547D"/>
                </a:solidFill>
                <a:latin typeface="Poppins Italics"/>
                <a:ea typeface="Poppins Italics"/>
                <a:cs typeface="Poppins Italics"/>
                <a:sym typeface="Poppins Italics"/>
              </a:rPr>
              <a:t>AI 380H - AI in Healthcare</a:t>
            </a:r>
          </a:p>
          <a:p>
            <a:pPr algn="ctr">
              <a:lnSpc>
                <a:spcPts val="5039"/>
              </a:lnSpc>
            </a:pPr>
            <a:r>
              <a:rPr lang="en-US" sz="3599" i="1" spc="-71" dirty="0">
                <a:solidFill>
                  <a:srgbClr val="30547D"/>
                </a:solidFill>
                <a:latin typeface="Poppins Italics"/>
                <a:ea typeface="Poppins Italics"/>
                <a:cs typeface="Poppins Italics"/>
                <a:sym typeface="Poppins Italics"/>
              </a:rPr>
              <a:t>University of Texas at Austin</a:t>
            </a:r>
          </a:p>
          <a:p>
            <a:pPr algn="ctr">
              <a:lnSpc>
                <a:spcPts val="5039"/>
              </a:lnSpc>
              <a:spcBef>
                <a:spcPct val="0"/>
              </a:spcBef>
            </a:pPr>
            <a:endParaRPr lang="en-US" sz="3599" i="1" spc="-71" dirty="0">
              <a:solidFill>
                <a:srgbClr val="30547D"/>
              </a:solidFill>
              <a:latin typeface="Poppins Italics"/>
              <a:ea typeface="Poppins Italics"/>
              <a:cs typeface="Poppins Italics"/>
              <a:sym typeface="Poppins Itali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0547D"/>
        </a:solidFill>
        <a:effectLst/>
      </p:bgPr>
    </p:bg>
    <p:spTree>
      <p:nvGrpSpPr>
        <p:cNvPr id="1" name=""/>
        <p:cNvGrpSpPr/>
        <p:nvPr/>
      </p:nvGrpSpPr>
      <p:grpSpPr>
        <a:xfrm>
          <a:off x="0" y="0"/>
          <a:ext cx="0" cy="0"/>
          <a:chOff x="0" y="0"/>
          <a:chExt cx="0" cy="0"/>
        </a:xfrm>
      </p:grpSpPr>
      <p:sp>
        <p:nvSpPr>
          <p:cNvPr id="2" name="TextBox 2"/>
          <p:cNvSpPr txBox="1"/>
          <p:nvPr/>
        </p:nvSpPr>
        <p:spPr>
          <a:xfrm>
            <a:off x="3281700" y="828032"/>
            <a:ext cx="11724600" cy="2412028"/>
          </a:xfrm>
          <a:prstGeom prst="rect">
            <a:avLst/>
          </a:prstGeom>
        </p:spPr>
        <p:txBody>
          <a:bodyPr lIns="0" tIns="0" rIns="0" bIns="0" rtlCol="0" anchor="t">
            <a:spAutoFit/>
          </a:bodyPr>
          <a:lstStyle/>
          <a:p>
            <a:pPr algn="ctr">
              <a:lnSpc>
                <a:spcPts val="18257"/>
              </a:lnSpc>
            </a:pPr>
            <a:r>
              <a:rPr lang="en-US" sz="16156" b="1">
                <a:solidFill>
                  <a:srgbClr val="FFFFFF"/>
                </a:solidFill>
                <a:latin typeface="Jimmy Script Bold"/>
                <a:ea typeface="Jimmy Script Bold"/>
                <a:cs typeface="Jimmy Script Bold"/>
                <a:sym typeface="Jimmy Script Bold"/>
              </a:rPr>
              <a:t>Overview</a:t>
            </a:r>
          </a:p>
        </p:txBody>
      </p:sp>
      <p:grpSp>
        <p:nvGrpSpPr>
          <p:cNvPr id="3" name="Group 3"/>
          <p:cNvGrpSpPr/>
          <p:nvPr/>
        </p:nvGrpSpPr>
        <p:grpSpPr>
          <a:xfrm>
            <a:off x="2354575" y="3563188"/>
            <a:ext cx="6266162" cy="884781"/>
            <a:chOff x="0" y="0"/>
            <a:chExt cx="8354883" cy="1179708"/>
          </a:xfrm>
        </p:grpSpPr>
        <p:sp>
          <p:nvSpPr>
            <p:cNvPr id="4" name="TextBox 4"/>
            <p:cNvSpPr txBox="1"/>
            <p:nvPr/>
          </p:nvSpPr>
          <p:spPr>
            <a:xfrm>
              <a:off x="0" y="-161925"/>
              <a:ext cx="1589793" cy="1341633"/>
            </a:xfrm>
            <a:prstGeom prst="rect">
              <a:avLst/>
            </a:prstGeom>
          </p:spPr>
          <p:txBody>
            <a:bodyPr lIns="0" tIns="0" rIns="0" bIns="0" rtlCol="0" anchor="t">
              <a:spAutoFit/>
            </a:bodyPr>
            <a:lstStyle/>
            <a:p>
              <a:pPr marL="0" lvl="0" indent="0" algn="l">
                <a:lnSpc>
                  <a:spcPts val="8176"/>
                </a:lnSpc>
                <a:spcBef>
                  <a:spcPct val="0"/>
                </a:spcBef>
              </a:pPr>
              <a:r>
                <a:rPr lang="en-US" sz="5840" b="1" u="none" strike="noStrike">
                  <a:solidFill>
                    <a:srgbClr val="FFFFFF"/>
                  </a:solidFill>
                  <a:latin typeface="Poppins Bold"/>
                  <a:ea typeface="Poppins Bold"/>
                  <a:cs typeface="Poppins Bold"/>
                  <a:sym typeface="Poppins Bold"/>
                </a:rPr>
                <a:t>01</a:t>
              </a:r>
            </a:p>
          </p:txBody>
        </p:sp>
        <p:sp>
          <p:nvSpPr>
            <p:cNvPr id="5" name="TextBox 5"/>
            <p:cNvSpPr txBox="1"/>
            <p:nvPr/>
          </p:nvSpPr>
          <p:spPr>
            <a:xfrm>
              <a:off x="1589793" y="144353"/>
              <a:ext cx="6765090" cy="726652"/>
            </a:xfrm>
            <a:prstGeom prst="rect">
              <a:avLst/>
            </a:prstGeom>
          </p:spPr>
          <p:txBody>
            <a:bodyPr lIns="0" tIns="0" rIns="0" bIns="0" rtlCol="0" anchor="t">
              <a:spAutoFit/>
            </a:bodyPr>
            <a:lstStyle/>
            <a:p>
              <a:pPr marL="0" lvl="0" indent="0" algn="l">
                <a:lnSpc>
                  <a:spcPts val="4480"/>
                </a:lnSpc>
                <a:spcBef>
                  <a:spcPct val="0"/>
                </a:spcBef>
              </a:pPr>
              <a:r>
                <a:rPr lang="en-US" sz="3200" b="1">
                  <a:solidFill>
                    <a:srgbClr val="FFFFFF"/>
                  </a:solidFill>
                  <a:latin typeface="Poppins Bold"/>
                  <a:ea typeface="Poppins Bold"/>
                  <a:cs typeface="Poppins Bold"/>
                  <a:sym typeface="Poppins Bold"/>
                </a:rPr>
                <a:t>INTRODUCTION</a:t>
              </a:r>
            </a:p>
          </p:txBody>
        </p:sp>
      </p:grpSp>
      <p:grpSp>
        <p:nvGrpSpPr>
          <p:cNvPr id="6" name="Group 6"/>
          <p:cNvGrpSpPr/>
          <p:nvPr/>
        </p:nvGrpSpPr>
        <p:grpSpPr>
          <a:xfrm>
            <a:off x="9528828" y="3563188"/>
            <a:ext cx="6404597" cy="884781"/>
            <a:chOff x="0" y="0"/>
            <a:chExt cx="8539462" cy="1179708"/>
          </a:xfrm>
        </p:grpSpPr>
        <p:sp>
          <p:nvSpPr>
            <p:cNvPr id="7" name="TextBox 7"/>
            <p:cNvSpPr txBox="1"/>
            <p:nvPr/>
          </p:nvSpPr>
          <p:spPr>
            <a:xfrm>
              <a:off x="0" y="-161925"/>
              <a:ext cx="1774372" cy="1341633"/>
            </a:xfrm>
            <a:prstGeom prst="rect">
              <a:avLst/>
            </a:prstGeom>
          </p:spPr>
          <p:txBody>
            <a:bodyPr lIns="0" tIns="0" rIns="0" bIns="0" rtlCol="0" anchor="t">
              <a:spAutoFit/>
            </a:bodyPr>
            <a:lstStyle/>
            <a:p>
              <a:pPr algn="l">
                <a:lnSpc>
                  <a:spcPts val="8176"/>
                </a:lnSpc>
              </a:pPr>
              <a:r>
                <a:rPr lang="en-US" sz="5840" b="1">
                  <a:solidFill>
                    <a:srgbClr val="FFFFFF"/>
                  </a:solidFill>
                  <a:latin typeface="Poppins Bold"/>
                  <a:ea typeface="Poppins Bold"/>
                  <a:cs typeface="Poppins Bold"/>
                  <a:sym typeface="Poppins Bold"/>
                </a:rPr>
                <a:t>02</a:t>
              </a:r>
            </a:p>
          </p:txBody>
        </p:sp>
        <p:sp>
          <p:nvSpPr>
            <p:cNvPr id="8" name="TextBox 8"/>
            <p:cNvSpPr txBox="1"/>
            <p:nvPr/>
          </p:nvSpPr>
          <p:spPr>
            <a:xfrm>
              <a:off x="1774372" y="142259"/>
              <a:ext cx="6765090" cy="732329"/>
            </a:xfrm>
            <a:prstGeom prst="rect">
              <a:avLst/>
            </a:prstGeom>
          </p:spPr>
          <p:txBody>
            <a:bodyPr lIns="0" tIns="0" rIns="0" bIns="0" rtlCol="0" anchor="t">
              <a:spAutoFit/>
            </a:bodyPr>
            <a:lstStyle/>
            <a:p>
              <a:pPr marL="0" lvl="0" indent="0" algn="l">
                <a:lnSpc>
                  <a:spcPts val="4480"/>
                </a:lnSpc>
                <a:spcBef>
                  <a:spcPct val="0"/>
                </a:spcBef>
              </a:pPr>
              <a:r>
                <a:rPr lang="en-US" sz="3200" b="1">
                  <a:solidFill>
                    <a:srgbClr val="FFFFFF"/>
                  </a:solidFill>
                  <a:latin typeface="Poppins Bold"/>
                  <a:ea typeface="Poppins Bold"/>
                  <a:cs typeface="Poppins Bold"/>
                  <a:sym typeface="Poppins Bold"/>
                </a:rPr>
                <a:t>DATA PREPARATION</a:t>
              </a:r>
            </a:p>
          </p:txBody>
        </p:sp>
      </p:grpSp>
      <p:grpSp>
        <p:nvGrpSpPr>
          <p:cNvPr id="9" name="Group 9"/>
          <p:cNvGrpSpPr/>
          <p:nvPr/>
        </p:nvGrpSpPr>
        <p:grpSpPr>
          <a:xfrm>
            <a:off x="2354575" y="5209969"/>
            <a:ext cx="6266162" cy="884781"/>
            <a:chOff x="0" y="0"/>
            <a:chExt cx="8354883" cy="1179708"/>
          </a:xfrm>
        </p:grpSpPr>
        <p:sp>
          <p:nvSpPr>
            <p:cNvPr id="10" name="TextBox 10"/>
            <p:cNvSpPr txBox="1"/>
            <p:nvPr/>
          </p:nvSpPr>
          <p:spPr>
            <a:xfrm>
              <a:off x="0" y="-161925"/>
              <a:ext cx="1589793" cy="1341633"/>
            </a:xfrm>
            <a:prstGeom prst="rect">
              <a:avLst/>
            </a:prstGeom>
          </p:spPr>
          <p:txBody>
            <a:bodyPr lIns="0" tIns="0" rIns="0" bIns="0" rtlCol="0" anchor="t">
              <a:spAutoFit/>
            </a:bodyPr>
            <a:lstStyle/>
            <a:p>
              <a:pPr marL="0" lvl="0" indent="0" algn="l">
                <a:lnSpc>
                  <a:spcPts val="8176"/>
                </a:lnSpc>
                <a:spcBef>
                  <a:spcPct val="0"/>
                </a:spcBef>
              </a:pPr>
              <a:r>
                <a:rPr lang="en-US" sz="5840" b="1" u="none" strike="noStrike">
                  <a:solidFill>
                    <a:srgbClr val="FFFFFF"/>
                  </a:solidFill>
                  <a:latin typeface="Poppins Bold"/>
                  <a:ea typeface="Poppins Bold"/>
                  <a:cs typeface="Poppins Bold"/>
                  <a:sym typeface="Poppins Bold"/>
                </a:rPr>
                <a:t>03</a:t>
              </a:r>
            </a:p>
          </p:txBody>
        </p:sp>
        <p:sp>
          <p:nvSpPr>
            <p:cNvPr id="11" name="TextBox 11"/>
            <p:cNvSpPr txBox="1"/>
            <p:nvPr/>
          </p:nvSpPr>
          <p:spPr>
            <a:xfrm>
              <a:off x="1589793" y="142321"/>
              <a:ext cx="6765090" cy="732206"/>
            </a:xfrm>
            <a:prstGeom prst="rect">
              <a:avLst/>
            </a:prstGeom>
          </p:spPr>
          <p:txBody>
            <a:bodyPr lIns="0" tIns="0" rIns="0" bIns="0" rtlCol="0" anchor="t">
              <a:spAutoFit/>
            </a:bodyPr>
            <a:lstStyle/>
            <a:p>
              <a:pPr marL="0" lvl="0" indent="0" algn="l">
                <a:lnSpc>
                  <a:spcPts val="4480"/>
                </a:lnSpc>
                <a:spcBef>
                  <a:spcPct val="0"/>
                </a:spcBef>
              </a:pPr>
              <a:r>
                <a:rPr lang="en-US" sz="3200" b="1">
                  <a:solidFill>
                    <a:srgbClr val="FFFFFF"/>
                  </a:solidFill>
                  <a:latin typeface="Poppins Bold"/>
                  <a:ea typeface="Poppins Bold"/>
                  <a:cs typeface="Poppins Bold"/>
                  <a:sym typeface="Poppins Bold"/>
                </a:rPr>
                <a:t>LLM INSTALLATION</a:t>
              </a:r>
            </a:p>
          </p:txBody>
        </p:sp>
      </p:grpSp>
      <p:grpSp>
        <p:nvGrpSpPr>
          <p:cNvPr id="12" name="Group 12"/>
          <p:cNvGrpSpPr/>
          <p:nvPr/>
        </p:nvGrpSpPr>
        <p:grpSpPr>
          <a:xfrm>
            <a:off x="9528828" y="5209969"/>
            <a:ext cx="6404597" cy="884781"/>
            <a:chOff x="0" y="0"/>
            <a:chExt cx="8539462" cy="1179708"/>
          </a:xfrm>
        </p:grpSpPr>
        <p:sp>
          <p:nvSpPr>
            <p:cNvPr id="13" name="TextBox 13"/>
            <p:cNvSpPr txBox="1"/>
            <p:nvPr/>
          </p:nvSpPr>
          <p:spPr>
            <a:xfrm>
              <a:off x="0" y="-161925"/>
              <a:ext cx="1774372" cy="1341633"/>
            </a:xfrm>
            <a:prstGeom prst="rect">
              <a:avLst/>
            </a:prstGeom>
          </p:spPr>
          <p:txBody>
            <a:bodyPr lIns="0" tIns="0" rIns="0" bIns="0" rtlCol="0" anchor="t">
              <a:spAutoFit/>
            </a:bodyPr>
            <a:lstStyle/>
            <a:p>
              <a:pPr algn="l">
                <a:lnSpc>
                  <a:spcPts val="8176"/>
                </a:lnSpc>
              </a:pPr>
              <a:r>
                <a:rPr lang="en-US" sz="5840" b="1">
                  <a:solidFill>
                    <a:srgbClr val="FFFFFF"/>
                  </a:solidFill>
                  <a:latin typeface="Poppins Bold"/>
                  <a:ea typeface="Poppins Bold"/>
                  <a:cs typeface="Poppins Bold"/>
                  <a:sym typeface="Poppins Bold"/>
                </a:rPr>
                <a:t>04</a:t>
              </a:r>
            </a:p>
          </p:txBody>
        </p:sp>
        <p:sp>
          <p:nvSpPr>
            <p:cNvPr id="14" name="TextBox 14"/>
            <p:cNvSpPr txBox="1"/>
            <p:nvPr/>
          </p:nvSpPr>
          <p:spPr>
            <a:xfrm>
              <a:off x="1774372" y="142321"/>
              <a:ext cx="6765090" cy="732206"/>
            </a:xfrm>
            <a:prstGeom prst="rect">
              <a:avLst/>
            </a:prstGeom>
          </p:spPr>
          <p:txBody>
            <a:bodyPr lIns="0" tIns="0" rIns="0" bIns="0" rtlCol="0" anchor="t">
              <a:spAutoFit/>
            </a:bodyPr>
            <a:lstStyle/>
            <a:p>
              <a:pPr marL="0" lvl="0" indent="0" algn="l">
                <a:lnSpc>
                  <a:spcPts val="4480"/>
                </a:lnSpc>
                <a:spcBef>
                  <a:spcPct val="0"/>
                </a:spcBef>
              </a:pPr>
              <a:r>
                <a:rPr lang="en-US" sz="3200" b="1">
                  <a:solidFill>
                    <a:srgbClr val="FFFFFF"/>
                  </a:solidFill>
                  <a:latin typeface="Poppins Bold"/>
                  <a:ea typeface="Poppins Bold"/>
                  <a:cs typeface="Poppins Bold"/>
                  <a:sym typeface="Poppins Bold"/>
                </a:rPr>
                <a:t>CHAIN OF THOUGHT</a:t>
              </a:r>
            </a:p>
          </p:txBody>
        </p:sp>
      </p:grpSp>
      <p:grpSp>
        <p:nvGrpSpPr>
          <p:cNvPr id="15" name="Group 15"/>
          <p:cNvGrpSpPr/>
          <p:nvPr/>
        </p:nvGrpSpPr>
        <p:grpSpPr>
          <a:xfrm>
            <a:off x="2354575" y="6856750"/>
            <a:ext cx="6266162" cy="884781"/>
            <a:chOff x="0" y="0"/>
            <a:chExt cx="8354883" cy="1179708"/>
          </a:xfrm>
        </p:grpSpPr>
        <p:sp>
          <p:nvSpPr>
            <p:cNvPr id="16" name="TextBox 16"/>
            <p:cNvSpPr txBox="1"/>
            <p:nvPr/>
          </p:nvSpPr>
          <p:spPr>
            <a:xfrm>
              <a:off x="0" y="-161925"/>
              <a:ext cx="1589793" cy="1341633"/>
            </a:xfrm>
            <a:prstGeom prst="rect">
              <a:avLst/>
            </a:prstGeom>
          </p:spPr>
          <p:txBody>
            <a:bodyPr lIns="0" tIns="0" rIns="0" bIns="0" rtlCol="0" anchor="t">
              <a:spAutoFit/>
            </a:bodyPr>
            <a:lstStyle/>
            <a:p>
              <a:pPr marL="0" lvl="0" indent="0" algn="l">
                <a:lnSpc>
                  <a:spcPts val="8176"/>
                </a:lnSpc>
                <a:spcBef>
                  <a:spcPct val="0"/>
                </a:spcBef>
              </a:pPr>
              <a:r>
                <a:rPr lang="en-US" sz="5840" b="1" u="none" strike="noStrike">
                  <a:solidFill>
                    <a:srgbClr val="FFFFFF"/>
                  </a:solidFill>
                  <a:latin typeface="Poppins Bold"/>
                  <a:ea typeface="Poppins Bold"/>
                  <a:cs typeface="Poppins Bold"/>
                  <a:sym typeface="Poppins Bold"/>
                </a:rPr>
                <a:t>05</a:t>
              </a:r>
            </a:p>
          </p:txBody>
        </p:sp>
        <p:sp>
          <p:nvSpPr>
            <p:cNvPr id="17" name="TextBox 17"/>
            <p:cNvSpPr txBox="1"/>
            <p:nvPr/>
          </p:nvSpPr>
          <p:spPr>
            <a:xfrm>
              <a:off x="1589793" y="142321"/>
              <a:ext cx="6765090" cy="732206"/>
            </a:xfrm>
            <a:prstGeom prst="rect">
              <a:avLst/>
            </a:prstGeom>
          </p:spPr>
          <p:txBody>
            <a:bodyPr lIns="0" tIns="0" rIns="0" bIns="0" rtlCol="0" anchor="t">
              <a:spAutoFit/>
            </a:bodyPr>
            <a:lstStyle/>
            <a:p>
              <a:pPr marL="0" lvl="0" indent="0" algn="l">
                <a:lnSpc>
                  <a:spcPts val="4480"/>
                </a:lnSpc>
                <a:spcBef>
                  <a:spcPct val="0"/>
                </a:spcBef>
              </a:pPr>
              <a:r>
                <a:rPr lang="en-US" sz="3200" b="1">
                  <a:solidFill>
                    <a:srgbClr val="FFFFFF"/>
                  </a:solidFill>
                  <a:latin typeface="Poppins Bold"/>
                  <a:ea typeface="Poppins Bold"/>
                  <a:cs typeface="Poppins Bold"/>
                  <a:sym typeface="Poppins Bold"/>
                </a:rPr>
                <a:t>TREE OF THOUGHT</a:t>
              </a:r>
            </a:p>
          </p:txBody>
        </p:sp>
      </p:grpSp>
      <p:grpSp>
        <p:nvGrpSpPr>
          <p:cNvPr id="18" name="Group 18"/>
          <p:cNvGrpSpPr/>
          <p:nvPr/>
        </p:nvGrpSpPr>
        <p:grpSpPr>
          <a:xfrm>
            <a:off x="9528828" y="6856750"/>
            <a:ext cx="6404597" cy="884781"/>
            <a:chOff x="0" y="0"/>
            <a:chExt cx="8539462" cy="1179708"/>
          </a:xfrm>
        </p:grpSpPr>
        <p:sp>
          <p:nvSpPr>
            <p:cNvPr id="19" name="TextBox 19"/>
            <p:cNvSpPr txBox="1"/>
            <p:nvPr/>
          </p:nvSpPr>
          <p:spPr>
            <a:xfrm>
              <a:off x="0" y="-161925"/>
              <a:ext cx="1774372" cy="1341633"/>
            </a:xfrm>
            <a:prstGeom prst="rect">
              <a:avLst/>
            </a:prstGeom>
          </p:spPr>
          <p:txBody>
            <a:bodyPr lIns="0" tIns="0" rIns="0" bIns="0" rtlCol="0" anchor="t">
              <a:spAutoFit/>
            </a:bodyPr>
            <a:lstStyle/>
            <a:p>
              <a:pPr algn="l">
                <a:lnSpc>
                  <a:spcPts val="8176"/>
                </a:lnSpc>
              </a:pPr>
              <a:r>
                <a:rPr lang="en-US" sz="5840" b="1">
                  <a:solidFill>
                    <a:srgbClr val="FFFFFF"/>
                  </a:solidFill>
                  <a:latin typeface="Poppins Bold"/>
                  <a:ea typeface="Poppins Bold"/>
                  <a:cs typeface="Poppins Bold"/>
                  <a:sym typeface="Poppins Bold"/>
                </a:rPr>
                <a:t>06</a:t>
              </a:r>
            </a:p>
          </p:txBody>
        </p:sp>
        <p:sp>
          <p:nvSpPr>
            <p:cNvPr id="20" name="TextBox 20"/>
            <p:cNvSpPr txBox="1"/>
            <p:nvPr/>
          </p:nvSpPr>
          <p:spPr>
            <a:xfrm>
              <a:off x="1774372" y="142321"/>
              <a:ext cx="6765090" cy="732206"/>
            </a:xfrm>
            <a:prstGeom prst="rect">
              <a:avLst/>
            </a:prstGeom>
          </p:spPr>
          <p:txBody>
            <a:bodyPr lIns="0" tIns="0" rIns="0" bIns="0" rtlCol="0" anchor="t">
              <a:spAutoFit/>
            </a:bodyPr>
            <a:lstStyle/>
            <a:p>
              <a:pPr marL="0" lvl="0" indent="0" algn="l">
                <a:lnSpc>
                  <a:spcPts val="4480"/>
                </a:lnSpc>
                <a:spcBef>
                  <a:spcPct val="0"/>
                </a:spcBef>
              </a:pPr>
              <a:r>
                <a:rPr lang="en-US" sz="3200" b="1">
                  <a:solidFill>
                    <a:srgbClr val="FFFFFF"/>
                  </a:solidFill>
                  <a:latin typeface="Poppins Bold"/>
                  <a:ea typeface="Poppins Bold"/>
                  <a:cs typeface="Poppins Bold"/>
                  <a:sym typeface="Poppins Bold"/>
                </a:rPr>
                <a:t>EVALUATION</a:t>
              </a:r>
            </a:p>
          </p:txBody>
        </p:sp>
      </p:grpSp>
      <p:sp>
        <p:nvSpPr>
          <p:cNvPr id="21" name="Freeform 21"/>
          <p:cNvSpPr/>
          <p:nvPr/>
        </p:nvSpPr>
        <p:spPr>
          <a:xfrm>
            <a:off x="-521054" y="364995"/>
            <a:ext cx="3099508" cy="2440158"/>
          </a:xfrm>
          <a:custGeom>
            <a:avLst/>
            <a:gdLst/>
            <a:ahLst/>
            <a:cxnLst/>
            <a:rect l="l" t="t" r="r" b="b"/>
            <a:pathLst>
              <a:path w="3099508" h="2440158">
                <a:moveTo>
                  <a:pt x="0" y="0"/>
                </a:moveTo>
                <a:lnTo>
                  <a:pt x="3099508" y="0"/>
                </a:lnTo>
                <a:lnTo>
                  <a:pt x="3099508" y="2440158"/>
                </a:lnTo>
                <a:lnTo>
                  <a:pt x="0" y="2440158"/>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22" name="Freeform 22"/>
          <p:cNvSpPr/>
          <p:nvPr/>
        </p:nvSpPr>
        <p:spPr>
          <a:xfrm rot="-554550">
            <a:off x="16680233" y="4303873"/>
            <a:ext cx="2067768" cy="2505005"/>
          </a:xfrm>
          <a:custGeom>
            <a:avLst/>
            <a:gdLst/>
            <a:ahLst/>
            <a:cxnLst/>
            <a:rect l="l" t="t" r="r" b="b"/>
            <a:pathLst>
              <a:path w="2067768" h="2505005">
                <a:moveTo>
                  <a:pt x="0" y="0"/>
                </a:moveTo>
                <a:lnTo>
                  <a:pt x="2067768" y="0"/>
                </a:lnTo>
                <a:lnTo>
                  <a:pt x="2067768" y="2505005"/>
                </a:lnTo>
                <a:lnTo>
                  <a:pt x="0" y="25050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A9CEDF"/>
        </a:solidFill>
        <a:effectLst/>
      </p:bgPr>
    </p:bg>
    <p:spTree>
      <p:nvGrpSpPr>
        <p:cNvPr id="1" name=""/>
        <p:cNvGrpSpPr/>
        <p:nvPr/>
      </p:nvGrpSpPr>
      <p:grpSpPr>
        <a:xfrm>
          <a:off x="0" y="0"/>
          <a:ext cx="0" cy="0"/>
          <a:chOff x="0" y="0"/>
          <a:chExt cx="0" cy="0"/>
        </a:xfrm>
      </p:grpSpPr>
      <p:sp>
        <p:nvSpPr>
          <p:cNvPr id="2" name="Freeform 2"/>
          <p:cNvSpPr/>
          <p:nvPr/>
        </p:nvSpPr>
        <p:spPr>
          <a:xfrm rot="5400000">
            <a:off x="5701415" y="-884892"/>
            <a:ext cx="6885170" cy="13401215"/>
          </a:xfrm>
          <a:custGeom>
            <a:avLst/>
            <a:gdLst/>
            <a:ahLst/>
            <a:cxnLst/>
            <a:rect l="l" t="t" r="r" b="b"/>
            <a:pathLst>
              <a:path w="6885170" h="13401215">
                <a:moveTo>
                  <a:pt x="0" y="0"/>
                </a:moveTo>
                <a:lnTo>
                  <a:pt x="6885170" y="0"/>
                </a:lnTo>
                <a:lnTo>
                  <a:pt x="6885170" y="13401215"/>
                </a:lnTo>
                <a:lnTo>
                  <a:pt x="0" y="13401215"/>
                </a:lnTo>
                <a:lnTo>
                  <a:pt x="0" y="0"/>
                </a:lnTo>
                <a:close/>
              </a:path>
            </a:pathLst>
          </a:custGeom>
          <a:blipFill>
            <a:blip r:embed="rId3">
              <a:extLst>
                <a:ext uri="{96DAC541-7B7A-43D3-8B79-37D633B846F1}">
                  <asvg:svgBlip xmlns:asvg="http://schemas.microsoft.com/office/drawing/2016/SVG/main" r:embed="rId4"/>
                </a:ext>
              </a:extLst>
            </a:blip>
            <a:stretch>
              <a:fillRect t="-123" r="-37833"/>
            </a:stretch>
          </a:blipFill>
          <a:ln cap="sq">
            <a:noFill/>
            <a:prstDash val="solid"/>
            <a:miter/>
          </a:ln>
        </p:spPr>
        <p:txBody>
          <a:bodyPr/>
          <a:lstStyle/>
          <a:p>
            <a:endParaRPr lang="en-US"/>
          </a:p>
        </p:txBody>
      </p:sp>
      <p:sp>
        <p:nvSpPr>
          <p:cNvPr id="3" name="Freeform 3"/>
          <p:cNvSpPr/>
          <p:nvPr/>
        </p:nvSpPr>
        <p:spPr>
          <a:xfrm>
            <a:off x="7502735" y="1028700"/>
            <a:ext cx="3282531" cy="2954278"/>
          </a:xfrm>
          <a:custGeom>
            <a:avLst/>
            <a:gdLst/>
            <a:ahLst/>
            <a:cxnLst/>
            <a:rect l="l" t="t" r="r" b="b"/>
            <a:pathLst>
              <a:path w="3282531" h="2954278">
                <a:moveTo>
                  <a:pt x="0" y="0"/>
                </a:moveTo>
                <a:lnTo>
                  <a:pt x="3282530" y="0"/>
                </a:lnTo>
                <a:lnTo>
                  <a:pt x="3282530" y="2954278"/>
                </a:lnTo>
                <a:lnTo>
                  <a:pt x="0" y="295427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TextBox 4"/>
          <p:cNvSpPr txBox="1"/>
          <p:nvPr/>
        </p:nvSpPr>
        <p:spPr>
          <a:xfrm>
            <a:off x="3694779" y="5615147"/>
            <a:ext cx="10898443" cy="2600689"/>
          </a:xfrm>
          <a:prstGeom prst="rect">
            <a:avLst/>
          </a:prstGeom>
        </p:spPr>
        <p:txBody>
          <a:bodyPr lIns="0" tIns="0" rIns="0" bIns="0" rtlCol="0" anchor="t">
            <a:spAutoFit/>
          </a:bodyPr>
          <a:lstStyle/>
          <a:p>
            <a:pPr algn="ctr">
              <a:lnSpc>
                <a:spcPts val="2604"/>
              </a:lnSpc>
              <a:spcBef>
                <a:spcPct val="0"/>
              </a:spcBef>
            </a:pPr>
            <a:r>
              <a:rPr lang="en-US" sz="1860" i="1" spc="-37">
                <a:solidFill>
                  <a:srgbClr val="30547D"/>
                </a:solidFill>
                <a:latin typeface="Poppins Italics"/>
                <a:ea typeface="Poppins Italics"/>
                <a:cs typeface="Poppins Italics"/>
                <a:sym typeface="Poppins Italics"/>
              </a:rPr>
              <a:t>In this tutorial, we delve into the fascinating world of data analysis and machine learning on the EBM-NLP dataset. Designed for both beginners and experienced users, this tutorial provides a comprehensive guide on how to harness Python's powerful libraries (e.g: Ollama) to manipulate data that was textbased for Large Language Model. By exploring step-by-step examples and practical exercises, users will gain hands-on experience in building prompts using: chain of thought and tree of thought; and drawing meaningful insights from data. Whether you're looking to enhance your skills or embark on a new analytical journey, this tutorial serves as an essential resource for mastering data-driven decision-making.</a:t>
            </a:r>
          </a:p>
        </p:txBody>
      </p:sp>
      <p:sp>
        <p:nvSpPr>
          <p:cNvPr id="5" name="TextBox 5"/>
          <p:cNvSpPr txBox="1"/>
          <p:nvPr/>
        </p:nvSpPr>
        <p:spPr>
          <a:xfrm>
            <a:off x="4689945" y="4307586"/>
            <a:ext cx="8610413" cy="835914"/>
          </a:xfrm>
          <a:prstGeom prst="rect">
            <a:avLst/>
          </a:prstGeom>
        </p:spPr>
        <p:txBody>
          <a:bodyPr lIns="0" tIns="0" rIns="0" bIns="0" rtlCol="0" anchor="t">
            <a:spAutoFit/>
          </a:bodyPr>
          <a:lstStyle/>
          <a:p>
            <a:pPr algn="ctr">
              <a:lnSpc>
                <a:spcPts val="6048"/>
              </a:lnSpc>
            </a:pPr>
            <a:r>
              <a:rPr lang="en-US" sz="5400" b="1">
                <a:solidFill>
                  <a:srgbClr val="30547D"/>
                </a:solidFill>
                <a:latin typeface="Poppins Bold"/>
                <a:ea typeface="Poppins Bold"/>
                <a:cs typeface="Poppins Bold"/>
                <a:sym typeface="Poppins Bold"/>
              </a:rPr>
              <a:t>INTRODUCTION</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0547D"/>
        </a:solidFill>
        <a:effectLst/>
      </p:bgPr>
    </p:bg>
    <p:spTree>
      <p:nvGrpSpPr>
        <p:cNvPr id="1" name=""/>
        <p:cNvGrpSpPr/>
        <p:nvPr/>
      </p:nvGrpSpPr>
      <p:grpSpPr>
        <a:xfrm>
          <a:off x="0" y="0"/>
          <a:ext cx="0" cy="0"/>
          <a:chOff x="0" y="0"/>
          <a:chExt cx="0" cy="0"/>
        </a:xfrm>
      </p:grpSpPr>
      <p:sp>
        <p:nvSpPr>
          <p:cNvPr id="2" name="Freeform 2"/>
          <p:cNvSpPr/>
          <p:nvPr/>
        </p:nvSpPr>
        <p:spPr>
          <a:xfrm>
            <a:off x="8030443" y="3396252"/>
            <a:ext cx="9228857" cy="2111101"/>
          </a:xfrm>
          <a:custGeom>
            <a:avLst/>
            <a:gdLst/>
            <a:ahLst/>
            <a:cxnLst/>
            <a:rect l="l" t="t" r="r" b="b"/>
            <a:pathLst>
              <a:path w="9228857" h="2111101">
                <a:moveTo>
                  <a:pt x="0" y="0"/>
                </a:moveTo>
                <a:lnTo>
                  <a:pt x="9228857" y="0"/>
                </a:lnTo>
                <a:lnTo>
                  <a:pt x="9228857" y="2111101"/>
                </a:lnTo>
                <a:lnTo>
                  <a:pt x="0" y="2111101"/>
                </a:lnTo>
                <a:lnTo>
                  <a:pt x="0" y="0"/>
                </a:lnTo>
                <a:close/>
              </a:path>
            </a:pathLst>
          </a:custGeom>
          <a:blipFill>
            <a:blip r:embed="rId3"/>
            <a:stretch>
              <a:fillRect/>
            </a:stretch>
          </a:blipFill>
        </p:spPr>
        <p:txBody>
          <a:bodyPr/>
          <a:lstStyle/>
          <a:p>
            <a:endParaRPr lang="en-US"/>
          </a:p>
        </p:txBody>
      </p:sp>
      <p:sp>
        <p:nvSpPr>
          <p:cNvPr id="3" name="Freeform 3"/>
          <p:cNvSpPr/>
          <p:nvPr/>
        </p:nvSpPr>
        <p:spPr>
          <a:xfrm>
            <a:off x="1028700" y="2022703"/>
            <a:ext cx="6786692" cy="4368933"/>
          </a:xfrm>
          <a:custGeom>
            <a:avLst/>
            <a:gdLst/>
            <a:ahLst/>
            <a:cxnLst/>
            <a:rect l="l" t="t" r="r" b="b"/>
            <a:pathLst>
              <a:path w="6786692" h="4368933">
                <a:moveTo>
                  <a:pt x="0" y="0"/>
                </a:moveTo>
                <a:lnTo>
                  <a:pt x="6786692" y="0"/>
                </a:lnTo>
                <a:lnTo>
                  <a:pt x="6786692" y="4368933"/>
                </a:lnTo>
                <a:lnTo>
                  <a:pt x="0" y="4368933"/>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8092060" y="5776595"/>
            <a:ext cx="9105622" cy="3481705"/>
          </a:xfrm>
          <a:prstGeom prst="rect">
            <a:avLst/>
          </a:prstGeom>
        </p:spPr>
        <p:txBody>
          <a:bodyPr lIns="0" tIns="0" rIns="0" bIns="0" rtlCol="0" anchor="t">
            <a:spAutoFit/>
          </a:bodyPr>
          <a:lstStyle/>
          <a:p>
            <a:pPr algn="l">
              <a:lnSpc>
                <a:spcPts val="3919"/>
              </a:lnSpc>
            </a:pPr>
            <a:r>
              <a:rPr lang="en-US" sz="2799">
                <a:solidFill>
                  <a:srgbClr val="FFFFFF"/>
                </a:solidFill>
                <a:latin typeface="Poppins"/>
                <a:ea typeface="Poppins"/>
                <a:cs typeface="Poppins"/>
                <a:sym typeface="Poppins"/>
              </a:rPr>
              <a:t>Steps we followed to prep the data:</a:t>
            </a:r>
          </a:p>
          <a:p>
            <a:pPr marL="604519" lvl="1" indent="-302260" algn="l">
              <a:lnSpc>
                <a:spcPts val="3919"/>
              </a:lnSpc>
              <a:buAutoNum type="arabicPeriod"/>
            </a:pPr>
            <a:r>
              <a:rPr lang="en-US" sz="2799">
                <a:solidFill>
                  <a:srgbClr val="FFFFFF"/>
                </a:solidFill>
                <a:latin typeface="Poppins"/>
                <a:ea typeface="Poppins"/>
                <a:cs typeface="Poppins"/>
                <a:sym typeface="Poppins"/>
              </a:rPr>
              <a:t> Drop duplicates and empty rows. </a:t>
            </a:r>
          </a:p>
          <a:p>
            <a:pPr marL="604519" lvl="1" indent="-302260" algn="l">
              <a:lnSpc>
                <a:spcPts val="3919"/>
              </a:lnSpc>
              <a:buAutoNum type="arabicPeriod"/>
            </a:pPr>
            <a:r>
              <a:rPr lang="en-US" sz="2799">
                <a:solidFill>
                  <a:srgbClr val="FFFFFF"/>
                </a:solidFill>
                <a:latin typeface="Poppins"/>
                <a:ea typeface="Poppins"/>
                <a:cs typeface="Poppins"/>
                <a:sym typeface="Poppins"/>
              </a:rPr>
              <a:t>Normalize text (lowercase, trim, remove links, emojis, and punctuation). </a:t>
            </a:r>
          </a:p>
          <a:p>
            <a:pPr marL="604519" lvl="1" indent="-302260" algn="l">
              <a:lnSpc>
                <a:spcPts val="3919"/>
              </a:lnSpc>
              <a:buAutoNum type="arabicPeriod"/>
            </a:pPr>
            <a:r>
              <a:rPr lang="en-US" sz="2799">
                <a:solidFill>
                  <a:srgbClr val="FFFFFF"/>
                </a:solidFill>
                <a:latin typeface="Poppins"/>
                <a:ea typeface="Poppins"/>
                <a:cs typeface="Poppins"/>
                <a:sym typeface="Poppins"/>
              </a:rPr>
              <a:t>Tokenize, remove stop words, and lemmatize.  </a:t>
            </a:r>
          </a:p>
          <a:p>
            <a:pPr marL="604519" lvl="1" indent="-302260" algn="l">
              <a:lnSpc>
                <a:spcPts val="3919"/>
              </a:lnSpc>
              <a:buAutoNum type="arabicPeriod"/>
            </a:pPr>
            <a:r>
              <a:rPr lang="en-US" sz="2799">
                <a:solidFill>
                  <a:srgbClr val="FFFFFF"/>
                </a:solidFill>
                <a:latin typeface="Poppins"/>
                <a:ea typeface="Poppins"/>
                <a:cs typeface="Poppins"/>
                <a:sym typeface="Poppins"/>
              </a:rPr>
              <a:t>Keep a tidy table with original and processed text.</a:t>
            </a:r>
          </a:p>
        </p:txBody>
      </p:sp>
      <p:sp>
        <p:nvSpPr>
          <p:cNvPr id="5" name="TextBox 5"/>
          <p:cNvSpPr txBox="1"/>
          <p:nvPr/>
        </p:nvSpPr>
        <p:spPr>
          <a:xfrm>
            <a:off x="1028700" y="1009650"/>
            <a:ext cx="8610413" cy="835914"/>
          </a:xfrm>
          <a:prstGeom prst="rect">
            <a:avLst/>
          </a:prstGeom>
        </p:spPr>
        <p:txBody>
          <a:bodyPr lIns="0" tIns="0" rIns="0" bIns="0" rtlCol="0" anchor="t">
            <a:spAutoFit/>
          </a:bodyPr>
          <a:lstStyle/>
          <a:p>
            <a:pPr algn="l">
              <a:lnSpc>
                <a:spcPts val="6048"/>
              </a:lnSpc>
            </a:pPr>
            <a:r>
              <a:rPr lang="en-US" sz="5400" b="1">
                <a:solidFill>
                  <a:srgbClr val="FFFFFF"/>
                </a:solidFill>
                <a:latin typeface="Poppins Bold"/>
                <a:ea typeface="Poppins Bold"/>
                <a:cs typeface="Poppins Bold"/>
                <a:sym typeface="Poppins Bold"/>
              </a:rPr>
              <a:t>DATA PREPARATION</a:t>
            </a:r>
          </a:p>
        </p:txBody>
      </p:sp>
      <p:sp>
        <p:nvSpPr>
          <p:cNvPr id="6" name="TextBox 6"/>
          <p:cNvSpPr txBox="1"/>
          <p:nvPr/>
        </p:nvSpPr>
        <p:spPr>
          <a:xfrm>
            <a:off x="1028700" y="7005955"/>
            <a:ext cx="6786692" cy="2252345"/>
          </a:xfrm>
          <a:prstGeom prst="rect">
            <a:avLst/>
          </a:prstGeom>
        </p:spPr>
        <p:txBody>
          <a:bodyPr lIns="0" tIns="0" rIns="0" bIns="0" rtlCol="0" anchor="t">
            <a:spAutoFit/>
          </a:bodyPr>
          <a:lstStyle/>
          <a:p>
            <a:pPr algn="ctr">
              <a:lnSpc>
                <a:spcPts val="4480"/>
              </a:lnSpc>
              <a:spcBef>
                <a:spcPct val="0"/>
              </a:spcBef>
            </a:pPr>
            <a:r>
              <a:rPr lang="en-US" sz="3200" b="1">
                <a:solidFill>
                  <a:srgbClr val="FFFFFF"/>
                </a:solidFill>
                <a:latin typeface="Poppins Bold"/>
                <a:ea typeface="Poppins Bold"/>
                <a:cs typeface="Poppins Bold"/>
                <a:sym typeface="Poppins Bold"/>
              </a:rPr>
              <a:t>TOTAL NUMBER OF WORDS: 703218 </a:t>
            </a:r>
          </a:p>
          <a:p>
            <a:pPr algn="ctr">
              <a:lnSpc>
                <a:spcPts val="4480"/>
              </a:lnSpc>
              <a:spcBef>
                <a:spcPct val="0"/>
              </a:spcBef>
            </a:pPr>
            <a:r>
              <a:rPr lang="en-US" sz="3200" b="1">
                <a:solidFill>
                  <a:srgbClr val="FFFFFF"/>
                </a:solidFill>
                <a:latin typeface="Poppins Bold"/>
                <a:ea typeface="Poppins Bold"/>
                <a:cs typeface="Poppins Bold"/>
                <a:sym typeface="Poppins Bold"/>
              </a:rPr>
              <a:t>AVERAGE TEXT LENGTH: </a:t>
            </a:r>
          </a:p>
          <a:p>
            <a:pPr algn="ctr">
              <a:lnSpc>
                <a:spcPts val="4480"/>
              </a:lnSpc>
              <a:spcBef>
                <a:spcPct val="0"/>
              </a:spcBef>
            </a:pPr>
            <a:r>
              <a:rPr lang="en-US" sz="3200" b="1">
                <a:solidFill>
                  <a:srgbClr val="FFFFFF"/>
                </a:solidFill>
                <a:latin typeface="Poppins Bold"/>
                <a:ea typeface="Poppins Bold"/>
                <a:cs typeface="Poppins Bold"/>
                <a:sym typeface="Poppins Bold"/>
              </a:rPr>
              <a:t>140.84</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A9CEDF"/>
        </a:solidFill>
        <a:effectLst/>
      </p:bgPr>
    </p:bg>
    <p:spTree>
      <p:nvGrpSpPr>
        <p:cNvPr id="1" name=""/>
        <p:cNvGrpSpPr/>
        <p:nvPr/>
      </p:nvGrpSpPr>
      <p:grpSpPr>
        <a:xfrm>
          <a:off x="0" y="0"/>
          <a:ext cx="0" cy="0"/>
          <a:chOff x="0" y="0"/>
          <a:chExt cx="0" cy="0"/>
        </a:xfrm>
      </p:grpSpPr>
      <p:grpSp>
        <p:nvGrpSpPr>
          <p:cNvPr id="2" name="Group 2"/>
          <p:cNvGrpSpPr/>
          <p:nvPr/>
        </p:nvGrpSpPr>
        <p:grpSpPr>
          <a:xfrm>
            <a:off x="4208693" y="2565226"/>
            <a:ext cx="3733154" cy="3040985"/>
            <a:chOff x="0" y="0"/>
            <a:chExt cx="1564320" cy="1274278"/>
          </a:xfrm>
        </p:grpSpPr>
        <p:sp>
          <p:nvSpPr>
            <p:cNvPr id="3" name="Freeform 3"/>
            <p:cNvSpPr/>
            <p:nvPr/>
          </p:nvSpPr>
          <p:spPr>
            <a:xfrm>
              <a:off x="0" y="0"/>
              <a:ext cx="1564320" cy="1274278"/>
            </a:xfrm>
            <a:custGeom>
              <a:avLst/>
              <a:gdLst/>
              <a:ahLst/>
              <a:cxnLst/>
              <a:rect l="l" t="t" r="r" b="b"/>
              <a:pathLst>
                <a:path w="1564320" h="1274278">
                  <a:moveTo>
                    <a:pt x="105765" y="0"/>
                  </a:moveTo>
                  <a:lnTo>
                    <a:pt x="1458555" y="0"/>
                  </a:lnTo>
                  <a:cubicBezTo>
                    <a:pt x="1486606" y="0"/>
                    <a:pt x="1513508" y="11143"/>
                    <a:pt x="1533342" y="30978"/>
                  </a:cubicBezTo>
                  <a:cubicBezTo>
                    <a:pt x="1553177" y="50813"/>
                    <a:pt x="1564320" y="77715"/>
                    <a:pt x="1564320" y="105765"/>
                  </a:cubicBezTo>
                  <a:lnTo>
                    <a:pt x="1564320" y="1168512"/>
                  </a:lnTo>
                  <a:cubicBezTo>
                    <a:pt x="1564320" y="1196563"/>
                    <a:pt x="1553177" y="1223465"/>
                    <a:pt x="1533342" y="1243300"/>
                  </a:cubicBezTo>
                  <a:cubicBezTo>
                    <a:pt x="1513508" y="1263134"/>
                    <a:pt x="1486606" y="1274278"/>
                    <a:pt x="1458555" y="1274278"/>
                  </a:cubicBezTo>
                  <a:lnTo>
                    <a:pt x="105765" y="1274278"/>
                  </a:lnTo>
                  <a:cubicBezTo>
                    <a:pt x="77715" y="1274278"/>
                    <a:pt x="50813" y="1263134"/>
                    <a:pt x="30978" y="1243300"/>
                  </a:cubicBezTo>
                  <a:cubicBezTo>
                    <a:pt x="11143" y="1223465"/>
                    <a:pt x="0" y="1196563"/>
                    <a:pt x="0" y="1168512"/>
                  </a:cubicBezTo>
                  <a:lnTo>
                    <a:pt x="0" y="105765"/>
                  </a:lnTo>
                  <a:cubicBezTo>
                    <a:pt x="0" y="77715"/>
                    <a:pt x="11143" y="50813"/>
                    <a:pt x="30978" y="30978"/>
                  </a:cubicBezTo>
                  <a:cubicBezTo>
                    <a:pt x="50813" y="11143"/>
                    <a:pt x="77715" y="0"/>
                    <a:pt x="105765" y="0"/>
                  </a:cubicBezTo>
                  <a:close/>
                </a:path>
              </a:pathLst>
            </a:custGeom>
            <a:solidFill>
              <a:srgbClr val="FFFFFF"/>
            </a:solidFill>
            <a:ln cap="rnd">
              <a:noFill/>
              <a:prstDash val="solid"/>
              <a:round/>
            </a:ln>
          </p:spPr>
          <p:txBody>
            <a:bodyPr/>
            <a:lstStyle/>
            <a:p>
              <a:endParaRPr lang="en-US"/>
            </a:p>
          </p:txBody>
        </p:sp>
        <p:sp>
          <p:nvSpPr>
            <p:cNvPr id="4" name="TextBox 4"/>
            <p:cNvSpPr txBox="1"/>
            <p:nvPr/>
          </p:nvSpPr>
          <p:spPr>
            <a:xfrm>
              <a:off x="0" y="-57150"/>
              <a:ext cx="1564320" cy="133142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878388" y="2565226"/>
            <a:ext cx="3131905" cy="3040985"/>
            <a:chOff x="0" y="0"/>
            <a:chExt cx="1312376" cy="1274278"/>
          </a:xfrm>
        </p:grpSpPr>
        <p:sp>
          <p:nvSpPr>
            <p:cNvPr id="6" name="Freeform 6"/>
            <p:cNvSpPr/>
            <p:nvPr/>
          </p:nvSpPr>
          <p:spPr>
            <a:xfrm>
              <a:off x="0" y="0"/>
              <a:ext cx="1312376" cy="1274278"/>
            </a:xfrm>
            <a:custGeom>
              <a:avLst/>
              <a:gdLst/>
              <a:ahLst/>
              <a:cxnLst/>
              <a:rect l="l" t="t" r="r" b="b"/>
              <a:pathLst>
                <a:path w="1312376" h="1274278">
                  <a:moveTo>
                    <a:pt x="126070" y="0"/>
                  </a:moveTo>
                  <a:lnTo>
                    <a:pt x="1186307" y="0"/>
                  </a:lnTo>
                  <a:cubicBezTo>
                    <a:pt x="1255933" y="0"/>
                    <a:pt x="1312376" y="56443"/>
                    <a:pt x="1312376" y="126070"/>
                  </a:cubicBezTo>
                  <a:lnTo>
                    <a:pt x="1312376" y="1148208"/>
                  </a:lnTo>
                  <a:cubicBezTo>
                    <a:pt x="1312376" y="1217834"/>
                    <a:pt x="1255933" y="1274278"/>
                    <a:pt x="1186307" y="1274278"/>
                  </a:cubicBezTo>
                  <a:lnTo>
                    <a:pt x="126070" y="1274278"/>
                  </a:lnTo>
                  <a:cubicBezTo>
                    <a:pt x="56443" y="1274278"/>
                    <a:pt x="0" y="1217834"/>
                    <a:pt x="0" y="1148208"/>
                  </a:cubicBezTo>
                  <a:lnTo>
                    <a:pt x="0" y="126070"/>
                  </a:lnTo>
                  <a:cubicBezTo>
                    <a:pt x="0" y="56443"/>
                    <a:pt x="56443" y="0"/>
                    <a:pt x="126070" y="0"/>
                  </a:cubicBezTo>
                  <a:close/>
                </a:path>
              </a:pathLst>
            </a:custGeom>
            <a:solidFill>
              <a:srgbClr val="FFFFFF"/>
            </a:solidFill>
            <a:ln cap="rnd">
              <a:noFill/>
              <a:prstDash val="solid"/>
              <a:round/>
            </a:ln>
          </p:spPr>
          <p:txBody>
            <a:bodyPr/>
            <a:lstStyle/>
            <a:p>
              <a:endParaRPr lang="en-US"/>
            </a:p>
          </p:txBody>
        </p:sp>
        <p:sp>
          <p:nvSpPr>
            <p:cNvPr id="7" name="TextBox 7"/>
            <p:cNvSpPr txBox="1"/>
            <p:nvPr/>
          </p:nvSpPr>
          <p:spPr>
            <a:xfrm>
              <a:off x="0" y="-57150"/>
              <a:ext cx="1312376" cy="133142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Freeform 8"/>
          <p:cNvSpPr/>
          <p:nvPr/>
        </p:nvSpPr>
        <p:spPr>
          <a:xfrm>
            <a:off x="2011683" y="3751229"/>
            <a:ext cx="865315" cy="1223871"/>
          </a:xfrm>
          <a:custGeom>
            <a:avLst/>
            <a:gdLst/>
            <a:ahLst/>
            <a:cxnLst/>
            <a:rect l="l" t="t" r="r" b="b"/>
            <a:pathLst>
              <a:path w="865315" h="1223871">
                <a:moveTo>
                  <a:pt x="0" y="0"/>
                </a:moveTo>
                <a:lnTo>
                  <a:pt x="865315" y="0"/>
                </a:lnTo>
                <a:lnTo>
                  <a:pt x="865315" y="1223870"/>
                </a:lnTo>
                <a:lnTo>
                  <a:pt x="0" y="1223870"/>
                </a:lnTo>
                <a:lnTo>
                  <a:pt x="0" y="0"/>
                </a:lnTo>
                <a:close/>
              </a:path>
            </a:pathLst>
          </a:custGeom>
          <a:blipFill>
            <a:blip r:embed="rId3"/>
            <a:stretch>
              <a:fillRect/>
            </a:stretch>
          </a:blipFill>
        </p:spPr>
        <p:txBody>
          <a:bodyPr/>
          <a:lstStyle/>
          <a:p>
            <a:endParaRPr lang="en-US"/>
          </a:p>
        </p:txBody>
      </p:sp>
      <p:sp>
        <p:nvSpPr>
          <p:cNvPr id="9" name="Freeform 9"/>
          <p:cNvSpPr/>
          <p:nvPr/>
        </p:nvSpPr>
        <p:spPr>
          <a:xfrm>
            <a:off x="9874793" y="2319241"/>
            <a:ext cx="7125872" cy="4667446"/>
          </a:xfrm>
          <a:custGeom>
            <a:avLst/>
            <a:gdLst/>
            <a:ahLst/>
            <a:cxnLst/>
            <a:rect l="l" t="t" r="r" b="b"/>
            <a:pathLst>
              <a:path w="7125872" h="4667446">
                <a:moveTo>
                  <a:pt x="0" y="0"/>
                </a:moveTo>
                <a:lnTo>
                  <a:pt x="7125872" y="0"/>
                </a:lnTo>
                <a:lnTo>
                  <a:pt x="7125872" y="4667446"/>
                </a:lnTo>
                <a:lnTo>
                  <a:pt x="0" y="4667446"/>
                </a:lnTo>
                <a:lnTo>
                  <a:pt x="0" y="0"/>
                </a:lnTo>
                <a:close/>
              </a:path>
            </a:pathLst>
          </a:custGeom>
          <a:blipFill>
            <a:blip r:embed="rId4"/>
            <a:stretch>
              <a:fillRect/>
            </a:stretch>
          </a:blipFill>
        </p:spPr>
        <p:txBody>
          <a:bodyPr/>
          <a:lstStyle/>
          <a:p>
            <a:endParaRPr lang="en-US"/>
          </a:p>
        </p:txBody>
      </p:sp>
      <p:sp>
        <p:nvSpPr>
          <p:cNvPr id="10" name="Freeform 10"/>
          <p:cNvSpPr/>
          <p:nvPr/>
        </p:nvSpPr>
        <p:spPr>
          <a:xfrm>
            <a:off x="1028700" y="6129664"/>
            <a:ext cx="8630721" cy="3128636"/>
          </a:xfrm>
          <a:custGeom>
            <a:avLst/>
            <a:gdLst/>
            <a:ahLst/>
            <a:cxnLst/>
            <a:rect l="l" t="t" r="r" b="b"/>
            <a:pathLst>
              <a:path w="8630721" h="3128636">
                <a:moveTo>
                  <a:pt x="0" y="0"/>
                </a:moveTo>
                <a:lnTo>
                  <a:pt x="8630721" y="0"/>
                </a:lnTo>
                <a:lnTo>
                  <a:pt x="8630721" y="3128636"/>
                </a:lnTo>
                <a:lnTo>
                  <a:pt x="0" y="3128636"/>
                </a:lnTo>
                <a:lnTo>
                  <a:pt x="0" y="0"/>
                </a:lnTo>
                <a:close/>
              </a:path>
            </a:pathLst>
          </a:custGeom>
          <a:blipFill>
            <a:blip r:embed="rId5"/>
            <a:stretch>
              <a:fillRect/>
            </a:stretch>
          </a:blipFill>
        </p:spPr>
        <p:txBody>
          <a:bodyPr/>
          <a:lstStyle/>
          <a:p>
            <a:endParaRPr lang="en-US"/>
          </a:p>
        </p:txBody>
      </p:sp>
      <p:sp>
        <p:nvSpPr>
          <p:cNvPr id="11" name="Freeform 11"/>
          <p:cNvSpPr/>
          <p:nvPr/>
        </p:nvSpPr>
        <p:spPr>
          <a:xfrm>
            <a:off x="8395264" y="2319241"/>
            <a:ext cx="1109614" cy="3286971"/>
          </a:xfrm>
          <a:custGeom>
            <a:avLst/>
            <a:gdLst/>
            <a:ahLst/>
            <a:cxnLst/>
            <a:rect l="l" t="t" r="r" b="b"/>
            <a:pathLst>
              <a:path w="1109614" h="3286971">
                <a:moveTo>
                  <a:pt x="0" y="0"/>
                </a:moveTo>
                <a:lnTo>
                  <a:pt x="1109614" y="0"/>
                </a:lnTo>
                <a:lnTo>
                  <a:pt x="1109614" y="3286970"/>
                </a:lnTo>
                <a:lnTo>
                  <a:pt x="0" y="32869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2" name="TextBox 12"/>
          <p:cNvSpPr txBox="1"/>
          <p:nvPr/>
        </p:nvSpPr>
        <p:spPr>
          <a:xfrm>
            <a:off x="5386459" y="1173561"/>
            <a:ext cx="6546403" cy="835914"/>
          </a:xfrm>
          <a:prstGeom prst="rect">
            <a:avLst/>
          </a:prstGeom>
        </p:spPr>
        <p:txBody>
          <a:bodyPr lIns="0" tIns="0" rIns="0" bIns="0" rtlCol="0" anchor="t">
            <a:spAutoFit/>
          </a:bodyPr>
          <a:lstStyle/>
          <a:p>
            <a:pPr marL="0" lvl="0" indent="0" algn="ctr">
              <a:lnSpc>
                <a:spcPts val="6048"/>
              </a:lnSpc>
              <a:spcBef>
                <a:spcPct val="0"/>
              </a:spcBef>
            </a:pPr>
            <a:r>
              <a:rPr lang="en-US" sz="5400" b="1">
                <a:solidFill>
                  <a:srgbClr val="30547D"/>
                </a:solidFill>
                <a:latin typeface="Poppins Bold"/>
                <a:ea typeface="Poppins Bold"/>
                <a:cs typeface="Poppins Bold"/>
                <a:sym typeface="Poppins Bold"/>
              </a:rPr>
              <a:t>LLM INSTALLATION</a:t>
            </a:r>
          </a:p>
        </p:txBody>
      </p:sp>
      <p:grpSp>
        <p:nvGrpSpPr>
          <p:cNvPr id="13" name="Group 13"/>
          <p:cNvGrpSpPr/>
          <p:nvPr/>
        </p:nvGrpSpPr>
        <p:grpSpPr>
          <a:xfrm>
            <a:off x="4465646" y="2863260"/>
            <a:ext cx="3219250" cy="2588383"/>
            <a:chOff x="0" y="0"/>
            <a:chExt cx="4292333" cy="3451177"/>
          </a:xfrm>
        </p:grpSpPr>
        <p:sp>
          <p:nvSpPr>
            <p:cNvPr id="14" name="TextBox 14"/>
            <p:cNvSpPr txBox="1"/>
            <p:nvPr/>
          </p:nvSpPr>
          <p:spPr>
            <a:xfrm>
              <a:off x="0" y="-19050"/>
              <a:ext cx="4292333" cy="420273"/>
            </a:xfrm>
            <a:prstGeom prst="rect">
              <a:avLst/>
            </a:prstGeom>
          </p:spPr>
          <p:txBody>
            <a:bodyPr lIns="0" tIns="0" rIns="0" bIns="0" rtlCol="0" anchor="t">
              <a:spAutoFit/>
            </a:bodyPr>
            <a:lstStyle/>
            <a:p>
              <a:pPr marL="0" lvl="0" indent="0" algn="ctr">
                <a:lnSpc>
                  <a:spcPts val="2358"/>
                </a:lnSpc>
                <a:spcBef>
                  <a:spcPct val="0"/>
                </a:spcBef>
              </a:pPr>
              <a:r>
                <a:rPr lang="en-US" sz="1998" b="1">
                  <a:solidFill>
                    <a:srgbClr val="30547D"/>
                  </a:solidFill>
                  <a:latin typeface="Poppins Bold"/>
                  <a:ea typeface="Poppins Bold"/>
                  <a:cs typeface="Poppins Bold"/>
                  <a:sym typeface="Poppins Bold"/>
                </a:rPr>
                <a:t>LLAMA3</a:t>
              </a:r>
            </a:p>
          </p:txBody>
        </p:sp>
        <p:sp>
          <p:nvSpPr>
            <p:cNvPr id="15" name="TextBox 15"/>
            <p:cNvSpPr txBox="1"/>
            <p:nvPr/>
          </p:nvSpPr>
          <p:spPr>
            <a:xfrm>
              <a:off x="0" y="669219"/>
              <a:ext cx="4292333" cy="2781959"/>
            </a:xfrm>
            <a:prstGeom prst="rect">
              <a:avLst/>
            </a:prstGeom>
          </p:spPr>
          <p:txBody>
            <a:bodyPr lIns="0" tIns="0" rIns="0" bIns="0" rtlCol="0" anchor="t">
              <a:spAutoFit/>
            </a:bodyPr>
            <a:lstStyle/>
            <a:p>
              <a:pPr marL="0" lvl="0" indent="0" algn="ctr">
                <a:lnSpc>
                  <a:spcPts val="1679"/>
                </a:lnSpc>
                <a:spcBef>
                  <a:spcPct val="0"/>
                </a:spcBef>
              </a:pPr>
              <a:r>
                <a:rPr lang="en-US" sz="1199" u="none" strike="noStrike" spc="-23">
                  <a:solidFill>
                    <a:srgbClr val="30547D"/>
                  </a:solidFill>
                  <a:latin typeface="Poppins"/>
                  <a:ea typeface="Poppins"/>
                  <a:cs typeface="Poppins"/>
                  <a:sym typeface="Poppins"/>
                </a:rPr>
                <a:t>Meta Llama 3, crafted by Meta Inc., represents a cutting-edge model series available with both 8 billion and 70 billion parameters, offering pre-trained or instruction-tuned versions. The Llama 3 instruction-tuned models are specifically fine-tuned and optimized for dialogue and chat applications, surpassing many open-source chat models in performance on standard benchmarks.</a:t>
              </a:r>
            </a:p>
          </p:txBody>
        </p:sp>
      </p:grpSp>
      <p:sp>
        <p:nvSpPr>
          <p:cNvPr id="16" name="TextBox 16"/>
          <p:cNvSpPr txBox="1"/>
          <p:nvPr/>
        </p:nvSpPr>
        <p:spPr>
          <a:xfrm>
            <a:off x="1085261" y="2994668"/>
            <a:ext cx="2720496" cy="398612"/>
          </a:xfrm>
          <a:prstGeom prst="rect">
            <a:avLst/>
          </a:prstGeom>
        </p:spPr>
        <p:txBody>
          <a:bodyPr lIns="0" tIns="0" rIns="0" bIns="0" rtlCol="0" anchor="t">
            <a:spAutoFit/>
          </a:bodyPr>
          <a:lstStyle/>
          <a:p>
            <a:pPr marL="0" lvl="0" indent="0" algn="ctr">
              <a:lnSpc>
                <a:spcPts val="2958"/>
              </a:lnSpc>
            </a:pPr>
            <a:r>
              <a:rPr lang="en-US" sz="2507" b="1">
                <a:solidFill>
                  <a:srgbClr val="30547D"/>
                </a:solidFill>
                <a:latin typeface="Poppins Bold"/>
                <a:ea typeface="Poppins Bold"/>
                <a:cs typeface="Poppins Bold"/>
                <a:sym typeface="Poppins Bold"/>
              </a:rPr>
              <a:t>OLLAMA</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0547D"/>
        </a:solidFill>
        <a:effectLst/>
      </p:bgPr>
    </p:bg>
    <p:spTree>
      <p:nvGrpSpPr>
        <p:cNvPr id="1" name=""/>
        <p:cNvGrpSpPr/>
        <p:nvPr/>
      </p:nvGrpSpPr>
      <p:grpSpPr>
        <a:xfrm>
          <a:off x="0" y="0"/>
          <a:ext cx="0" cy="0"/>
          <a:chOff x="0" y="0"/>
          <a:chExt cx="0" cy="0"/>
        </a:xfrm>
      </p:grpSpPr>
      <p:sp>
        <p:nvSpPr>
          <p:cNvPr id="2" name="Freeform 2"/>
          <p:cNvSpPr/>
          <p:nvPr/>
        </p:nvSpPr>
        <p:spPr>
          <a:xfrm>
            <a:off x="9639113" y="3396628"/>
            <a:ext cx="7939132" cy="2977174"/>
          </a:xfrm>
          <a:custGeom>
            <a:avLst/>
            <a:gdLst/>
            <a:ahLst/>
            <a:cxnLst/>
            <a:rect l="l" t="t" r="r" b="b"/>
            <a:pathLst>
              <a:path w="7939132" h="2977174">
                <a:moveTo>
                  <a:pt x="0" y="0"/>
                </a:moveTo>
                <a:lnTo>
                  <a:pt x="7939131" y="0"/>
                </a:lnTo>
                <a:lnTo>
                  <a:pt x="7939131" y="2977174"/>
                </a:lnTo>
                <a:lnTo>
                  <a:pt x="0" y="2977174"/>
                </a:lnTo>
                <a:lnTo>
                  <a:pt x="0" y="0"/>
                </a:lnTo>
                <a:close/>
              </a:path>
            </a:pathLst>
          </a:custGeom>
          <a:blipFill>
            <a:blip r:embed="rId3"/>
            <a:stretch>
              <a:fillRect/>
            </a:stretch>
          </a:blipFill>
        </p:spPr>
        <p:txBody>
          <a:bodyPr/>
          <a:lstStyle/>
          <a:p>
            <a:endParaRPr lang="en-US"/>
          </a:p>
        </p:txBody>
      </p:sp>
      <p:sp>
        <p:nvSpPr>
          <p:cNvPr id="3" name="Freeform 3"/>
          <p:cNvSpPr/>
          <p:nvPr/>
        </p:nvSpPr>
        <p:spPr>
          <a:xfrm>
            <a:off x="4328125" y="7523303"/>
            <a:ext cx="12931175" cy="1147642"/>
          </a:xfrm>
          <a:custGeom>
            <a:avLst/>
            <a:gdLst/>
            <a:ahLst/>
            <a:cxnLst/>
            <a:rect l="l" t="t" r="r" b="b"/>
            <a:pathLst>
              <a:path w="12931175" h="1147642">
                <a:moveTo>
                  <a:pt x="0" y="0"/>
                </a:moveTo>
                <a:lnTo>
                  <a:pt x="12931175" y="0"/>
                </a:lnTo>
                <a:lnTo>
                  <a:pt x="12931175" y="1147642"/>
                </a:lnTo>
                <a:lnTo>
                  <a:pt x="0" y="1147642"/>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1028700" y="3876467"/>
            <a:ext cx="8610413" cy="3977005"/>
          </a:xfrm>
          <a:prstGeom prst="rect">
            <a:avLst/>
          </a:prstGeom>
        </p:spPr>
        <p:txBody>
          <a:bodyPr lIns="0" tIns="0" rIns="0" bIns="0" rtlCol="0" anchor="t">
            <a:spAutoFit/>
          </a:bodyPr>
          <a:lstStyle/>
          <a:p>
            <a:pPr marL="604519" lvl="1" indent="-302260" algn="l">
              <a:lnSpc>
                <a:spcPts val="3919"/>
              </a:lnSpc>
              <a:buFont typeface="Arial"/>
              <a:buChar char="•"/>
            </a:pPr>
            <a:r>
              <a:rPr lang="en-US" sz="2799" spc="-55">
                <a:solidFill>
                  <a:srgbClr val="FFFFFF"/>
                </a:solidFill>
                <a:latin typeface="Poppins"/>
                <a:ea typeface="Poppins"/>
                <a:cs typeface="Poppins"/>
                <a:sym typeface="Poppins"/>
              </a:rPr>
              <a:t>The Chain of Thought (CoT) prompting was established by designing prompts that clearly directed the Llama3 model to adhere to a four-step reasoning process: </a:t>
            </a:r>
          </a:p>
          <a:p>
            <a:pPr marL="1209039" lvl="2" indent="-403013" algn="l">
              <a:lnSpc>
                <a:spcPts val="3919"/>
              </a:lnSpc>
              <a:buFont typeface="Arial"/>
              <a:buChar char="⚬"/>
            </a:pPr>
            <a:r>
              <a:rPr lang="en-US" sz="2799" spc="-55">
                <a:solidFill>
                  <a:srgbClr val="FFFFFF"/>
                </a:solidFill>
                <a:latin typeface="Poppins"/>
                <a:ea typeface="Poppins"/>
                <a:cs typeface="Poppins"/>
                <a:sym typeface="Poppins"/>
              </a:rPr>
              <a:t>reading the abstract, </a:t>
            </a:r>
          </a:p>
          <a:p>
            <a:pPr marL="1209039" lvl="2" indent="-403013" algn="l">
              <a:lnSpc>
                <a:spcPts val="3919"/>
              </a:lnSpc>
              <a:buFont typeface="Arial"/>
              <a:buChar char="⚬"/>
            </a:pPr>
            <a:r>
              <a:rPr lang="en-US" sz="2799" spc="-55">
                <a:solidFill>
                  <a:srgbClr val="FFFFFF"/>
                </a:solidFill>
                <a:latin typeface="Poppins"/>
                <a:ea typeface="Poppins"/>
                <a:cs typeface="Poppins"/>
                <a:sym typeface="Poppins"/>
              </a:rPr>
              <a:t>identifying interventions, </a:t>
            </a:r>
          </a:p>
          <a:p>
            <a:pPr marL="1209039" lvl="2" indent="-403013" algn="l">
              <a:lnSpc>
                <a:spcPts val="3919"/>
              </a:lnSpc>
              <a:spcBef>
                <a:spcPct val="0"/>
              </a:spcBef>
              <a:buFont typeface="Arial"/>
              <a:buChar char="⚬"/>
            </a:pPr>
            <a:r>
              <a:rPr lang="en-US" sz="2799" spc="-55">
                <a:solidFill>
                  <a:srgbClr val="FFFFFF"/>
                </a:solidFill>
                <a:latin typeface="Poppins"/>
                <a:ea typeface="Poppins"/>
                <a:cs typeface="Poppins"/>
                <a:sym typeface="Poppins"/>
              </a:rPr>
              <a:t>identifying outcomes, presenting the results.</a:t>
            </a:r>
          </a:p>
        </p:txBody>
      </p:sp>
      <p:sp>
        <p:nvSpPr>
          <p:cNvPr id="5" name="TextBox 5"/>
          <p:cNvSpPr txBox="1"/>
          <p:nvPr/>
        </p:nvSpPr>
        <p:spPr>
          <a:xfrm>
            <a:off x="1028700" y="2414478"/>
            <a:ext cx="8610413" cy="835914"/>
          </a:xfrm>
          <a:prstGeom prst="rect">
            <a:avLst/>
          </a:prstGeom>
        </p:spPr>
        <p:txBody>
          <a:bodyPr lIns="0" tIns="0" rIns="0" bIns="0" rtlCol="0" anchor="t">
            <a:spAutoFit/>
          </a:bodyPr>
          <a:lstStyle/>
          <a:p>
            <a:pPr algn="l">
              <a:lnSpc>
                <a:spcPts val="6048"/>
              </a:lnSpc>
            </a:pPr>
            <a:r>
              <a:rPr lang="en-US" sz="5400" b="1">
                <a:solidFill>
                  <a:srgbClr val="FFFFFF"/>
                </a:solidFill>
                <a:latin typeface="Poppins Bold"/>
                <a:ea typeface="Poppins Bold"/>
                <a:cs typeface="Poppins Bold"/>
                <a:sym typeface="Poppins Bold"/>
              </a:rPr>
              <a:t>CHAIN OF THOUGHT</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A9CEDF"/>
        </a:solidFill>
        <a:effectLst/>
      </p:bgPr>
    </p:bg>
    <p:spTree>
      <p:nvGrpSpPr>
        <p:cNvPr id="1" name=""/>
        <p:cNvGrpSpPr/>
        <p:nvPr/>
      </p:nvGrpSpPr>
      <p:grpSpPr>
        <a:xfrm>
          <a:off x="0" y="0"/>
          <a:ext cx="0" cy="0"/>
          <a:chOff x="0" y="0"/>
          <a:chExt cx="0" cy="0"/>
        </a:xfrm>
      </p:grpSpPr>
      <p:sp>
        <p:nvSpPr>
          <p:cNvPr id="2" name="Freeform 2"/>
          <p:cNvSpPr/>
          <p:nvPr/>
        </p:nvSpPr>
        <p:spPr>
          <a:xfrm>
            <a:off x="15749854" y="7514334"/>
            <a:ext cx="3018893" cy="3041706"/>
          </a:xfrm>
          <a:custGeom>
            <a:avLst/>
            <a:gdLst/>
            <a:ahLst/>
            <a:cxnLst/>
            <a:rect l="l" t="t" r="r" b="b"/>
            <a:pathLst>
              <a:path w="3018893" h="3041706">
                <a:moveTo>
                  <a:pt x="0" y="0"/>
                </a:moveTo>
                <a:lnTo>
                  <a:pt x="3018892" y="0"/>
                </a:lnTo>
                <a:lnTo>
                  <a:pt x="3018892" y="3041706"/>
                </a:lnTo>
                <a:lnTo>
                  <a:pt x="0" y="304170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8409817" y="2239763"/>
            <a:ext cx="8849483" cy="5807473"/>
          </a:xfrm>
          <a:custGeom>
            <a:avLst/>
            <a:gdLst/>
            <a:ahLst/>
            <a:cxnLst/>
            <a:rect l="l" t="t" r="r" b="b"/>
            <a:pathLst>
              <a:path w="8849483" h="5807473">
                <a:moveTo>
                  <a:pt x="0" y="0"/>
                </a:moveTo>
                <a:lnTo>
                  <a:pt x="8849483" y="0"/>
                </a:lnTo>
                <a:lnTo>
                  <a:pt x="8849483" y="5807474"/>
                </a:lnTo>
                <a:lnTo>
                  <a:pt x="0" y="5807474"/>
                </a:lnTo>
                <a:lnTo>
                  <a:pt x="0" y="0"/>
                </a:lnTo>
                <a:close/>
              </a:path>
            </a:pathLst>
          </a:custGeom>
          <a:blipFill>
            <a:blip r:embed="rId5"/>
            <a:stretch>
              <a:fillRect/>
            </a:stretch>
          </a:blipFill>
        </p:spPr>
        <p:txBody>
          <a:bodyPr/>
          <a:lstStyle/>
          <a:p>
            <a:endParaRPr lang="en-US"/>
          </a:p>
        </p:txBody>
      </p:sp>
      <p:sp>
        <p:nvSpPr>
          <p:cNvPr id="4" name="Freeform 4"/>
          <p:cNvSpPr/>
          <p:nvPr/>
        </p:nvSpPr>
        <p:spPr>
          <a:xfrm>
            <a:off x="1028700" y="1028700"/>
            <a:ext cx="3088615" cy="2752728"/>
          </a:xfrm>
          <a:custGeom>
            <a:avLst/>
            <a:gdLst/>
            <a:ahLst/>
            <a:cxnLst/>
            <a:rect l="l" t="t" r="r" b="b"/>
            <a:pathLst>
              <a:path w="3088615" h="2752728">
                <a:moveTo>
                  <a:pt x="0" y="0"/>
                </a:moveTo>
                <a:lnTo>
                  <a:pt x="3088615" y="0"/>
                </a:lnTo>
                <a:lnTo>
                  <a:pt x="3088615" y="2752728"/>
                </a:lnTo>
                <a:lnTo>
                  <a:pt x="0" y="275272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TextBox 5"/>
          <p:cNvSpPr txBox="1"/>
          <p:nvPr/>
        </p:nvSpPr>
        <p:spPr>
          <a:xfrm>
            <a:off x="1028700" y="1009650"/>
            <a:ext cx="16230600" cy="835914"/>
          </a:xfrm>
          <a:prstGeom prst="rect">
            <a:avLst/>
          </a:prstGeom>
        </p:spPr>
        <p:txBody>
          <a:bodyPr lIns="0" tIns="0" rIns="0" bIns="0" rtlCol="0" anchor="t">
            <a:spAutoFit/>
          </a:bodyPr>
          <a:lstStyle/>
          <a:p>
            <a:pPr algn="ctr">
              <a:lnSpc>
                <a:spcPts val="6048"/>
              </a:lnSpc>
            </a:pPr>
            <a:r>
              <a:rPr lang="en-US" sz="5400" b="1">
                <a:solidFill>
                  <a:srgbClr val="30547D"/>
                </a:solidFill>
                <a:latin typeface="Poppins Bold"/>
                <a:ea typeface="Poppins Bold"/>
                <a:cs typeface="Poppins Bold"/>
                <a:sym typeface="Poppins Bold"/>
              </a:rPr>
              <a:t>TREE OF THOUGHT</a:t>
            </a:r>
          </a:p>
        </p:txBody>
      </p:sp>
      <p:sp>
        <p:nvSpPr>
          <p:cNvPr id="6" name="TextBox 6"/>
          <p:cNvSpPr txBox="1"/>
          <p:nvPr/>
        </p:nvSpPr>
        <p:spPr>
          <a:xfrm>
            <a:off x="1028700" y="4704418"/>
            <a:ext cx="6360916" cy="2342441"/>
          </a:xfrm>
          <a:prstGeom prst="rect">
            <a:avLst/>
          </a:prstGeom>
        </p:spPr>
        <p:txBody>
          <a:bodyPr lIns="0" tIns="0" rIns="0" bIns="0" rtlCol="0" anchor="t">
            <a:spAutoFit/>
          </a:bodyPr>
          <a:lstStyle/>
          <a:p>
            <a:pPr algn="l">
              <a:lnSpc>
                <a:spcPts val="2664"/>
              </a:lnSpc>
            </a:pPr>
            <a:r>
              <a:rPr lang="en-US" sz="1902" b="1">
                <a:solidFill>
                  <a:srgbClr val="FFFFFF"/>
                </a:solidFill>
                <a:latin typeface="Poppins Bold"/>
                <a:ea typeface="Poppins Bold"/>
                <a:cs typeface="Poppins Bold"/>
                <a:sym typeface="Poppins Bold"/>
              </a:rPr>
              <a:t>A CONCEPTUAL TREE OF THOUGHTS (TOT) PROCESS WAS OUTLINED, INVOLVING GENERATING MULTIPLE INITIAL THOUGHTS, EVALUATING INTERMEDIATE THOUGHTS, AND SELECTING PROMISING PATHS, ALTHOUGH A FULL ITERATIVE IMPLEMENTATION WAS NOT PERFORMED DUE TO COMPLEXITY.</a:t>
            </a:r>
          </a:p>
          <a:p>
            <a:pPr algn="ctr">
              <a:lnSpc>
                <a:spcPts val="2664"/>
              </a:lnSpc>
              <a:spcBef>
                <a:spcPct val="0"/>
              </a:spcBef>
            </a:pPr>
            <a:endParaRPr lang="en-US" sz="1902" b="1">
              <a:solidFill>
                <a:srgbClr val="FFFFFF"/>
              </a:solidFill>
              <a:latin typeface="Poppins Bold"/>
              <a:ea typeface="Poppins Bold"/>
              <a:cs typeface="Poppins Bold"/>
              <a:sym typeface="Poppins Bold"/>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0547D"/>
        </a:solidFill>
        <a:effectLst/>
      </p:bgPr>
    </p:bg>
    <p:spTree>
      <p:nvGrpSpPr>
        <p:cNvPr id="1" name=""/>
        <p:cNvGrpSpPr/>
        <p:nvPr/>
      </p:nvGrpSpPr>
      <p:grpSpPr>
        <a:xfrm>
          <a:off x="0" y="0"/>
          <a:ext cx="0" cy="0"/>
          <a:chOff x="0" y="0"/>
          <a:chExt cx="0" cy="0"/>
        </a:xfrm>
      </p:grpSpPr>
      <p:sp>
        <p:nvSpPr>
          <p:cNvPr id="2" name="Freeform 2"/>
          <p:cNvSpPr/>
          <p:nvPr/>
        </p:nvSpPr>
        <p:spPr>
          <a:xfrm>
            <a:off x="-701735" y="3334965"/>
            <a:ext cx="2514589" cy="2727858"/>
          </a:xfrm>
          <a:custGeom>
            <a:avLst/>
            <a:gdLst/>
            <a:ahLst/>
            <a:cxnLst/>
            <a:rect l="l" t="t" r="r" b="b"/>
            <a:pathLst>
              <a:path w="2514589" h="2727858">
                <a:moveTo>
                  <a:pt x="0" y="0"/>
                </a:moveTo>
                <a:lnTo>
                  <a:pt x="2514589" y="0"/>
                </a:lnTo>
                <a:lnTo>
                  <a:pt x="2514589" y="2727858"/>
                </a:lnTo>
                <a:lnTo>
                  <a:pt x="0" y="27278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5751595" y="-779835"/>
            <a:ext cx="3688357" cy="4114800"/>
          </a:xfrm>
          <a:custGeom>
            <a:avLst/>
            <a:gdLst/>
            <a:ahLst/>
            <a:cxnLst/>
            <a:rect l="l" t="t" r="r" b="b"/>
            <a:pathLst>
              <a:path w="3688357" h="4114800">
                <a:moveTo>
                  <a:pt x="0" y="0"/>
                </a:moveTo>
                <a:lnTo>
                  <a:pt x="3688357" y="0"/>
                </a:lnTo>
                <a:lnTo>
                  <a:pt x="368835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4" name="Freeform 4"/>
          <p:cNvSpPr/>
          <p:nvPr/>
        </p:nvSpPr>
        <p:spPr>
          <a:xfrm>
            <a:off x="1812854" y="2757508"/>
            <a:ext cx="15082922" cy="3110853"/>
          </a:xfrm>
          <a:custGeom>
            <a:avLst/>
            <a:gdLst/>
            <a:ahLst/>
            <a:cxnLst/>
            <a:rect l="l" t="t" r="r" b="b"/>
            <a:pathLst>
              <a:path w="15082922" h="3110853">
                <a:moveTo>
                  <a:pt x="0" y="0"/>
                </a:moveTo>
                <a:lnTo>
                  <a:pt x="15082923" y="0"/>
                </a:lnTo>
                <a:lnTo>
                  <a:pt x="15082923" y="3110852"/>
                </a:lnTo>
                <a:lnTo>
                  <a:pt x="0" y="3110852"/>
                </a:lnTo>
                <a:lnTo>
                  <a:pt x="0" y="0"/>
                </a:lnTo>
                <a:close/>
              </a:path>
            </a:pathLst>
          </a:custGeom>
          <a:blipFill>
            <a:blip r:embed="rId7"/>
            <a:stretch>
              <a:fillRect/>
            </a:stretch>
          </a:blipFill>
        </p:spPr>
        <p:txBody>
          <a:bodyPr/>
          <a:lstStyle/>
          <a:p>
            <a:endParaRPr lang="en-US"/>
          </a:p>
        </p:txBody>
      </p:sp>
      <p:sp>
        <p:nvSpPr>
          <p:cNvPr id="5" name="TextBox 5"/>
          <p:cNvSpPr txBox="1"/>
          <p:nvPr/>
        </p:nvSpPr>
        <p:spPr>
          <a:xfrm>
            <a:off x="1509404" y="1654885"/>
            <a:ext cx="13946091" cy="835914"/>
          </a:xfrm>
          <a:prstGeom prst="rect">
            <a:avLst/>
          </a:prstGeom>
        </p:spPr>
        <p:txBody>
          <a:bodyPr lIns="0" tIns="0" rIns="0" bIns="0" rtlCol="0" anchor="t">
            <a:spAutoFit/>
          </a:bodyPr>
          <a:lstStyle/>
          <a:p>
            <a:pPr algn="ctr">
              <a:lnSpc>
                <a:spcPts val="6048"/>
              </a:lnSpc>
            </a:pPr>
            <a:r>
              <a:rPr lang="en-US" sz="5400" b="1">
                <a:solidFill>
                  <a:srgbClr val="FFFFFF"/>
                </a:solidFill>
                <a:latin typeface="Poppins Bold"/>
                <a:ea typeface="Poppins Bold"/>
                <a:cs typeface="Poppins Bold"/>
                <a:sym typeface="Poppins Bold"/>
              </a:rPr>
              <a:t>EVALUATION</a:t>
            </a:r>
          </a:p>
        </p:txBody>
      </p:sp>
      <p:sp>
        <p:nvSpPr>
          <p:cNvPr id="6" name="TextBox 6"/>
          <p:cNvSpPr txBox="1"/>
          <p:nvPr/>
        </p:nvSpPr>
        <p:spPr>
          <a:xfrm>
            <a:off x="2361668" y="6198642"/>
            <a:ext cx="13093827" cy="2967331"/>
          </a:xfrm>
          <a:prstGeom prst="rect">
            <a:avLst/>
          </a:prstGeom>
        </p:spPr>
        <p:txBody>
          <a:bodyPr lIns="0" tIns="0" rIns="0" bIns="0" rtlCol="0" anchor="t">
            <a:spAutoFit/>
          </a:bodyPr>
          <a:lstStyle/>
          <a:p>
            <a:pPr algn="l">
              <a:lnSpc>
                <a:spcPts val="2346"/>
              </a:lnSpc>
            </a:pPr>
            <a:r>
              <a:rPr lang="en-US" sz="1675">
                <a:solidFill>
                  <a:srgbClr val="FFFFFF"/>
                </a:solidFill>
                <a:latin typeface="Poppins"/>
                <a:ea typeface="Poppins"/>
                <a:cs typeface="Poppins"/>
                <a:sym typeface="Poppins"/>
              </a:rPr>
              <a:t>ON THE SINGLE SAMPLE ANALYZED AFTER REFINING THE CHAIN OF THOUGHT PARSING:</a:t>
            </a:r>
          </a:p>
          <a:p>
            <a:pPr marL="723675" lvl="2" indent="-241225" algn="l">
              <a:lnSpc>
                <a:spcPts val="2346"/>
              </a:lnSpc>
              <a:buFont typeface="Arial"/>
              <a:buChar char="⚬"/>
            </a:pPr>
            <a:r>
              <a:rPr lang="en-US" sz="1675">
                <a:solidFill>
                  <a:srgbClr val="FFFFFF"/>
                </a:solidFill>
                <a:latin typeface="Poppins"/>
                <a:ea typeface="Poppins"/>
                <a:cs typeface="Poppins"/>
                <a:sym typeface="Poppins"/>
              </a:rPr>
              <a:t>The Standard prompt extracted the correct number of interventions but over-extracted outcomes, including extraneous details.</a:t>
            </a:r>
          </a:p>
          <a:p>
            <a:pPr algn="l">
              <a:lnSpc>
                <a:spcPts val="2346"/>
              </a:lnSpc>
            </a:pPr>
            <a:endParaRPr lang="en-US" sz="1675">
              <a:solidFill>
                <a:srgbClr val="FFFFFF"/>
              </a:solidFill>
              <a:latin typeface="Poppins"/>
              <a:ea typeface="Poppins"/>
              <a:cs typeface="Poppins"/>
              <a:sym typeface="Poppins"/>
            </a:endParaRPr>
          </a:p>
          <a:p>
            <a:pPr marL="723675" lvl="2" indent="-241225" algn="l">
              <a:lnSpc>
                <a:spcPts val="2346"/>
              </a:lnSpc>
              <a:spcBef>
                <a:spcPct val="0"/>
              </a:spcBef>
              <a:buFont typeface="Arial"/>
              <a:buChar char="⚬"/>
            </a:pPr>
            <a:r>
              <a:rPr lang="en-US" sz="1675">
                <a:solidFill>
                  <a:srgbClr val="FFFFFF"/>
                </a:solidFill>
                <a:latin typeface="Poppins"/>
                <a:ea typeface="Poppins"/>
                <a:cs typeface="Poppins"/>
                <a:sym typeface="Poppins"/>
              </a:rPr>
              <a:t>The refined CoT parsing successfully extracted the two key interventions and six out of seven outcomes, showing good agreement with the grOUND TRUTH ON THIS SAMPLE.</a:t>
            </a:r>
          </a:p>
          <a:p>
            <a:pPr algn="l">
              <a:lnSpc>
                <a:spcPts val="2346"/>
              </a:lnSpc>
              <a:spcBef>
                <a:spcPct val="0"/>
              </a:spcBef>
            </a:pPr>
            <a:endParaRPr lang="en-US" sz="1675">
              <a:solidFill>
                <a:srgbClr val="FFFFFF"/>
              </a:solidFill>
              <a:latin typeface="Poppins"/>
              <a:ea typeface="Poppins"/>
              <a:cs typeface="Poppins"/>
              <a:sym typeface="Poppins"/>
            </a:endParaRPr>
          </a:p>
          <a:p>
            <a:pPr marL="723675" lvl="2" indent="-241225" algn="l">
              <a:lnSpc>
                <a:spcPts val="2346"/>
              </a:lnSpc>
              <a:spcBef>
                <a:spcPct val="0"/>
              </a:spcBef>
              <a:buFont typeface="Arial"/>
              <a:buChar char="⚬"/>
            </a:pPr>
            <a:r>
              <a:rPr lang="en-US" sz="1675">
                <a:solidFill>
                  <a:srgbClr val="FFFFFF"/>
                </a:solidFill>
                <a:latin typeface="Poppins"/>
                <a:ea typeface="Poppins"/>
                <a:cs typeface="Poppins"/>
                <a:sym typeface="Poppins"/>
              </a:rPr>
              <a:t>THE SIMULATED TOT OUTPUT PERFECTLY MATCHED THE GROUND TRUTH FOR BOTH THE NUMBER AND PHRASING OF INTERVENTIONS AND OUTCOMES ON THIS SAMPLE, INDICATING THE POTENTIAL OF THIS APPROACH FOR HIGH ACCURACY.</a:t>
            </a:r>
          </a:p>
          <a:p>
            <a:pPr algn="l">
              <a:lnSpc>
                <a:spcPts val="2346"/>
              </a:lnSpc>
              <a:spcBef>
                <a:spcPct val="0"/>
              </a:spcBef>
            </a:pPr>
            <a:endParaRPr lang="en-US" sz="1675">
              <a:solidFill>
                <a:srgbClr val="FFFFFF"/>
              </a:solidFill>
              <a:latin typeface="Poppins"/>
              <a:ea typeface="Poppins"/>
              <a:cs typeface="Poppins"/>
              <a:sym typeface="Poppins"/>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A9CEDF"/>
        </a:solidFill>
        <a:effectLst/>
      </p:bgPr>
    </p:bg>
    <p:spTree>
      <p:nvGrpSpPr>
        <p:cNvPr id="1" name=""/>
        <p:cNvGrpSpPr/>
        <p:nvPr/>
      </p:nvGrpSpPr>
      <p:grpSpPr>
        <a:xfrm>
          <a:off x="0" y="0"/>
          <a:ext cx="0" cy="0"/>
          <a:chOff x="0" y="0"/>
          <a:chExt cx="0" cy="0"/>
        </a:xfrm>
      </p:grpSpPr>
      <p:sp>
        <p:nvSpPr>
          <p:cNvPr id="2" name="Freeform 2"/>
          <p:cNvSpPr/>
          <p:nvPr/>
        </p:nvSpPr>
        <p:spPr>
          <a:xfrm>
            <a:off x="13286935" y="-1596103"/>
            <a:ext cx="3793097" cy="4114800"/>
          </a:xfrm>
          <a:custGeom>
            <a:avLst/>
            <a:gdLst/>
            <a:ahLst/>
            <a:cxnLst/>
            <a:rect l="l" t="t" r="r" b="b"/>
            <a:pathLst>
              <a:path w="3793097" h="4114800">
                <a:moveTo>
                  <a:pt x="0" y="0"/>
                </a:moveTo>
                <a:lnTo>
                  <a:pt x="3793097" y="0"/>
                </a:lnTo>
                <a:lnTo>
                  <a:pt x="3793097"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659222" y="-492153"/>
            <a:ext cx="3018893" cy="3041706"/>
          </a:xfrm>
          <a:custGeom>
            <a:avLst/>
            <a:gdLst/>
            <a:ahLst/>
            <a:cxnLst/>
            <a:rect l="l" t="t" r="r" b="b"/>
            <a:pathLst>
              <a:path w="3018893" h="3041706">
                <a:moveTo>
                  <a:pt x="0" y="0"/>
                </a:moveTo>
                <a:lnTo>
                  <a:pt x="3018893" y="0"/>
                </a:lnTo>
                <a:lnTo>
                  <a:pt x="3018893" y="3041706"/>
                </a:lnTo>
                <a:lnTo>
                  <a:pt x="0" y="30417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p:cNvSpPr/>
          <p:nvPr/>
        </p:nvSpPr>
        <p:spPr>
          <a:xfrm>
            <a:off x="16311894" y="2477399"/>
            <a:ext cx="3419025" cy="4114800"/>
          </a:xfrm>
          <a:custGeom>
            <a:avLst/>
            <a:gdLst/>
            <a:ahLst/>
            <a:cxnLst/>
            <a:rect l="l" t="t" r="r" b="b"/>
            <a:pathLst>
              <a:path w="3419025" h="4114800">
                <a:moveTo>
                  <a:pt x="0" y="0"/>
                </a:moveTo>
                <a:lnTo>
                  <a:pt x="3419025" y="0"/>
                </a:lnTo>
                <a:lnTo>
                  <a:pt x="3419025"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5" name="Freeform 5"/>
          <p:cNvSpPr/>
          <p:nvPr/>
        </p:nvSpPr>
        <p:spPr>
          <a:xfrm rot="-3024726" flipH="1">
            <a:off x="8460327" y="-1081753"/>
            <a:ext cx="3738667" cy="3086100"/>
          </a:xfrm>
          <a:custGeom>
            <a:avLst/>
            <a:gdLst/>
            <a:ahLst/>
            <a:cxnLst/>
            <a:rect l="l" t="t" r="r" b="b"/>
            <a:pathLst>
              <a:path w="3738667" h="3086100">
                <a:moveTo>
                  <a:pt x="3738667" y="0"/>
                </a:moveTo>
                <a:lnTo>
                  <a:pt x="0" y="0"/>
                </a:lnTo>
                <a:lnTo>
                  <a:pt x="0" y="3086100"/>
                </a:lnTo>
                <a:lnTo>
                  <a:pt x="3738667" y="3086100"/>
                </a:lnTo>
                <a:lnTo>
                  <a:pt x="3738667"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6" name="Freeform 6"/>
          <p:cNvSpPr/>
          <p:nvPr/>
        </p:nvSpPr>
        <p:spPr>
          <a:xfrm>
            <a:off x="11645670" y="8247944"/>
            <a:ext cx="3282531" cy="2954278"/>
          </a:xfrm>
          <a:custGeom>
            <a:avLst/>
            <a:gdLst/>
            <a:ahLst/>
            <a:cxnLst/>
            <a:rect l="l" t="t" r="r" b="b"/>
            <a:pathLst>
              <a:path w="3282531" h="2954278">
                <a:moveTo>
                  <a:pt x="0" y="0"/>
                </a:moveTo>
                <a:lnTo>
                  <a:pt x="3282530" y="0"/>
                </a:lnTo>
                <a:lnTo>
                  <a:pt x="3282530" y="2954278"/>
                </a:lnTo>
                <a:lnTo>
                  <a:pt x="0" y="295427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7" name="Freeform 7"/>
          <p:cNvSpPr/>
          <p:nvPr/>
        </p:nvSpPr>
        <p:spPr>
          <a:xfrm rot="875638">
            <a:off x="-374661" y="3105315"/>
            <a:ext cx="2067768" cy="2505005"/>
          </a:xfrm>
          <a:custGeom>
            <a:avLst/>
            <a:gdLst/>
            <a:ahLst/>
            <a:cxnLst/>
            <a:rect l="l" t="t" r="r" b="b"/>
            <a:pathLst>
              <a:path w="2067768" h="2505005">
                <a:moveTo>
                  <a:pt x="0" y="0"/>
                </a:moveTo>
                <a:lnTo>
                  <a:pt x="2067767" y="0"/>
                </a:lnTo>
                <a:lnTo>
                  <a:pt x="2067767" y="2505005"/>
                </a:lnTo>
                <a:lnTo>
                  <a:pt x="0" y="250500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8" name="Freeform 8"/>
          <p:cNvSpPr/>
          <p:nvPr/>
        </p:nvSpPr>
        <p:spPr>
          <a:xfrm rot="-532262">
            <a:off x="-392514" y="6704894"/>
            <a:ext cx="3456935" cy="3086100"/>
          </a:xfrm>
          <a:custGeom>
            <a:avLst/>
            <a:gdLst/>
            <a:ahLst/>
            <a:cxnLst/>
            <a:rect l="l" t="t" r="r" b="b"/>
            <a:pathLst>
              <a:path w="3456935" h="3086100">
                <a:moveTo>
                  <a:pt x="0" y="0"/>
                </a:moveTo>
                <a:lnTo>
                  <a:pt x="3456935" y="0"/>
                </a:lnTo>
                <a:lnTo>
                  <a:pt x="3456935" y="3086100"/>
                </a:lnTo>
                <a:lnTo>
                  <a:pt x="0" y="3086100"/>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txBody>
          <a:bodyPr/>
          <a:lstStyle/>
          <a:p>
            <a:endParaRPr lang="en-US"/>
          </a:p>
        </p:txBody>
      </p:sp>
      <p:sp>
        <p:nvSpPr>
          <p:cNvPr id="9" name="Freeform 9"/>
          <p:cNvSpPr/>
          <p:nvPr/>
        </p:nvSpPr>
        <p:spPr>
          <a:xfrm>
            <a:off x="16079339" y="7422127"/>
            <a:ext cx="5126498" cy="6729293"/>
          </a:xfrm>
          <a:custGeom>
            <a:avLst/>
            <a:gdLst/>
            <a:ahLst/>
            <a:cxnLst/>
            <a:rect l="l" t="t" r="r" b="b"/>
            <a:pathLst>
              <a:path w="5126498" h="6729293">
                <a:moveTo>
                  <a:pt x="0" y="0"/>
                </a:moveTo>
                <a:lnTo>
                  <a:pt x="5126498" y="0"/>
                </a:lnTo>
                <a:lnTo>
                  <a:pt x="5126498" y="6729293"/>
                </a:lnTo>
                <a:lnTo>
                  <a:pt x="0" y="6729293"/>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txBody>
          <a:bodyPr/>
          <a:lstStyle/>
          <a:p>
            <a:endParaRPr lang="en-US"/>
          </a:p>
        </p:txBody>
      </p:sp>
      <p:sp>
        <p:nvSpPr>
          <p:cNvPr id="10" name="Freeform 10"/>
          <p:cNvSpPr/>
          <p:nvPr/>
        </p:nvSpPr>
        <p:spPr>
          <a:xfrm>
            <a:off x="4260902" y="-2422440"/>
            <a:ext cx="3688357" cy="4114800"/>
          </a:xfrm>
          <a:custGeom>
            <a:avLst/>
            <a:gdLst/>
            <a:ahLst/>
            <a:cxnLst/>
            <a:rect l="l" t="t" r="r" b="b"/>
            <a:pathLst>
              <a:path w="3688357" h="4114800">
                <a:moveTo>
                  <a:pt x="0" y="0"/>
                </a:moveTo>
                <a:lnTo>
                  <a:pt x="3688357" y="0"/>
                </a:lnTo>
                <a:lnTo>
                  <a:pt x="3688357" y="4114800"/>
                </a:lnTo>
                <a:lnTo>
                  <a:pt x="0" y="4114800"/>
                </a:lnTo>
                <a:lnTo>
                  <a:pt x="0" y="0"/>
                </a:lnTo>
                <a:close/>
              </a:path>
            </a:pathLst>
          </a:custGeom>
          <a:blipFill>
            <a:blip r:embed="rId19">
              <a:extLst>
                <a:ext uri="{96DAC541-7B7A-43D3-8B79-37D633B846F1}">
                  <asvg:svgBlip xmlns:asvg="http://schemas.microsoft.com/office/drawing/2016/SVG/main" r:embed="rId20"/>
                </a:ext>
              </a:extLst>
            </a:blip>
            <a:stretch>
              <a:fillRect/>
            </a:stretch>
          </a:blipFill>
          <a:ln cap="sq">
            <a:noFill/>
            <a:prstDash val="solid"/>
            <a:miter/>
          </a:ln>
        </p:spPr>
        <p:txBody>
          <a:bodyPr/>
          <a:lstStyle/>
          <a:p>
            <a:endParaRPr lang="en-US"/>
          </a:p>
        </p:txBody>
      </p:sp>
      <p:sp>
        <p:nvSpPr>
          <p:cNvPr id="11" name="Freeform 11"/>
          <p:cNvSpPr/>
          <p:nvPr/>
        </p:nvSpPr>
        <p:spPr>
          <a:xfrm>
            <a:off x="7949259" y="9258300"/>
            <a:ext cx="3099508" cy="2440158"/>
          </a:xfrm>
          <a:custGeom>
            <a:avLst/>
            <a:gdLst/>
            <a:ahLst/>
            <a:cxnLst/>
            <a:rect l="l" t="t" r="r" b="b"/>
            <a:pathLst>
              <a:path w="3099508" h="2440158">
                <a:moveTo>
                  <a:pt x="0" y="0"/>
                </a:moveTo>
                <a:lnTo>
                  <a:pt x="3099508" y="0"/>
                </a:lnTo>
                <a:lnTo>
                  <a:pt x="3099508" y="2440158"/>
                </a:lnTo>
                <a:lnTo>
                  <a:pt x="0" y="2440158"/>
                </a:lnTo>
                <a:lnTo>
                  <a:pt x="0" y="0"/>
                </a:lnTo>
                <a:close/>
              </a:path>
            </a:pathLst>
          </a:custGeom>
          <a:blipFill>
            <a:blip r:embed="rId21">
              <a:extLst>
                <a:ext uri="{96DAC541-7B7A-43D3-8B79-37D633B846F1}">
                  <asvg:svgBlip xmlns:asvg="http://schemas.microsoft.com/office/drawing/2016/SVG/main" r:embed="rId22"/>
                </a:ext>
              </a:extLst>
            </a:blip>
            <a:stretch>
              <a:fillRect/>
            </a:stretch>
          </a:blipFill>
          <a:ln cap="sq">
            <a:noFill/>
            <a:prstDash val="solid"/>
            <a:miter/>
          </a:ln>
        </p:spPr>
        <p:txBody>
          <a:bodyPr/>
          <a:lstStyle/>
          <a:p>
            <a:endParaRPr lang="en-US"/>
          </a:p>
        </p:txBody>
      </p:sp>
      <p:sp>
        <p:nvSpPr>
          <p:cNvPr id="12" name="Freeform 12"/>
          <p:cNvSpPr/>
          <p:nvPr/>
        </p:nvSpPr>
        <p:spPr>
          <a:xfrm rot="-1897014">
            <a:off x="4816111" y="7801935"/>
            <a:ext cx="1571105" cy="4114800"/>
          </a:xfrm>
          <a:custGeom>
            <a:avLst/>
            <a:gdLst/>
            <a:ahLst/>
            <a:cxnLst/>
            <a:rect l="l" t="t" r="r" b="b"/>
            <a:pathLst>
              <a:path w="1571105" h="4114800">
                <a:moveTo>
                  <a:pt x="0" y="0"/>
                </a:moveTo>
                <a:lnTo>
                  <a:pt x="1571105" y="0"/>
                </a:lnTo>
                <a:lnTo>
                  <a:pt x="1571105" y="4114800"/>
                </a:lnTo>
                <a:lnTo>
                  <a:pt x="0" y="4114800"/>
                </a:lnTo>
                <a:lnTo>
                  <a:pt x="0" y="0"/>
                </a:lnTo>
                <a:close/>
              </a:path>
            </a:pathLst>
          </a:custGeom>
          <a:blipFill>
            <a:blip r:embed="rId23">
              <a:extLst>
                <a:ext uri="{96DAC541-7B7A-43D3-8B79-37D633B846F1}">
                  <asvg:svgBlip xmlns:asvg="http://schemas.microsoft.com/office/drawing/2016/SVG/main" r:embed="rId24"/>
                </a:ext>
              </a:extLst>
            </a:blip>
            <a:stretch>
              <a:fillRect/>
            </a:stretch>
          </a:blipFill>
          <a:ln cap="sq">
            <a:noFill/>
            <a:prstDash val="solid"/>
            <a:miter/>
          </a:ln>
        </p:spPr>
        <p:txBody>
          <a:bodyPr/>
          <a:lstStyle/>
          <a:p>
            <a:endParaRPr lang="en-US"/>
          </a:p>
        </p:txBody>
      </p:sp>
      <p:sp>
        <p:nvSpPr>
          <p:cNvPr id="13" name="Freeform 13"/>
          <p:cNvSpPr/>
          <p:nvPr/>
        </p:nvSpPr>
        <p:spPr>
          <a:xfrm>
            <a:off x="7153363" y="5092207"/>
            <a:ext cx="3747952" cy="2909348"/>
          </a:xfrm>
          <a:custGeom>
            <a:avLst/>
            <a:gdLst/>
            <a:ahLst/>
            <a:cxnLst/>
            <a:rect l="l" t="t" r="r" b="b"/>
            <a:pathLst>
              <a:path w="3747952" h="2909348">
                <a:moveTo>
                  <a:pt x="0" y="0"/>
                </a:moveTo>
                <a:lnTo>
                  <a:pt x="3747952" y="0"/>
                </a:lnTo>
                <a:lnTo>
                  <a:pt x="3747952" y="2909348"/>
                </a:lnTo>
                <a:lnTo>
                  <a:pt x="0" y="2909348"/>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txBody>
          <a:bodyPr/>
          <a:lstStyle/>
          <a:p>
            <a:endParaRPr lang="en-US"/>
          </a:p>
        </p:txBody>
      </p:sp>
      <p:sp>
        <p:nvSpPr>
          <p:cNvPr id="14" name="TextBox 14"/>
          <p:cNvSpPr txBox="1"/>
          <p:nvPr/>
        </p:nvSpPr>
        <p:spPr>
          <a:xfrm>
            <a:off x="3281316" y="2222979"/>
            <a:ext cx="11724600" cy="2412028"/>
          </a:xfrm>
          <a:prstGeom prst="rect">
            <a:avLst/>
          </a:prstGeom>
        </p:spPr>
        <p:txBody>
          <a:bodyPr lIns="0" tIns="0" rIns="0" bIns="0" rtlCol="0" anchor="t">
            <a:spAutoFit/>
          </a:bodyPr>
          <a:lstStyle/>
          <a:p>
            <a:pPr algn="ctr">
              <a:lnSpc>
                <a:spcPts val="18257"/>
              </a:lnSpc>
            </a:pPr>
            <a:r>
              <a:rPr lang="en-US" sz="16156" b="1">
                <a:solidFill>
                  <a:srgbClr val="FFFFFF"/>
                </a:solidFill>
                <a:latin typeface="Jimmy Script Bold"/>
                <a:ea typeface="Jimmy Script Bold"/>
                <a:cs typeface="Jimmy Script Bold"/>
                <a:sym typeface="Jimmy Script Bold"/>
              </a:rPr>
              <a:t>Thank You</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1861</Words>
  <Application>Microsoft Office PowerPoint</Application>
  <PresentationFormat>Custom</PresentationFormat>
  <Paragraphs>145</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Calibri</vt:lpstr>
      <vt:lpstr>Poppins Italics</vt:lpstr>
      <vt:lpstr>Jimmy Script Bold</vt:lpstr>
      <vt:lpstr>Arial</vt:lpstr>
      <vt:lpstr>Poppins</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Joshua Ludolf AI 395T - AI in Healthcare University of Texas at Austin</dc:title>
  <cp:lastModifiedBy>Ludolf, Joshua</cp:lastModifiedBy>
  <cp:revision>2</cp:revision>
  <dcterms:created xsi:type="dcterms:W3CDTF">2006-08-16T00:00:00Z</dcterms:created>
  <dcterms:modified xsi:type="dcterms:W3CDTF">2025-11-02T21:40:38Z</dcterms:modified>
  <dc:identifier>DAG3k2i9lAA</dc:identifier>
</cp:coreProperties>
</file>