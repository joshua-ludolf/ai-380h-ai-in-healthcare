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Open Sauce Heavy" charset="1" panose="00000A00000000000000"/>
      <p:regular r:id="rId22"/>
    </p:embeddedFont>
    <p:embeddedFont>
      <p:font typeface="Open Sauce Bold" charset="1" panose="00000800000000000000"/>
      <p:regular r:id="rId23"/>
    </p:embeddedFont>
    <p:embeddedFont>
      <p:font typeface="Open Sauce Italics" charset="1" panose="00000500000000000000"/>
      <p:regular r:id="rId27"/>
    </p:embeddedFont>
    <p:embeddedFont>
      <p:font typeface="Open Sauce Bold Italics" charset="1" panose="00000800000000000000"/>
      <p:regular r:id="rId28"/>
    </p:embeddedFont>
    <p:embeddedFont>
      <p:font typeface="Open Sauce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SciSpacy = biomedical entities</a:t>
            </a:r>
          </a:p>
          <a:p>
            <a:r>
              <a:rPr lang="en-US"/>
              <a:t/>
            </a:r>
          </a:p>
          <a:p>
            <a:r>
              <a:rPr lang="en-US"/>
              <a:t>ClinicalBERT = contextual doc embeddings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SciSpacy = biomedical entities</a:t>
            </a:r>
          </a:p>
          <a:p>
            <a:r>
              <a:rPr lang="en-US"/>
              <a:t/>
            </a:r>
          </a:p>
          <a:p>
            <a:r>
              <a:rPr lang="en-US"/>
              <a:t>ClinicalBERT = contextual doc embeddings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2" Target="../media/image19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19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jpeg" Type="http://schemas.openxmlformats.org/officeDocument/2006/relationships/image"/><Relationship Id="rId5" Target="../media/VAGyO5rxoQk.mp4" Type="http://schemas.openxmlformats.org/officeDocument/2006/relationships/video"/><Relationship Id="rId6" Target="../media/VAGyO5rxoQk.mp4" Type="http://schemas.microsoft.com/office/2007/relationships/media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jpeg" Type="http://schemas.openxmlformats.org/officeDocument/2006/relationships/image"/><Relationship Id="rId4" Target="../media/VAGyOzuF9-M.mp4" Type="http://schemas.openxmlformats.org/officeDocument/2006/relationships/video"/><Relationship Id="rId5" Target="../media/VAGyOzuF9-M.mp4" Type="http://schemas.microsoft.com/office/2007/relationships/media"/><Relationship Id="rId6" Target="../media/image58.png" Type="http://schemas.openxmlformats.org/officeDocument/2006/relationships/image"/><Relationship Id="rId7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00330">
            <a:off x="3567214" y="1012751"/>
            <a:ext cx="4943737" cy="6065934"/>
          </a:xfrm>
          <a:custGeom>
            <a:avLst/>
            <a:gdLst/>
            <a:ahLst/>
            <a:cxnLst/>
            <a:rect r="r" b="b" t="t" l="l"/>
            <a:pathLst>
              <a:path h="6065934" w="4943737">
                <a:moveTo>
                  <a:pt x="0" y="0"/>
                </a:moveTo>
                <a:lnTo>
                  <a:pt x="4943737" y="0"/>
                </a:lnTo>
                <a:lnTo>
                  <a:pt x="4943737" y="6065935"/>
                </a:lnTo>
                <a:lnTo>
                  <a:pt x="0" y="6065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734345"/>
            <a:ext cx="4955447" cy="5728840"/>
          </a:xfrm>
          <a:custGeom>
            <a:avLst/>
            <a:gdLst/>
            <a:ahLst/>
            <a:cxnLst/>
            <a:rect r="r" b="b" t="t" l="l"/>
            <a:pathLst>
              <a:path h="5728840" w="4955447">
                <a:moveTo>
                  <a:pt x="0" y="0"/>
                </a:moveTo>
                <a:lnTo>
                  <a:pt x="4955447" y="0"/>
                </a:lnTo>
                <a:lnTo>
                  <a:pt x="4955447" y="5728841"/>
                </a:lnTo>
                <a:lnTo>
                  <a:pt x="0" y="5728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11290">
            <a:off x="860249" y="990626"/>
            <a:ext cx="3577502" cy="2258298"/>
          </a:xfrm>
          <a:custGeom>
            <a:avLst/>
            <a:gdLst/>
            <a:ahLst/>
            <a:cxnLst/>
            <a:rect r="r" b="b" t="t" l="l"/>
            <a:pathLst>
              <a:path h="2258298" w="3577502">
                <a:moveTo>
                  <a:pt x="0" y="0"/>
                </a:moveTo>
                <a:lnTo>
                  <a:pt x="3577502" y="0"/>
                </a:lnTo>
                <a:lnTo>
                  <a:pt x="3577502" y="2258298"/>
                </a:lnTo>
                <a:lnTo>
                  <a:pt x="0" y="2258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25336">
            <a:off x="5179178" y="7696762"/>
            <a:ext cx="3177865" cy="2025889"/>
          </a:xfrm>
          <a:custGeom>
            <a:avLst/>
            <a:gdLst/>
            <a:ahLst/>
            <a:cxnLst/>
            <a:rect r="r" b="b" t="t" l="l"/>
            <a:pathLst>
              <a:path h="2025889" w="3177865">
                <a:moveTo>
                  <a:pt x="0" y="0"/>
                </a:moveTo>
                <a:lnTo>
                  <a:pt x="3177866" y="0"/>
                </a:lnTo>
                <a:lnTo>
                  <a:pt x="3177866" y="2025889"/>
                </a:lnTo>
                <a:lnTo>
                  <a:pt x="0" y="2025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56657" y="2873754"/>
            <a:ext cx="8160991" cy="324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49"/>
              </a:lnSpc>
            </a:pPr>
            <a:r>
              <a:rPr lang="en-US" b="true" sz="12967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MIMIC III NLP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51045" y="6320000"/>
            <a:ext cx="5333667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Joshua Ludolf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</a:t>
            </a:r>
            <a:r>
              <a:rPr lang="en-US" sz="2799" b="true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395T - AI in Healthcare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University of Texas at Austin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E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495789" cy="3338124"/>
          </a:xfrm>
          <a:custGeom>
            <a:avLst/>
            <a:gdLst/>
            <a:ahLst/>
            <a:cxnLst/>
            <a:rect r="r" b="b" t="t" l="l"/>
            <a:pathLst>
              <a:path h="3338124" w="4495789">
                <a:moveTo>
                  <a:pt x="0" y="0"/>
                </a:moveTo>
                <a:lnTo>
                  <a:pt x="4495789" y="0"/>
                </a:lnTo>
                <a:lnTo>
                  <a:pt x="4495789" y="3338124"/>
                </a:lnTo>
                <a:lnTo>
                  <a:pt x="0" y="33381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89717" y="6556415"/>
            <a:ext cx="2269583" cy="2701885"/>
          </a:xfrm>
          <a:custGeom>
            <a:avLst/>
            <a:gdLst/>
            <a:ahLst/>
            <a:cxnLst/>
            <a:rect r="r" b="b" t="t" l="l"/>
            <a:pathLst>
              <a:path h="2701885" w="2269583">
                <a:moveTo>
                  <a:pt x="0" y="0"/>
                </a:moveTo>
                <a:lnTo>
                  <a:pt x="2269583" y="0"/>
                </a:lnTo>
                <a:lnTo>
                  <a:pt x="2269583" y="2701885"/>
                </a:lnTo>
                <a:lnTo>
                  <a:pt x="0" y="2701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73964" y="1186525"/>
            <a:ext cx="6785336" cy="133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5625">
                <a:solidFill>
                  <a:srgbClr val="EBEDE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WHY CLINICAL NOTES MATTER?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58561" y="4233474"/>
            <a:ext cx="12231156" cy="287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 No</a:t>
            </a: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 contain: diagnoses, symptoms, timelines; but are unstructured. Additionally, they have abbreviations, noise, and varied terminology across clinicians (e.g. different ICU codes, etc.)  With </a:t>
            </a:r>
            <a:r>
              <a:rPr lang="en-US" sz="2775" i="true">
                <a:solidFill>
                  <a:srgbClr val="EBEDEF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N</a:t>
            </a: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atural </a:t>
            </a:r>
            <a:r>
              <a:rPr lang="en-US" b="true" sz="2775" i="true">
                <a:solidFill>
                  <a:srgbClr val="EBEDE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L</a:t>
            </a: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anguage </a:t>
            </a:r>
            <a:r>
              <a:rPr lang="en-US" b="true" sz="2775" i="true">
                <a:solidFill>
                  <a:srgbClr val="EBEDE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P</a:t>
            </a:r>
            <a:r>
              <a:rPr lang="en-US" b="true" sz="2775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rocessing, allows extracting disease entities to surface cohorts and patterns.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19434" y="3038642"/>
            <a:ext cx="6339866" cy="4002040"/>
          </a:xfrm>
          <a:custGeom>
            <a:avLst/>
            <a:gdLst/>
            <a:ahLst/>
            <a:cxnLst/>
            <a:rect r="r" b="b" t="t" l="l"/>
            <a:pathLst>
              <a:path h="4002040" w="6339866">
                <a:moveTo>
                  <a:pt x="0" y="0"/>
                </a:moveTo>
                <a:lnTo>
                  <a:pt x="6339866" y="0"/>
                </a:lnTo>
                <a:lnTo>
                  <a:pt x="6339866" y="4002040"/>
                </a:lnTo>
                <a:lnTo>
                  <a:pt x="0" y="4002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7798" y="1257300"/>
            <a:ext cx="6287272" cy="178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60"/>
              </a:lnSpc>
              <a:spcBef>
                <a:spcPct val="0"/>
              </a:spcBef>
            </a:pPr>
            <a:r>
              <a:rPr lang="en-US" b="true" sz="7596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17743"/>
            <a:ext cx="9403028" cy="424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7663" indent="-243832" lvl="1">
              <a:lnSpc>
                <a:spcPts val="3772"/>
              </a:lnSpc>
              <a:buFont typeface="Arial"/>
              <a:buChar char="•"/>
            </a:pP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Extract</a:t>
            </a: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disease-related entities from MIMIC III clinical notes</a:t>
            </a:r>
          </a:p>
          <a:p>
            <a:pPr algn="l">
              <a:lnSpc>
                <a:spcPts val="3772"/>
              </a:lnSpc>
            </a:pPr>
          </a:p>
          <a:p>
            <a:pPr algn="l" marL="487663" indent="-243832" lvl="1">
              <a:lnSpc>
                <a:spcPts val="3772"/>
              </a:lnSpc>
              <a:buFont typeface="Arial"/>
              <a:buChar char="•"/>
            </a:pP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Compare SpaCy vs SciSpacy extraction coverage</a:t>
            </a:r>
          </a:p>
          <a:p>
            <a:pPr algn="l">
              <a:lnSpc>
                <a:spcPts val="3772"/>
              </a:lnSpc>
            </a:pPr>
          </a:p>
          <a:p>
            <a:pPr algn="l" marL="487663" indent="-243832" lvl="1">
              <a:lnSpc>
                <a:spcPts val="3772"/>
              </a:lnSpc>
              <a:buFont typeface="Arial"/>
              <a:buChar char="•"/>
            </a:pP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Train Word2Vec embeddings and visualize with t‑SNE</a:t>
            </a:r>
          </a:p>
          <a:p>
            <a:pPr algn="l">
              <a:lnSpc>
                <a:spcPts val="3772"/>
              </a:lnSpc>
            </a:pPr>
          </a:p>
          <a:p>
            <a:pPr algn="l" marL="487663" indent="-243832" lvl="1">
              <a:lnSpc>
                <a:spcPts val="3772"/>
              </a:lnSpc>
              <a:buFont typeface="Arial"/>
              <a:buChar char="•"/>
            </a:pP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Integrate ClinicalBERT for document embeddings &amp; clustering</a:t>
            </a:r>
          </a:p>
          <a:p>
            <a:pPr algn="l">
              <a:lnSpc>
                <a:spcPts val="3772"/>
              </a:lnSpc>
            </a:pPr>
          </a:p>
          <a:p>
            <a:pPr algn="l" marL="487663" indent="-243832" lvl="1">
              <a:lnSpc>
                <a:spcPts val="3772"/>
              </a:lnSpc>
              <a:buFont typeface="Arial"/>
              <a:buChar char="•"/>
            </a:pPr>
            <a:r>
              <a:rPr lang="en-US" b="true" sz="225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Deliver comparative metrics and dashboard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47648" y="271439"/>
            <a:ext cx="2294786" cy="2317966"/>
          </a:xfrm>
          <a:custGeom>
            <a:avLst/>
            <a:gdLst/>
            <a:ahLst/>
            <a:cxnLst/>
            <a:rect r="r" b="b" t="t" l="l"/>
            <a:pathLst>
              <a:path h="2317966" w="2294786">
                <a:moveTo>
                  <a:pt x="0" y="0"/>
                </a:moveTo>
                <a:lnTo>
                  <a:pt x="2294787" y="0"/>
                </a:lnTo>
                <a:lnTo>
                  <a:pt x="2294787" y="2317966"/>
                </a:lnTo>
                <a:lnTo>
                  <a:pt x="0" y="23179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655050"/>
            <a:ext cx="4798617" cy="2603250"/>
          </a:xfrm>
          <a:custGeom>
            <a:avLst/>
            <a:gdLst/>
            <a:ahLst/>
            <a:cxnLst/>
            <a:rect r="r" b="b" t="t" l="l"/>
            <a:pathLst>
              <a:path h="2603250" w="4798617">
                <a:moveTo>
                  <a:pt x="0" y="0"/>
                </a:moveTo>
                <a:lnTo>
                  <a:pt x="4798617" y="0"/>
                </a:lnTo>
                <a:lnTo>
                  <a:pt x="4798617" y="2603250"/>
                </a:lnTo>
                <a:lnTo>
                  <a:pt x="0" y="2603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820416" y="6405496"/>
            <a:ext cx="2789970" cy="3030166"/>
          </a:xfrm>
          <a:custGeom>
            <a:avLst/>
            <a:gdLst/>
            <a:ahLst/>
            <a:cxnLst/>
            <a:rect r="r" b="b" t="t" l="l"/>
            <a:pathLst>
              <a:path h="3030166" w="2789970">
                <a:moveTo>
                  <a:pt x="0" y="0"/>
                </a:moveTo>
                <a:lnTo>
                  <a:pt x="2789971" y="0"/>
                </a:lnTo>
                <a:lnTo>
                  <a:pt x="2789971" y="3030167"/>
                </a:lnTo>
                <a:lnTo>
                  <a:pt x="0" y="30301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08671" y="6602504"/>
            <a:ext cx="5650629" cy="2655796"/>
          </a:xfrm>
          <a:custGeom>
            <a:avLst/>
            <a:gdLst/>
            <a:ahLst/>
            <a:cxnLst/>
            <a:rect r="r" b="b" t="t" l="l"/>
            <a:pathLst>
              <a:path h="2655796" w="5650629">
                <a:moveTo>
                  <a:pt x="0" y="0"/>
                </a:moveTo>
                <a:lnTo>
                  <a:pt x="5650629" y="0"/>
                </a:lnTo>
                <a:lnTo>
                  <a:pt x="5650629" y="2655796"/>
                </a:lnTo>
                <a:lnTo>
                  <a:pt x="0" y="2655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66503" y="6405496"/>
            <a:ext cx="1013597" cy="1004382"/>
          </a:xfrm>
          <a:custGeom>
            <a:avLst/>
            <a:gdLst/>
            <a:ahLst/>
            <a:cxnLst/>
            <a:rect r="r" b="b" t="t" l="l"/>
            <a:pathLst>
              <a:path h="1004382" w="1013597">
                <a:moveTo>
                  <a:pt x="0" y="0"/>
                </a:moveTo>
                <a:lnTo>
                  <a:pt x="1013596" y="0"/>
                </a:lnTo>
                <a:lnTo>
                  <a:pt x="1013596" y="1004382"/>
                </a:lnTo>
                <a:lnTo>
                  <a:pt x="0" y="100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19057" y="4422480"/>
            <a:ext cx="2140243" cy="2175848"/>
          </a:xfrm>
          <a:custGeom>
            <a:avLst/>
            <a:gdLst/>
            <a:ahLst/>
            <a:cxnLst/>
            <a:rect r="r" b="b" t="t" l="l"/>
            <a:pathLst>
              <a:path h="2175848" w="2140243">
                <a:moveTo>
                  <a:pt x="0" y="0"/>
                </a:moveTo>
                <a:lnTo>
                  <a:pt x="2140243" y="0"/>
                </a:lnTo>
                <a:lnTo>
                  <a:pt x="2140243" y="2175847"/>
                </a:lnTo>
                <a:lnTo>
                  <a:pt x="0" y="21758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29639" y="4422480"/>
            <a:ext cx="1423688" cy="1442041"/>
          </a:xfrm>
          <a:custGeom>
            <a:avLst/>
            <a:gdLst/>
            <a:ahLst/>
            <a:cxnLst/>
            <a:rect r="r" b="b" t="t" l="l"/>
            <a:pathLst>
              <a:path h="1442041" w="1423688">
                <a:moveTo>
                  <a:pt x="0" y="0"/>
                </a:moveTo>
                <a:lnTo>
                  <a:pt x="1423687" y="0"/>
                </a:lnTo>
                <a:lnTo>
                  <a:pt x="1423687" y="1442040"/>
                </a:lnTo>
                <a:lnTo>
                  <a:pt x="0" y="14420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42975"/>
            <a:ext cx="2784219" cy="86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b="true" sz="5139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SETUP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6608" y="1979444"/>
            <a:ext cx="8301095" cy="413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021" indent="-284011" lvl="1">
              <a:lnSpc>
                <a:spcPts val="3683"/>
              </a:lnSpc>
              <a:buFont typeface="Arial"/>
              <a:buChar char="•"/>
            </a:pPr>
            <a:r>
              <a:rPr lang="en-US" sz="2630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Installed required spacy, scispacy, pytorch, gensim, matplotlib, seaborn, scikit-learn.</a:t>
            </a:r>
          </a:p>
          <a:p>
            <a:pPr algn="l">
              <a:lnSpc>
                <a:spcPts val="3683"/>
              </a:lnSpc>
            </a:pPr>
          </a:p>
          <a:p>
            <a:pPr algn="l" marL="568021" indent="-284011" lvl="1">
              <a:lnSpc>
                <a:spcPts val="3683"/>
              </a:lnSpc>
              <a:buFont typeface="Arial"/>
              <a:buChar char="•"/>
            </a:pPr>
            <a:r>
              <a:rPr lang="en-US" sz="2630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Loaded in</a:t>
            </a:r>
            <a:r>
              <a:rPr lang="en-US" b="true" sz="2630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630" i="true">
                <a:solidFill>
                  <a:srgbClr val="5A6E9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MIMIC III NOTEEVENTS.csv.gz into dataframe: note_events_df</a:t>
            </a:r>
          </a:p>
          <a:p>
            <a:pPr algn="l">
              <a:lnSpc>
                <a:spcPts val="3683"/>
              </a:lnSpc>
            </a:pPr>
          </a:p>
          <a:p>
            <a:pPr algn="l" marL="568021" indent="-284011" lvl="1">
              <a:lnSpc>
                <a:spcPts val="3683"/>
              </a:lnSpc>
              <a:buFont typeface="Arial"/>
              <a:buChar char="•"/>
            </a:pPr>
            <a:r>
              <a:rPr lang="en-US" sz="2630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Cleaned dataframe by dropping missing values in the </a:t>
            </a:r>
            <a:r>
              <a:rPr lang="en-US" b="true" sz="2630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TEXT </a:t>
            </a:r>
            <a:r>
              <a:rPr lang="en-US" sz="2630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column and enusring it was type string for processing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E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759244">
            <a:off x="260173" y="966257"/>
            <a:ext cx="3015409" cy="2864639"/>
          </a:xfrm>
          <a:custGeom>
            <a:avLst/>
            <a:gdLst/>
            <a:ahLst/>
            <a:cxnLst/>
            <a:rect r="r" b="b" t="t" l="l"/>
            <a:pathLst>
              <a:path h="2864639" w="3015409">
                <a:moveTo>
                  <a:pt x="3015409" y="0"/>
                </a:moveTo>
                <a:lnTo>
                  <a:pt x="0" y="0"/>
                </a:lnTo>
                <a:lnTo>
                  <a:pt x="0" y="2864639"/>
                </a:lnTo>
                <a:lnTo>
                  <a:pt x="3015409" y="2864639"/>
                </a:lnTo>
                <a:lnTo>
                  <a:pt x="301540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719162">
            <a:off x="4939922" y="649432"/>
            <a:ext cx="2128421" cy="2243395"/>
          </a:xfrm>
          <a:custGeom>
            <a:avLst/>
            <a:gdLst/>
            <a:ahLst/>
            <a:cxnLst/>
            <a:rect r="r" b="b" t="t" l="l"/>
            <a:pathLst>
              <a:path h="2243395" w="2128421">
                <a:moveTo>
                  <a:pt x="2128421" y="0"/>
                </a:moveTo>
                <a:lnTo>
                  <a:pt x="0" y="0"/>
                </a:lnTo>
                <a:lnTo>
                  <a:pt x="0" y="2243395"/>
                </a:lnTo>
                <a:lnTo>
                  <a:pt x="2128421" y="2243395"/>
                </a:lnTo>
                <a:lnTo>
                  <a:pt x="21284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1098" y="4143623"/>
            <a:ext cx="5715355" cy="4468642"/>
          </a:xfrm>
          <a:custGeom>
            <a:avLst/>
            <a:gdLst/>
            <a:ahLst/>
            <a:cxnLst/>
            <a:rect r="r" b="b" t="t" l="l"/>
            <a:pathLst>
              <a:path h="4468642" w="5715355">
                <a:moveTo>
                  <a:pt x="0" y="0"/>
                </a:moveTo>
                <a:lnTo>
                  <a:pt x="5715355" y="0"/>
                </a:lnTo>
                <a:lnTo>
                  <a:pt x="5715355" y="4468641"/>
                </a:lnTo>
                <a:lnTo>
                  <a:pt x="0" y="4468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795832" y="3597319"/>
            <a:ext cx="4463468" cy="103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2949" indent="-321474" lvl="1">
              <a:lnSpc>
                <a:spcPts val="4169"/>
              </a:lnSpc>
              <a:buFont typeface="Arial"/>
              <a:buChar char="•"/>
            </a:pPr>
            <a:r>
              <a:rPr lang="en-US" sz="2977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977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ciSpacy model: en_core_sci_sm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6133" y="3312622"/>
            <a:ext cx="4501777" cy="256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87104" indent="-393552" lvl="1">
              <a:lnSpc>
                <a:spcPts val="5103"/>
              </a:lnSpc>
              <a:buFont typeface="Arial"/>
              <a:buChar char="•"/>
            </a:pPr>
            <a:r>
              <a:rPr lang="en-US" sz="3645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sp</a:t>
            </a:r>
            <a:r>
              <a:rPr lang="en-US" sz="3645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aCy model: en_core_web_sm (pipeline shown)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06977" y="6189358"/>
            <a:ext cx="3533973" cy="222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43945" indent="-271972" lvl="1">
              <a:lnSpc>
                <a:spcPts val="3527"/>
              </a:lnSpc>
              <a:buFont typeface="Arial"/>
              <a:buChar char="•"/>
            </a:pPr>
            <a:r>
              <a:rPr lang="en-US" sz="2519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Cl</a:t>
            </a:r>
            <a:r>
              <a:rPr lang="en-US" sz="2519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inicalBERT: emilyalsentzer/Bio_ClinicalBERT (tokenizer + model)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3964" y="1186525"/>
            <a:ext cx="6785336" cy="133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b="true" sz="5625">
                <a:solidFill>
                  <a:srgbClr val="EBEDE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NLP MODELS CONFIGURATION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79108" y="6451758"/>
            <a:ext cx="4896915" cy="994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3514" indent="-306757" lvl="1">
              <a:lnSpc>
                <a:spcPts val="3978"/>
              </a:lnSpc>
              <a:buFont typeface="Arial"/>
              <a:buChar char="•"/>
            </a:pPr>
            <a:r>
              <a:rPr lang="en-US" sz="2841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Model</a:t>
            </a:r>
            <a:r>
              <a:rPr lang="en-US" sz="2841">
                <a:solidFill>
                  <a:srgbClr val="EBEDEF"/>
                </a:solidFill>
                <a:latin typeface="Open Sauce"/>
                <a:ea typeface="Open Sauce"/>
                <a:cs typeface="Open Sauce"/>
                <a:sym typeface="Open Sauce"/>
              </a:rPr>
              <a:t> loading checks &amp; fallbacks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7301972"/>
            <a:ext cx="2029912" cy="1956328"/>
          </a:xfrm>
          <a:custGeom>
            <a:avLst/>
            <a:gdLst/>
            <a:ahLst/>
            <a:cxnLst/>
            <a:rect r="r" b="b" t="t" l="l"/>
            <a:pathLst>
              <a:path h="1956328" w="2029912">
                <a:moveTo>
                  <a:pt x="0" y="0"/>
                </a:moveTo>
                <a:lnTo>
                  <a:pt x="2029912" y="0"/>
                </a:lnTo>
                <a:lnTo>
                  <a:pt x="2029912" y="1956328"/>
                </a:lnTo>
                <a:lnTo>
                  <a:pt x="0" y="195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5293" y="7637465"/>
            <a:ext cx="8452120" cy="1130471"/>
          </a:xfrm>
          <a:custGeom>
            <a:avLst/>
            <a:gdLst/>
            <a:ahLst/>
            <a:cxnLst/>
            <a:rect r="r" b="b" t="t" l="l"/>
            <a:pathLst>
              <a:path h="1130471" w="8452120">
                <a:moveTo>
                  <a:pt x="0" y="0"/>
                </a:moveTo>
                <a:lnTo>
                  <a:pt x="8452120" y="0"/>
                </a:lnTo>
                <a:lnTo>
                  <a:pt x="8452120" y="1130471"/>
                </a:lnTo>
                <a:lnTo>
                  <a:pt x="0" y="11304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80193" y="1275297"/>
            <a:ext cx="5771185" cy="6146983"/>
          </a:xfrm>
          <a:custGeom>
            <a:avLst/>
            <a:gdLst/>
            <a:ahLst/>
            <a:cxnLst/>
            <a:rect r="r" b="b" t="t" l="l"/>
            <a:pathLst>
              <a:path h="6146983" w="5771185">
                <a:moveTo>
                  <a:pt x="0" y="0"/>
                </a:moveTo>
                <a:lnTo>
                  <a:pt x="5771185" y="0"/>
                </a:lnTo>
                <a:lnTo>
                  <a:pt x="5771185" y="6146984"/>
                </a:lnTo>
                <a:lnTo>
                  <a:pt x="0" y="6146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2522" y="1676153"/>
            <a:ext cx="9497333" cy="128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51"/>
              </a:lnSpc>
              <a:spcBef>
                <a:spcPct val="0"/>
              </a:spcBef>
            </a:pPr>
            <a:r>
              <a:rPr lang="en-US" b="true" sz="5450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ENTITY EXTRACTION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8229" y="3598725"/>
            <a:ext cx="7181570" cy="356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9157" indent="-309579" lvl="1">
              <a:lnSpc>
                <a:spcPts val="4789"/>
              </a:lnSpc>
              <a:buFont typeface="Arial"/>
              <a:buChar char="•"/>
            </a:pP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spaC</a:t>
            </a: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y with keyword filtering to focus disease terms</a:t>
            </a:r>
          </a:p>
          <a:p>
            <a:pPr algn="ctr" marL="619157" indent="-309579" lvl="1">
              <a:lnSpc>
                <a:spcPts val="4789"/>
              </a:lnSpc>
              <a:buFont typeface="Arial"/>
              <a:buChar char="•"/>
            </a:pP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SciSpacy to capture clinical concepts missed by general NER</a:t>
            </a:r>
          </a:p>
          <a:p>
            <a:pPr algn="ctr" marL="619157" indent="-309579" lvl="1">
              <a:lnSpc>
                <a:spcPts val="4789"/>
              </a:lnSpc>
              <a:buFont typeface="Arial"/>
              <a:buChar char="•"/>
            </a:pP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Columns created: SPACY_ENTITIES, SCISPACY_ENTITIES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75006" y="1028700"/>
            <a:ext cx="1413558" cy="1362316"/>
          </a:xfrm>
          <a:custGeom>
            <a:avLst/>
            <a:gdLst/>
            <a:ahLst/>
            <a:cxnLst/>
            <a:rect r="r" b="b" t="t" l="l"/>
            <a:pathLst>
              <a:path h="1362316" w="1413558">
                <a:moveTo>
                  <a:pt x="0" y="0"/>
                </a:moveTo>
                <a:lnTo>
                  <a:pt x="1413558" y="0"/>
                </a:lnTo>
                <a:lnTo>
                  <a:pt x="1413558" y="1362316"/>
                </a:lnTo>
                <a:lnTo>
                  <a:pt x="0" y="1362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8621" y="6751448"/>
            <a:ext cx="3242486" cy="2419495"/>
          </a:xfrm>
          <a:custGeom>
            <a:avLst/>
            <a:gdLst/>
            <a:ahLst/>
            <a:cxnLst/>
            <a:rect r="r" b="b" t="t" l="l"/>
            <a:pathLst>
              <a:path h="2419495" w="3242486">
                <a:moveTo>
                  <a:pt x="0" y="0"/>
                </a:moveTo>
                <a:lnTo>
                  <a:pt x="3242486" y="0"/>
                </a:lnTo>
                <a:lnTo>
                  <a:pt x="3242486" y="2419496"/>
                </a:lnTo>
                <a:lnTo>
                  <a:pt x="0" y="2419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09" t="-509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7710" y="3296770"/>
            <a:ext cx="2518071" cy="2399536"/>
          </a:xfrm>
          <a:custGeom>
            <a:avLst/>
            <a:gdLst/>
            <a:ahLst/>
            <a:cxnLst/>
            <a:rect r="r" b="b" t="t" l="l"/>
            <a:pathLst>
              <a:path h="2399536" w="2518071">
                <a:moveTo>
                  <a:pt x="0" y="0"/>
                </a:moveTo>
                <a:lnTo>
                  <a:pt x="2518071" y="0"/>
                </a:lnTo>
                <a:lnTo>
                  <a:pt x="2518071" y="2399535"/>
                </a:lnTo>
                <a:lnTo>
                  <a:pt x="0" y="2399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14476" y="6561342"/>
            <a:ext cx="2361305" cy="2419495"/>
          </a:xfrm>
          <a:custGeom>
            <a:avLst/>
            <a:gdLst/>
            <a:ahLst/>
            <a:cxnLst/>
            <a:rect r="r" b="b" t="t" l="l"/>
            <a:pathLst>
              <a:path h="2419495" w="2361305">
                <a:moveTo>
                  <a:pt x="0" y="0"/>
                </a:moveTo>
                <a:lnTo>
                  <a:pt x="2361305" y="0"/>
                </a:lnTo>
                <a:lnTo>
                  <a:pt x="2361305" y="2419496"/>
                </a:lnTo>
                <a:lnTo>
                  <a:pt x="0" y="24194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7882" y="3951624"/>
            <a:ext cx="3251775" cy="2383753"/>
          </a:xfrm>
          <a:custGeom>
            <a:avLst/>
            <a:gdLst/>
            <a:ahLst/>
            <a:cxnLst/>
            <a:rect r="r" b="b" t="t" l="l"/>
            <a:pathLst>
              <a:path h="2383753" w="3251775">
                <a:moveTo>
                  <a:pt x="0" y="0"/>
                </a:moveTo>
                <a:lnTo>
                  <a:pt x="3251775" y="0"/>
                </a:lnTo>
                <a:lnTo>
                  <a:pt x="3251775" y="2383752"/>
                </a:lnTo>
                <a:lnTo>
                  <a:pt x="0" y="2383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94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6725" y="3320931"/>
            <a:ext cx="4070381" cy="2351214"/>
          </a:xfrm>
          <a:custGeom>
            <a:avLst/>
            <a:gdLst/>
            <a:ahLst/>
            <a:cxnLst/>
            <a:rect r="r" b="b" t="t" l="l"/>
            <a:pathLst>
              <a:path h="2351214" w="4070381">
                <a:moveTo>
                  <a:pt x="0" y="0"/>
                </a:moveTo>
                <a:lnTo>
                  <a:pt x="4070381" y="0"/>
                </a:lnTo>
                <a:lnTo>
                  <a:pt x="4070381" y="2351213"/>
                </a:lnTo>
                <a:lnTo>
                  <a:pt x="0" y="23512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38538" y="7076744"/>
            <a:ext cx="5388965" cy="1723869"/>
          </a:xfrm>
          <a:custGeom>
            <a:avLst/>
            <a:gdLst/>
            <a:ahLst/>
            <a:cxnLst/>
            <a:rect r="r" b="b" t="t" l="l"/>
            <a:pathLst>
              <a:path h="1723869" w="5388965">
                <a:moveTo>
                  <a:pt x="0" y="0"/>
                </a:moveTo>
                <a:lnTo>
                  <a:pt x="5388965" y="0"/>
                </a:lnTo>
                <a:lnTo>
                  <a:pt x="5388965" y="1723869"/>
                </a:lnTo>
                <a:lnTo>
                  <a:pt x="0" y="17238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05346" y="3560955"/>
            <a:ext cx="5622157" cy="1846574"/>
          </a:xfrm>
          <a:custGeom>
            <a:avLst/>
            <a:gdLst/>
            <a:ahLst/>
            <a:cxnLst/>
            <a:rect r="r" b="b" t="t" l="l"/>
            <a:pathLst>
              <a:path h="1846574" w="5622157">
                <a:moveTo>
                  <a:pt x="0" y="0"/>
                </a:moveTo>
                <a:lnTo>
                  <a:pt x="5622157" y="0"/>
                </a:lnTo>
                <a:lnTo>
                  <a:pt x="5622157" y="1846573"/>
                </a:lnTo>
                <a:lnTo>
                  <a:pt x="0" y="18465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2522" y="7028650"/>
            <a:ext cx="4085361" cy="1771964"/>
          </a:xfrm>
          <a:custGeom>
            <a:avLst/>
            <a:gdLst/>
            <a:ahLst/>
            <a:cxnLst/>
            <a:rect r="r" b="b" t="t" l="l"/>
            <a:pathLst>
              <a:path h="1771964" w="4085361">
                <a:moveTo>
                  <a:pt x="0" y="0"/>
                </a:moveTo>
                <a:lnTo>
                  <a:pt x="4085360" y="0"/>
                </a:lnTo>
                <a:lnTo>
                  <a:pt x="4085360" y="1771963"/>
                </a:lnTo>
                <a:lnTo>
                  <a:pt x="0" y="1771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2522" y="1619003"/>
            <a:ext cx="5070203" cy="112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6"/>
              </a:lnSpc>
              <a:spcBef>
                <a:spcPct val="0"/>
              </a:spcBef>
            </a:pPr>
            <a:r>
              <a:rPr lang="en-US" b="true" sz="3243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ENTITY EXTRACTION IMPLEMENTATION CONT.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E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9511">
            <a:off x="593675" y="1045847"/>
            <a:ext cx="2510661" cy="3281910"/>
          </a:xfrm>
          <a:custGeom>
            <a:avLst/>
            <a:gdLst/>
            <a:ahLst/>
            <a:cxnLst/>
            <a:rect r="r" b="b" t="t" l="l"/>
            <a:pathLst>
              <a:path h="3281910" w="2510661">
                <a:moveTo>
                  <a:pt x="0" y="0"/>
                </a:moveTo>
                <a:lnTo>
                  <a:pt x="2510661" y="0"/>
                </a:lnTo>
                <a:lnTo>
                  <a:pt x="2510661" y="3281910"/>
                </a:lnTo>
                <a:lnTo>
                  <a:pt x="0" y="3281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07315">
            <a:off x="5974785" y="1028700"/>
            <a:ext cx="2488238" cy="2398039"/>
          </a:xfrm>
          <a:custGeom>
            <a:avLst/>
            <a:gdLst/>
            <a:ahLst/>
            <a:cxnLst/>
            <a:rect r="r" b="b" t="t" l="l"/>
            <a:pathLst>
              <a:path h="2398039" w="2488238">
                <a:moveTo>
                  <a:pt x="0" y="0"/>
                </a:moveTo>
                <a:lnTo>
                  <a:pt x="2488238" y="0"/>
                </a:lnTo>
                <a:lnTo>
                  <a:pt x="2488238" y="2398039"/>
                </a:lnTo>
                <a:lnTo>
                  <a:pt x="0" y="2398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75175" y="3884429"/>
            <a:ext cx="5709526" cy="5192158"/>
          </a:xfrm>
          <a:custGeom>
            <a:avLst/>
            <a:gdLst/>
            <a:ahLst/>
            <a:cxnLst/>
            <a:rect r="r" b="b" t="t" l="l"/>
            <a:pathLst>
              <a:path h="5192158" w="5709526">
                <a:moveTo>
                  <a:pt x="0" y="0"/>
                </a:moveTo>
                <a:lnTo>
                  <a:pt x="5709527" y="0"/>
                </a:lnTo>
                <a:lnTo>
                  <a:pt x="5709527" y="5192158"/>
                </a:lnTo>
                <a:lnTo>
                  <a:pt x="0" y="5192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53201" y="1713495"/>
            <a:ext cx="8006099" cy="160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76"/>
              </a:lnSpc>
              <a:spcBef>
                <a:spcPct val="0"/>
              </a:spcBef>
            </a:pPr>
            <a:r>
              <a:rPr lang="en-US" b="true" sz="6827">
                <a:solidFill>
                  <a:srgbClr val="EBEDE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EMBEDDINGS &amp; RELATIONSHIPS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3300" y="3836804"/>
            <a:ext cx="6485900" cy="435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90221" indent="-295111" lvl="1">
              <a:lnSpc>
                <a:spcPts val="3827"/>
              </a:lnSpc>
              <a:buFont typeface="Arial"/>
              <a:buChar char="•"/>
            </a:pPr>
            <a:r>
              <a:rPr lang="en-US" b="true" sz="2733" strike="noStrike" u="none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Word2Vec trained on general medical text + entity-only corpora</a:t>
            </a:r>
          </a:p>
          <a:p>
            <a:pPr algn="ctr">
              <a:lnSpc>
                <a:spcPts val="3827"/>
              </a:lnSpc>
            </a:pPr>
          </a:p>
          <a:p>
            <a:pPr algn="ctr" marL="590221" indent="-295111" lvl="1">
              <a:lnSpc>
                <a:spcPts val="3827"/>
              </a:lnSpc>
              <a:buFont typeface="Arial"/>
              <a:buChar char="•"/>
            </a:pPr>
            <a:r>
              <a:rPr lang="en-US" b="true" sz="2733" strike="noStrike" u="none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Learned neighbors reveal synonyms, abbreviations, and collocations</a:t>
            </a:r>
          </a:p>
          <a:p>
            <a:pPr algn="ctr">
              <a:lnSpc>
                <a:spcPts val="3827"/>
              </a:lnSpc>
            </a:pPr>
          </a:p>
          <a:p>
            <a:pPr algn="ctr" marL="590221" indent="-295111" lvl="1">
              <a:lnSpc>
                <a:spcPts val="3827"/>
              </a:lnSpc>
              <a:buFont typeface="Arial"/>
              <a:buChar char="•"/>
            </a:pPr>
            <a:r>
              <a:rPr lang="en-US" b="true" sz="2733" strike="noStrike" u="none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Example: nearest neighbors for “diabetes” or “sepsis”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2312">
            <a:off x="1255967" y="1489792"/>
            <a:ext cx="1266243" cy="1668854"/>
          </a:xfrm>
          <a:custGeom>
            <a:avLst/>
            <a:gdLst/>
            <a:ahLst/>
            <a:cxnLst/>
            <a:rect r="r" b="b" t="t" l="l"/>
            <a:pathLst>
              <a:path h="1668854" w="1266243">
                <a:moveTo>
                  <a:pt x="0" y="0"/>
                </a:moveTo>
                <a:lnTo>
                  <a:pt x="1266243" y="0"/>
                </a:lnTo>
                <a:lnTo>
                  <a:pt x="1266243" y="1668854"/>
                </a:lnTo>
                <a:lnTo>
                  <a:pt x="0" y="1668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45755" y="6226352"/>
            <a:ext cx="4060972" cy="3031948"/>
          </a:xfrm>
          <a:custGeom>
            <a:avLst/>
            <a:gdLst/>
            <a:ahLst/>
            <a:cxnLst/>
            <a:rect r="r" b="b" t="t" l="l"/>
            <a:pathLst>
              <a:path h="3031948" w="4060972">
                <a:moveTo>
                  <a:pt x="0" y="0"/>
                </a:moveTo>
                <a:lnTo>
                  <a:pt x="4060973" y="0"/>
                </a:lnTo>
                <a:lnTo>
                  <a:pt x="4060973" y="3031948"/>
                </a:lnTo>
                <a:lnTo>
                  <a:pt x="0" y="3031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07054" y="2775011"/>
            <a:ext cx="5597322" cy="3173438"/>
          </a:xfrm>
          <a:custGeom>
            <a:avLst/>
            <a:gdLst/>
            <a:ahLst/>
            <a:cxnLst/>
            <a:rect r="r" b="b" t="t" l="l"/>
            <a:pathLst>
              <a:path h="3173438" w="5597322">
                <a:moveTo>
                  <a:pt x="0" y="0"/>
                </a:moveTo>
                <a:lnTo>
                  <a:pt x="5597323" y="0"/>
                </a:lnTo>
                <a:lnTo>
                  <a:pt x="5597323" y="3173438"/>
                </a:lnTo>
                <a:lnTo>
                  <a:pt x="0" y="317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76368" y="5593366"/>
            <a:ext cx="6485900" cy="2507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7208" indent="-193604" lvl="1">
              <a:lnSpc>
                <a:spcPts val="2510"/>
              </a:lnSpc>
              <a:buFont typeface="Arial"/>
              <a:buChar char="•"/>
            </a:pPr>
            <a:r>
              <a:rPr lang="en-US" b="true" sz="1793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t‑SNE</a:t>
            </a:r>
            <a:r>
              <a:rPr lang="en-US" b="true" sz="1793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applied to Word2Vec vocab, SpaCy entities, SciSpacy entities, ClinicalBERT docs</a:t>
            </a:r>
          </a:p>
          <a:p>
            <a:pPr algn="ctr">
              <a:lnSpc>
                <a:spcPts val="2510"/>
              </a:lnSpc>
            </a:pPr>
          </a:p>
          <a:p>
            <a:pPr algn="ctr" marL="387208" indent="-193604" lvl="1">
              <a:lnSpc>
                <a:spcPts val="2510"/>
              </a:lnSpc>
              <a:buFont typeface="Arial"/>
              <a:buChar char="•"/>
            </a:pPr>
            <a:r>
              <a:rPr lang="en-US" b="true" sz="1793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Sampling strategy used to keep plots interpretable (300 words / 500 docs)</a:t>
            </a:r>
          </a:p>
          <a:p>
            <a:pPr algn="ctr">
              <a:lnSpc>
                <a:spcPts val="2510"/>
              </a:lnSpc>
            </a:pPr>
          </a:p>
          <a:p>
            <a:pPr algn="ctr" marL="387208" indent="-193604" lvl="1">
              <a:lnSpc>
                <a:spcPts val="2510"/>
              </a:lnSpc>
              <a:buFont typeface="Arial"/>
              <a:buChar char="•"/>
            </a:pPr>
            <a:r>
              <a:rPr lang="en-US" b="true" sz="1793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Observed clusters: cardiovascular, respiratory, infectious, neurological islands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2114" y="2155425"/>
            <a:ext cx="6820154" cy="2078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01"/>
              </a:lnSpc>
              <a:spcBef>
                <a:spcPct val="0"/>
              </a:spcBef>
            </a:pPr>
            <a:r>
              <a:rPr lang="en-US" b="true" sz="8766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VISUAL DISCOVERY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10396">
            <a:off x="1871996" y="1419769"/>
            <a:ext cx="819377" cy="1079903"/>
          </a:xfrm>
          <a:custGeom>
            <a:avLst/>
            <a:gdLst/>
            <a:ahLst/>
            <a:cxnLst/>
            <a:rect r="r" b="b" t="t" l="l"/>
            <a:pathLst>
              <a:path h="1079903" w="819377">
                <a:moveTo>
                  <a:pt x="819377" y="0"/>
                </a:moveTo>
                <a:lnTo>
                  <a:pt x="0" y="0"/>
                </a:lnTo>
                <a:lnTo>
                  <a:pt x="0" y="1079904"/>
                </a:lnTo>
                <a:lnTo>
                  <a:pt x="819377" y="1079904"/>
                </a:lnTo>
                <a:lnTo>
                  <a:pt x="81937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715186" y="2031600"/>
            <a:ext cx="5647083" cy="101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4"/>
              </a:lnSpc>
            </a:pPr>
            <a:r>
              <a:rPr lang="en-US" b="true" sz="4285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VISUAL DISCOVERY</a:t>
            </a:r>
          </a:p>
          <a:p>
            <a:pPr algn="ctr" marL="0" indent="0" lvl="0">
              <a:lnSpc>
                <a:spcPts val="3814"/>
              </a:lnSpc>
              <a:spcBef>
                <a:spcPct val="0"/>
              </a:spcBef>
            </a:pPr>
            <a:r>
              <a:rPr lang="en-US" b="true" sz="4285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91758" y="2632431"/>
            <a:ext cx="3782842" cy="2869141"/>
          </a:xfrm>
          <a:custGeom>
            <a:avLst/>
            <a:gdLst/>
            <a:ahLst/>
            <a:cxnLst/>
            <a:rect r="r" b="b" t="t" l="l"/>
            <a:pathLst>
              <a:path h="2869141" w="3782842">
                <a:moveTo>
                  <a:pt x="0" y="0"/>
                </a:moveTo>
                <a:lnTo>
                  <a:pt x="3782842" y="0"/>
                </a:lnTo>
                <a:lnTo>
                  <a:pt x="3782842" y="2869140"/>
                </a:lnTo>
                <a:lnTo>
                  <a:pt x="0" y="2869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93725" y="2825099"/>
            <a:ext cx="3603431" cy="2771870"/>
          </a:xfrm>
          <a:custGeom>
            <a:avLst/>
            <a:gdLst/>
            <a:ahLst/>
            <a:cxnLst/>
            <a:rect r="r" b="b" t="t" l="l"/>
            <a:pathLst>
              <a:path h="2771870" w="3603431">
                <a:moveTo>
                  <a:pt x="0" y="0"/>
                </a:moveTo>
                <a:lnTo>
                  <a:pt x="3603431" y="0"/>
                </a:lnTo>
                <a:lnTo>
                  <a:pt x="3603431" y="2771870"/>
                </a:lnTo>
                <a:lnTo>
                  <a:pt x="0" y="27718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0731" y="3045172"/>
            <a:ext cx="3781142" cy="3037993"/>
          </a:xfrm>
          <a:custGeom>
            <a:avLst/>
            <a:gdLst/>
            <a:ahLst/>
            <a:cxnLst/>
            <a:rect r="r" b="b" t="t" l="l"/>
            <a:pathLst>
              <a:path h="3037993" w="3781142">
                <a:moveTo>
                  <a:pt x="0" y="0"/>
                </a:moveTo>
                <a:lnTo>
                  <a:pt x="3781142" y="0"/>
                </a:lnTo>
                <a:lnTo>
                  <a:pt x="3781142" y="3037993"/>
                </a:lnTo>
                <a:lnTo>
                  <a:pt x="0" y="3037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6117" y="5836752"/>
            <a:ext cx="4451735" cy="2824549"/>
          </a:xfrm>
          <a:custGeom>
            <a:avLst/>
            <a:gdLst/>
            <a:ahLst/>
            <a:cxnLst/>
            <a:rect r="r" b="b" t="t" l="l"/>
            <a:pathLst>
              <a:path h="2824549" w="4451735">
                <a:moveTo>
                  <a:pt x="0" y="0"/>
                </a:moveTo>
                <a:lnTo>
                  <a:pt x="4451734" y="0"/>
                </a:lnTo>
                <a:lnTo>
                  <a:pt x="4451734" y="2824549"/>
                </a:lnTo>
                <a:lnTo>
                  <a:pt x="0" y="28245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93725" y="5897813"/>
            <a:ext cx="4666481" cy="2882006"/>
          </a:xfrm>
          <a:custGeom>
            <a:avLst/>
            <a:gdLst/>
            <a:ahLst/>
            <a:cxnLst/>
            <a:rect r="r" b="b" t="t" l="l"/>
            <a:pathLst>
              <a:path h="2882006" w="4666481">
                <a:moveTo>
                  <a:pt x="0" y="0"/>
                </a:moveTo>
                <a:lnTo>
                  <a:pt x="4666481" y="0"/>
                </a:lnTo>
                <a:lnTo>
                  <a:pt x="4666481" y="2882006"/>
                </a:lnTo>
                <a:lnTo>
                  <a:pt x="0" y="28820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30498" y="6199359"/>
            <a:ext cx="4542405" cy="2905439"/>
          </a:xfrm>
          <a:custGeom>
            <a:avLst/>
            <a:gdLst/>
            <a:ahLst/>
            <a:cxnLst/>
            <a:rect r="r" b="b" t="t" l="l"/>
            <a:pathLst>
              <a:path h="2905439" w="4542405">
                <a:moveTo>
                  <a:pt x="0" y="0"/>
                </a:moveTo>
                <a:lnTo>
                  <a:pt x="4542406" y="0"/>
                </a:lnTo>
                <a:lnTo>
                  <a:pt x="4542406" y="2905439"/>
                </a:lnTo>
                <a:lnTo>
                  <a:pt x="0" y="2905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99242">
            <a:off x="-501971" y="3972858"/>
            <a:ext cx="4073020" cy="2631948"/>
          </a:xfrm>
          <a:custGeom>
            <a:avLst/>
            <a:gdLst/>
            <a:ahLst/>
            <a:cxnLst/>
            <a:rect r="r" b="b" t="t" l="l"/>
            <a:pathLst>
              <a:path h="2631948" w="4073020">
                <a:moveTo>
                  <a:pt x="0" y="0"/>
                </a:moveTo>
                <a:lnTo>
                  <a:pt x="4073020" y="0"/>
                </a:lnTo>
                <a:lnTo>
                  <a:pt x="4073020" y="2631948"/>
                </a:lnTo>
                <a:lnTo>
                  <a:pt x="0" y="2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3" t="0" r="-11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93633">
            <a:off x="15505469" y="4130555"/>
            <a:ext cx="3177865" cy="2025889"/>
          </a:xfrm>
          <a:custGeom>
            <a:avLst/>
            <a:gdLst/>
            <a:ahLst/>
            <a:cxnLst/>
            <a:rect r="r" b="b" t="t" l="l"/>
            <a:pathLst>
              <a:path h="2025889" w="3177865">
                <a:moveTo>
                  <a:pt x="0" y="0"/>
                </a:moveTo>
                <a:lnTo>
                  <a:pt x="3177865" y="0"/>
                </a:lnTo>
                <a:lnTo>
                  <a:pt x="3177865" y="2025890"/>
                </a:lnTo>
                <a:lnTo>
                  <a:pt x="0" y="202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53375" y="5977967"/>
            <a:ext cx="3051633" cy="2098460"/>
          </a:xfrm>
          <a:custGeom>
            <a:avLst/>
            <a:gdLst/>
            <a:ahLst/>
            <a:cxnLst/>
            <a:rect r="r" b="b" t="t" l="l"/>
            <a:pathLst>
              <a:path h="2098460" w="3051633">
                <a:moveTo>
                  <a:pt x="0" y="0"/>
                </a:moveTo>
                <a:lnTo>
                  <a:pt x="3051634" y="0"/>
                </a:lnTo>
                <a:lnTo>
                  <a:pt x="3051634" y="2098459"/>
                </a:lnTo>
                <a:lnTo>
                  <a:pt x="0" y="2098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14163" y="5977967"/>
            <a:ext cx="4421088" cy="2193965"/>
          </a:xfrm>
          <a:custGeom>
            <a:avLst/>
            <a:gdLst/>
            <a:ahLst/>
            <a:cxnLst/>
            <a:rect r="r" b="b" t="t" l="l"/>
            <a:pathLst>
              <a:path h="2193965" w="4421088">
                <a:moveTo>
                  <a:pt x="0" y="0"/>
                </a:moveTo>
                <a:lnTo>
                  <a:pt x="4421088" y="0"/>
                </a:lnTo>
                <a:lnTo>
                  <a:pt x="4421088" y="2193965"/>
                </a:lnTo>
                <a:lnTo>
                  <a:pt x="0" y="2193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28971" y="3257960"/>
            <a:ext cx="5064613" cy="2214665"/>
          </a:xfrm>
          <a:custGeom>
            <a:avLst/>
            <a:gdLst/>
            <a:ahLst/>
            <a:cxnLst/>
            <a:rect r="r" b="b" t="t" l="l"/>
            <a:pathLst>
              <a:path h="2214665" w="5064613">
                <a:moveTo>
                  <a:pt x="0" y="0"/>
                </a:moveTo>
                <a:lnTo>
                  <a:pt x="5064614" y="0"/>
                </a:lnTo>
                <a:lnTo>
                  <a:pt x="5064614" y="2214666"/>
                </a:lnTo>
                <a:lnTo>
                  <a:pt x="0" y="22146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38077" y="2407515"/>
            <a:ext cx="2685619" cy="3363899"/>
          </a:xfrm>
          <a:custGeom>
            <a:avLst/>
            <a:gdLst/>
            <a:ahLst/>
            <a:cxnLst/>
            <a:rect r="r" b="b" t="t" l="l"/>
            <a:pathLst>
              <a:path h="3363899" w="2685619">
                <a:moveTo>
                  <a:pt x="0" y="0"/>
                </a:moveTo>
                <a:lnTo>
                  <a:pt x="2685619" y="0"/>
                </a:lnTo>
                <a:lnTo>
                  <a:pt x="2685619" y="3363898"/>
                </a:lnTo>
                <a:lnTo>
                  <a:pt x="0" y="3363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07758" y="1190625"/>
            <a:ext cx="11806030" cy="12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46"/>
              </a:lnSpc>
              <a:spcBef>
                <a:spcPct val="0"/>
              </a:spcBef>
            </a:pPr>
            <a:r>
              <a:rPr lang="en-US" b="true" sz="5220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SPACY VS. SCISPACY COMPREHENSION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92854" y="8225830"/>
            <a:ext cx="9672233" cy="103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66" indent="-323833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999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ciSpacy finds more biomedical concepts; Spacy finds common names/places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99242">
            <a:off x="-501971" y="3972858"/>
            <a:ext cx="4073020" cy="2631948"/>
          </a:xfrm>
          <a:custGeom>
            <a:avLst/>
            <a:gdLst/>
            <a:ahLst/>
            <a:cxnLst/>
            <a:rect r="r" b="b" t="t" l="l"/>
            <a:pathLst>
              <a:path h="2631948" w="4073020">
                <a:moveTo>
                  <a:pt x="0" y="0"/>
                </a:moveTo>
                <a:lnTo>
                  <a:pt x="4073020" y="0"/>
                </a:lnTo>
                <a:lnTo>
                  <a:pt x="4073020" y="2631948"/>
                </a:lnTo>
                <a:lnTo>
                  <a:pt x="0" y="2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3" t="0" r="-11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93633">
            <a:off x="15505469" y="4130555"/>
            <a:ext cx="3177865" cy="2025889"/>
          </a:xfrm>
          <a:custGeom>
            <a:avLst/>
            <a:gdLst/>
            <a:ahLst/>
            <a:cxnLst/>
            <a:rect r="r" b="b" t="t" l="l"/>
            <a:pathLst>
              <a:path h="2025889" w="3177865">
                <a:moveTo>
                  <a:pt x="0" y="0"/>
                </a:moveTo>
                <a:lnTo>
                  <a:pt x="3177865" y="0"/>
                </a:lnTo>
                <a:lnTo>
                  <a:pt x="3177865" y="2025890"/>
                </a:lnTo>
                <a:lnTo>
                  <a:pt x="0" y="2025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03149" y="3617524"/>
            <a:ext cx="5640851" cy="4377716"/>
          </a:xfrm>
          <a:custGeom>
            <a:avLst/>
            <a:gdLst/>
            <a:ahLst/>
            <a:cxnLst/>
            <a:rect r="r" b="b" t="t" l="l"/>
            <a:pathLst>
              <a:path h="4377716" w="5640851">
                <a:moveTo>
                  <a:pt x="0" y="0"/>
                </a:moveTo>
                <a:lnTo>
                  <a:pt x="5640851" y="0"/>
                </a:lnTo>
                <a:lnTo>
                  <a:pt x="5640851" y="4377716"/>
                </a:lnTo>
                <a:lnTo>
                  <a:pt x="0" y="4377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34430" y="3617524"/>
            <a:ext cx="5709976" cy="4360345"/>
          </a:xfrm>
          <a:custGeom>
            <a:avLst/>
            <a:gdLst/>
            <a:ahLst/>
            <a:cxnLst/>
            <a:rect r="r" b="b" t="t" l="l"/>
            <a:pathLst>
              <a:path h="4360345" w="5709976">
                <a:moveTo>
                  <a:pt x="0" y="0"/>
                </a:moveTo>
                <a:lnTo>
                  <a:pt x="5709976" y="0"/>
                </a:lnTo>
                <a:lnTo>
                  <a:pt x="5709976" y="4360345"/>
                </a:lnTo>
                <a:lnTo>
                  <a:pt x="0" y="4360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94434" y="5288832"/>
            <a:ext cx="1589969" cy="1444884"/>
          </a:xfrm>
          <a:custGeom>
            <a:avLst/>
            <a:gdLst/>
            <a:ahLst/>
            <a:cxnLst/>
            <a:rect r="r" b="b" t="t" l="l"/>
            <a:pathLst>
              <a:path h="1444884" w="1589969">
                <a:moveTo>
                  <a:pt x="0" y="0"/>
                </a:moveTo>
                <a:lnTo>
                  <a:pt x="1589968" y="0"/>
                </a:lnTo>
                <a:lnTo>
                  <a:pt x="1589968" y="1444884"/>
                </a:lnTo>
                <a:lnTo>
                  <a:pt x="0" y="1444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97458" y="1200150"/>
            <a:ext cx="13057185" cy="201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8"/>
              </a:lnSpc>
            </a:pPr>
            <a:r>
              <a:rPr lang="en-US" b="true" sz="5807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SPACY VS. SCISPACY COMPREHENSION</a:t>
            </a:r>
          </a:p>
          <a:p>
            <a:pPr algn="ctr" marL="0" indent="0" lvl="0">
              <a:lnSpc>
                <a:spcPts val="5168"/>
              </a:lnSpc>
              <a:spcBef>
                <a:spcPct val="0"/>
              </a:spcBef>
            </a:pPr>
            <a:r>
              <a:rPr lang="en-US" b="true" sz="5807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03149" y="8391628"/>
            <a:ext cx="5372218" cy="5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4"/>
              </a:lnSpc>
            </a:pPr>
            <a:r>
              <a:rPr lang="en-US" b="true" sz="1667" i="true" u="sng">
                <a:solidFill>
                  <a:srgbClr val="5A6E9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Spacy</a:t>
            </a:r>
          </a:p>
          <a:p>
            <a:pPr algn="ctr" marL="360054" indent="-180027" lvl="1">
              <a:lnSpc>
                <a:spcPts val="2334"/>
              </a:lnSpc>
              <a:buFont typeface="Arial"/>
              <a:buChar char="•"/>
            </a:pPr>
            <a:r>
              <a:rPr lang="en-US" b="true" sz="1667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More Labels, but decenteralized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34430" y="8261925"/>
            <a:ext cx="5709976" cy="6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b="true" sz="1928" i="true" u="sng">
                <a:solidFill>
                  <a:srgbClr val="5A6E97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SciSpacy</a:t>
            </a:r>
          </a:p>
          <a:p>
            <a:pPr algn="ctr" marL="416416" indent="-208208" lvl="1">
              <a:lnSpc>
                <a:spcPts val="2700"/>
              </a:lnSpc>
              <a:buFont typeface="Arial"/>
              <a:buChar char="•"/>
            </a:pPr>
            <a:r>
              <a:rPr lang="en-US" b="true" sz="1928">
                <a:solidFill>
                  <a:srgbClr val="5A6E9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Less Labels, but centeralized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528590" y="5288832"/>
            <a:ext cx="1589969" cy="1444884"/>
          </a:xfrm>
          <a:custGeom>
            <a:avLst/>
            <a:gdLst/>
            <a:ahLst/>
            <a:cxnLst/>
            <a:rect r="r" b="b" t="t" l="l"/>
            <a:pathLst>
              <a:path h="1444884" w="1589969">
                <a:moveTo>
                  <a:pt x="0" y="0"/>
                </a:moveTo>
                <a:lnTo>
                  <a:pt x="1589969" y="0"/>
                </a:lnTo>
                <a:lnTo>
                  <a:pt x="1589969" y="1444884"/>
                </a:lnTo>
                <a:lnTo>
                  <a:pt x="0" y="14448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E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13210" y="7225589"/>
            <a:ext cx="2246090" cy="2032711"/>
          </a:xfrm>
          <a:custGeom>
            <a:avLst/>
            <a:gdLst/>
            <a:ahLst/>
            <a:cxnLst/>
            <a:rect r="r" b="b" t="t" l="l"/>
            <a:pathLst>
              <a:path h="2032711" w="2246090">
                <a:moveTo>
                  <a:pt x="0" y="0"/>
                </a:moveTo>
                <a:lnTo>
                  <a:pt x="2246090" y="0"/>
                </a:lnTo>
                <a:lnTo>
                  <a:pt x="2246090" y="2032711"/>
                </a:lnTo>
                <a:lnTo>
                  <a:pt x="0" y="2032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13123" y="645285"/>
            <a:ext cx="2400087" cy="2496839"/>
          </a:xfrm>
          <a:custGeom>
            <a:avLst/>
            <a:gdLst/>
            <a:ahLst/>
            <a:cxnLst/>
            <a:rect r="r" b="b" t="t" l="l"/>
            <a:pathLst>
              <a:path h="2496839" w="2400087">
                <a:moveTo>
                  <a:pt x="0" y="0"/>
                </a:moveTo>
                <a:lnTo>
                  <a:pt x="2400087" y="0"/>
                </a:lnTo>
                <a:lnTo>
                  <a:pt x="2400087" y="2496840"/>
                </a:lnTo>
                <a:lnTo>
                  <a:pt x="0" y="2496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1014" t="0" r="1014" b="0"/>
          <a:stretch>
            <a:fillRect/>
          </a:stretch>
        </p:blipFill>
        <p:spPr>
          <a:xfrm flipH="false" flipV="false" rot="0">
            <a:off x="6881797" y="7009107"/>
            <a:ext cx="7336356" cy="1613998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7067164" y="4400589"/>
            <a:ext cx="3033330" cy="2265399"/>
          </a:xfrm>
          <a:custGeom>
            <a:avLst/>
            <a:gdLst/>
            <a:ahLst/>
            <a:cxnLst/>
            <a:rect r="r" b="b" t="t" l="l"/>
            <a:pathLst>
              <a:path h="2265399" w="3033330">
                <a:moveTo>
                  <a:pt x="0" y="0"/>
                </a:moveTo>
                <a:lnTo>
                  <a:pt x="3033330" y="0"/>
                </a:lnTo>
                <a:lnTo>
                  <a:pt x="3033330" y="2265399"/>
                </a:lnTo>
                <a:lnTo>
                  <a:pt x="0" y="2265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79072" y="4345735"/>
            <a:ext cx="3180228" cy="2375107"/>
          </a:xfrm>
          <a:custGeom>
            <a:avLst/>
            <a:gdLst/>
            <a:ahLst/>
            <a:cxnLst/>
            <a:rect r="r" b="b" t="t" l="l"/>
            <a:pathLst>
              <a:path h="2375107" w="3180228">
                <a:moveTo>
                  <a:pt x="0" y="0"/>
                </a:moveTo>
                <a:lnTo>
                  <a:pt x="3180228" y="0"/>
                </a:lnTo>
                <a:lnTo>
                  <a:pt x="3180228" y="2375107"/>
                </a:lnTo>
                <a:lnTo>
                  <a:pt x="0" y="23751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1711355"/>
            <a:ext cx="3226830" cy="2412965"/>
          </a:xfrm>
          <a:custGeom>
            <a:avLst/>
            <a:gdLst/>
            <a:ahLst/>
            <a:cxnLst/>
            <a:rect r="r" b="b" t="t" l="l"/>
            <a:pathLst>
              <a:path h="2412965" w="3226830">
                <a:moveTo>
                  <a:pt x="0" y="0"/>
                </a:moveTo>
                <a:lnTo>
                  <a:pt x="3226830" y="0"/>
                </a:lnTo>
                <a:lnTo>
                  <a:pt x="3226830" y="2412965"/>
                </a:lnTo>
                <a:lnTo>
                  <a:pt x="0" y="24129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31449" y="4254432"/>
            <a:ext cx="3116668" cy="2624563"/>
          </a:xfrm>
          <a:custGeom>
            <a:avLst/>
            <a:gdLst/>
            <a:ahLst/>
            <a:cxnLst/>
            <a:rect r="r" b="b" t="t" l="l"/>
            <a:pathLst>
              <a:path h="2624563" w="3116668">
                <a:moveTo>
                  <a:pt x="0" y="0"/>
                </a:moveTo>
                <a:lnTo>
                  <a:pt x="3116668" y="0"/>
                </a:lnTo>
                <a:lnTo>
                  <a:pt x="3116668" y="2624563"/>
                </a:lnTo>
                <a:lnTo>
                  <a:pt x="0" y="2624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23548"/>
            <a:ext cx="8204698" cy="97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8043">
                <a:solidFill>
                  <a:srgbClr val="EBEDE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ClinicalBERT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7371" y="4028896"/>
            <a:ext cx="5549792" cy="298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ClinicalBERT →</a:t>
            </a: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mean pooled doc vectors → KMeans clustering</a:t>
            </a:r>
          </a:p>
          <a:p>
            <a:pPr algn="l">
              <a:lnSpc>
                <a:spcPts val="2686"/>
              </a:lnSpc>
            </a:pPr>
          </a:p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Chose k via silhouette and elbow; compared clusters to TF‑IDF (ARI / NMI)</a:t>
            </a:r>
          </a:p>
          <a:p>
            <a:pPr algn="l">
              <a:lnSpc>
                <a:spcPts val="2686"/>
              </a:lnSpc>
            </a:pPr>
          </a:p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Representative documents per cluster reveal clinical themes (e.g., post-op infection, CHF)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E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02067" y="7136122"/>
            <a:ext cx="2157233" cy="2122178"/>
          </a:xfrm>
          <a:custGeom>
            <a:avLst/>
            <a:gdLst/>
            <a:ahLst/>
            <a:cxnLst/>
            <a:rect r="r" b="b" t="t" l="l"/>
            <a:pathLst>
              <a:path h="2122178" w="2157233">
                <a:moveTo>
                  <a:pt x="0" y="0"/>
                </a:moveTo>
                <a:lnTo>
                  <a:pt x="2157233" y="0"/>
                </a:lnTo>
                <a:lnTo>
                  <a:pt x="2157233" y="2122178"/>
                </a:lnTo>
                <a:lnTo>
                  <a:pt x="0" y="2122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902" t="0" r="902" b="0"/>
          <a:stretch>
            <a:fillRect/>
          </a:stretch>
        </p:blipFill>
        <p:spPr>
          <a:xfrm flipH="false" flipV="false" rot="0">
            <a:off x="8141536" y="2802780"/>
            <a:ext cx="8672761" cy="173455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8141536" y="4985713"/>
            <a:ext cx="8672761" cy="1702029"/>
          </a:xfrm>
          <a:custGeom>
            <a:avLst/>
            <a:gdLst/>
            <a:ahLst/>
            <a:cxnLst/>
            <a:rect r="r" b="b" t="t" l="l"/>
            <a:pathLst>
              <a:path h="1702029" w="8672761">
                <a:moveTo>
                  <a:pt x="0" y="0"/>
                </a:moveTo>
                <a:lnTo>
                  <a:pt x="8672760" y="0"/>
                </a:lnTo>
                <a:lnTo>
                  <a:pt x="8672760" y="1702029"/>
                </a:lnTo>
                <a:lnTo>
                  <a:pt x="0" y="17020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5457" y="1275898"/>
            <a:ext cx="1975636" cy="1761609"/>
          </a:xfrm>
          <a:custGeom>
            <a:avLst/>
            <a:gdLst/>
            <a:ahLst/>
            <a:cxnLst/>
            <a:rect r="r" b="b" t="t" l="l"/>
            <a:pathLst>
              <a:path h="1761609" w="1975636">
                <a:moveTo>
                  <a:pt x="0" y="0"/>
                </a:moveTo>
                <a:lnTo>
                  <a:pt x="1975636" y="0"/>
                </a:lnTo>
                <a:lnTo>
                  <a:pt x="1975636" y="1761609"/>
                </a:lnTo>
                <a:lnTo>
                  <a:pt x="0" y="1761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8361" y="1828869"/>
            <a:ext cx="8204698" cy="97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9"/>
              </a:lnSpc>
              <a:spcBef>
                <a:spcPct val="0"/>
              </a:spcBef>
            </a:pPr>
            <a:r>
              <a:rPr lang="en-US" b="true" sz="8043">
                <a:solidFill>
                  <a:srgbClr val="EBEDE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67032" y="3369543"/>
            <a:ext cx="5549792" cy="398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</a:t>
            </a: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eractive dashboard: entity comparison, disease distribution, clustering view, vocab sizes, summary table</a:t>
            </a:r>
          </a:p>
          <a:p>
            <a:pPr algn="l">
              <a:lnSpc>
                <a:spcPts val="2686"/>
              </a:lnSpc>
            </a:pPr>
          </a:p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Saved artifacts: processed_notes_sample.pkl, three Word2Vec models, nlp_analysis_summary.json</a:t>
            </a:r>
          </a:p>
          <a:p>
            <a:pPr algn="l">
              <a:lnSpc>
                <a:spcPts val="2686"/>
              </a:lnSpc>
            </a:pPr>
          </a:p>
          <a:p>
            <a:pPr algn="l" marL="414279" indent="-207139" lvl="1">
              <a:lnSpc>
                <a:spcPts val="2686"/>
              </a:lnSpc>
              <a:buFont typeface="Arial"/>
              <a:buChar char="•"/>
            </a:pPr>
            <a:r>
              <a:rPr lang="en-US" b="true" sz="1918">
                <a:solidFill>
                  <a:srgbClr val="EBEDE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stakeholders use it: explore clusters, export cohorts, prioritize chart reviews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D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0959">
            <a:off x="1330309" y="1222823"/>
            <a:ext cx="2485604" cy="3582852"/>
          </a:xfrm>
          <a:custGeom>
            <a:avLst/>
            <a:gdLst/>
            <a:ahLst/>
            <a:cxnLst/>
            <a:rect r="r" b="b" t="t" l="l"/>
            <a:pathLst>
              <a:path h="3582852" w="2485604">
                <a:moveTo>
                  <a:pt x="0" y="0"/>
                </a:moveTo>
                <a:lnTo>
                  <a:pt x="2485603" y="0"/>
                </a:lnTo>
                <a:lnTo>
                  <a:pt x="2485603" y="3582852"/>
                </a:lnTo>
                <a:lnTo>
                  <a:pt x="0" y="3582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17521" y="2020032"/>
            <a:ext cx="3550027" cy="4477273"/>
          </a:xfrm>
          <a:custGeom>
            <a:avLst/>
            <a:gdLst/>
            <a:ahLst/>
            <a:cxnLst/>
            <a:rect r="r" b="b" t="t" l="l"/>
            <a:pathLst>
              <a:path h="4477273" w="3550027">
                <a:moveTo>
                  <a:pt x="0" y="0"/>
                </a:moveTo>
                <a:lnTo>
                  <a:pt x="3550027" y="0"/>
                </a:lnTo>
                <a:lnTo>
                  <a:pt x="3550027" y="4477273"/>
                </a:lnTo>
                <a:lnTo>
                  <a:pt x="0" y="4477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825235"/>
            <a:ext cx="9821648" cy="1289091"/>
          </a:xfrm>
          <a:custGeom>
            <a:avLst/>
            <a:gdLst/>
            <a:ahLst/>
            <a:cxnLst/>
            <a:rect r="r" b="b" t="t" l="l"/>
            <a:pathLst>
              <a:path h="1289091" w="9821648">
                <a:moveTo>
                  <a:pt x="0" y="0"/>
                </a:moveTo>
                <a:lnTo>
                  <a:pt x="9821648" y="0"/>
                </a:lnTo>
                <a:lnTo>
                  <a:pt x="9821648" y="1289091"/>
                </a:lnTo>
                <a:lnTo>
                  <a:pt x="0" y="1289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2049604"/>
            <a:ext cx="7376103" cy="195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6"/>
              </a:lnSpc>
              <a:spcBef>
                <a:spcPct val="0"/>
              </a:spcBef>
            </a:pPr>
            <a:r>
              <a:rPr lang="en-US" b="true" sz="8265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WHERE THIS LEADS US?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50348" y="4447751"/>
            <a:ext cx="6408952" cy="4032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9157" indent="-309579" lvl="1">
              <a:lnSpc>
                <a:spcPts val="4014"/>
              </a:lnSpc>
              <a:buFont typeface="Arial"/>
              <a:buChar char="•"/>
            </a:pP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Combined pipelines</a:t>
            </a: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 increase disease signal coverage; ClinicalBERT uncovers document-level themes</a:t>
            </a:r>
          </a:p>
          <a:p>
            <a:pPr algn="ctr">
              <a:lnSpc>
                <a:spcPts val="4014"/>
              </a:lnSpc>
            </a:pPr>
          </a:p>
          <a:p>
            <a:pPr algn="ctr" marL="619157" indent="-309579" lvl="1">
              <a:lnSpc>
                <a:spcPts val="4014"/>
              </a:lnSpc>
              <a:buFont typeface="Arial"/>
              <a:buChar char="•"/>
            </a:pPr>
            <a:r>
              <a:rPr lang="en-US" sz="2867">
                <a:solidFill>
                  <a:srgbClr val="5A6E97"/>
                </a:solidFill>
                <a:latin typeface="Open Sauce"/>
                <a:ea typeface="Open Sauce"/>
                <a:cs typeface="Open Sauce"/>
                <a:sym typeface="Open Sauce"/>
              </a:rPr>
              <a:t>Scale to full dataset, fine‑tune ClinicalBERT, add entity linking / clinician validation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D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9085" y="1294482"/>
            <a:ext cx="5944915" cy="7384987"/>
          </a:xfrm>
          <a:custGeom>
            <a:avLst/>
            <a:gdLst/>
            <a:ahLst/>
            <a:cxnLst/>
            <a:rect r="r" b="b" t="t" l="l"/>
            <a:pathLst>
              <a:path h="7384987" w="5944915">
                <a:moveTo>
                  <a:pt x="0" y="0"/>
                </a:moveTo>
                <a:lnTo>
                  <a:pt x="5944915" y="0"/>
                </a:lnTo>
                <a:lnTo>
                  <a:pt x="5944915" y="7384987"/>
                </a:lnTo>
                <a:lnTo>
                  <a:pt x="0" y="7384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16706">
            <a:off x="456907" y="5158029"/>
            <a:ext cx="4626113" cy="4088328"/>
          </a:xfrm>
          <a:custGeom>
            <a:avLst/>
            <a:gdLst/>
            <a:ahLst/>
            <a:cxnLst/>
            <a:rect r="r" b="b" t="t" l="l"/>
            <a:pathLst>
              <a:path h="4088328" w="4626113">
                <a:moveTo>
                  <a:pt x="0" y="0"/>
                </a:moveTo>
                <a:lnTo>
                  <a:pt x="4626113" y="0"/>
                </a:lnTo>
                <a:lnTo>
                  <a:pt x="4626113" y="4088328"/>
                </a:lnTo>
                <a:lnTo>
                  <a:pt x="0" y="4088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44392" y="1568701"/>
            <a:ext cx="7423313" cy="329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97"/>
              </a:lnSpc>
              <a:spcBef>
                <a:spcPct val="0"/>
              </a:spcBef>
            </a:pPr>
            <a:r>
              <a:rPr lang="en-US" b="true" sz="14042" strike="noStrike" u="none">
                <a:solidFill>
                  <a:srgbClr val="5A6E97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DAGyOLSjMro</dc:identifier>
  <dcterms:modified xsi:type="dcterms:W3CDTF">2011-08-01T06:04:30Z</dcterms:modified>
  <cp:revision>1</cp:revision>
  <dc:title>MIMIC NLP - Joshua Ludolf</dc:title>
</cp:coreProperties>
</file>